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Lst>
  <p:sldSz cy="6858000" cx="12192000"/>
  <p:notesSz cx="6858000" cy="12192000"/>
  <p:embeddedFontLst>
    <p:embeddedFont>
      <p:font typeface="Play"/>
      <p:regular r:id="rId31"/>
      <p:bold r:id="rId32"/>
    </p:embeddedFont>
    <p:embeddedFont>
      <p:font typeface="Cambria Math"/>
      <p:regular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Play-regular.fntdata"/><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CambriaMath-regular.fntdata"/><Relationship Id="rId10" Type="http://schemas.openxmlformats.org/officeDocument/2006/relationships/slide" Target="slides/slide6.xml"/><Relationship Id="rId32" Type="http://schemas.openxmlformats.org/officeDocument/2006/relationships/font" Target="fonts/Play-bold.fnt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Opening: This is our Foundation of Data Science course project on ECG and PPG signal processing. I will explain why we use wavelet analysis, how we examined one selected record, how we compared denoising methods, and what we learned when repeating the analysis across ten records.</a:t>
            </a:r>
            <a:endParaRPr/>
          </a:p>
        </p:txBody>
      </p:sp>
      <p:sp>
        <p:nvSpPr>
          <p:cNvPr id="19" name="Google Shape;1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 name="Google Shape;3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Explain why we use wavelets rather than relying only on a global Fourier transform. ECG and PPG are non-stationary or time-varying: their waveform shapes and frequency content can change during a short recording. Patient movement, electrode or sensor contact changes, muscle activity and baseline drift can introduce unwanted components. A basic Fourier transform summarizes overall frequency content but does not localize a transient in time. The short-time Fourier transform provides timing, but uses a fixed window and trades time resolution against frequency resolution. Wavelets offer a multiresolution view: DWT represents the signal in approximation/detail scales, while CWT visualizes how activity changes over time and frequency. Conventional filters are still useful, but a chosen passband may also attenuate genuine signal content. Important caution: wavelets do not automatically know what is real physiology and what is artifact; threshold choice and waveform-preservation checks are essential. Our goal is not merely to make the plot smoother, but to reduce noise while preserving useful morphology and timing.</a:t>
            </a:r>
            <a:endParaRPr/>
          </a:p>
        </p:txBody>
      </p:sp>
      <p:sp>
        <p:nvSpPr>
          <p:cNvPr id="38" name="Google Shape;3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 name="Google Shape;5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first output and a good place to orient the audience. The top panel is ECG Lead II and the bottom panel is PPG Pleth. The x-axis is time in seconds. ECG has sharp electrical deflections, including large QRS-related peaks; PPG has a slower pulse contour with rising and falling portions. Amplitude units should be interpreted according to the channel metadata and how the waveform was loaded. These are not identical signals, and we should not expect their shapes to match.</a:t>
            </a:r>
            <a:endParaRPr/>
          </a:p>
        </p:txBody>
      </p:sp>
      <p:sp>
        <p:nvSpPr>
          <p:cNvPr id="58" name="Google Shape;5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 name="Google Shape;7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through this once without diving into details. We select and validate the signals, then split into multiscale analysis, time-frequency visualization, and denoising comparisons. We reconstruct or align the processed output, calculate metrics and inspect peaks, then repeat selected steps across ten records. The flowchart is a conceptual map; CWT, DWT feature analysis, and denoising are connected analyses, not necessarily a single linear chain.</a:t>
            </a:r>
            <a:endParaRPr/>
          </a:p>
        </p:txBody>
      </p:sp>
      <p:sp>
        <p:nvSpPr>
          <p:cNvPr id="78" name="Google Shape;7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first section covers data handling. We choose one waveform record, extract ECG Lead II and PPG Pleth from our selected interval, then plot them. Basic checks include signal length, finite values and amplitude range. We do this before interpreting wavelet coefficients because incorrect data loading would make every later result unreliable.</a:t>
            </a:r>
            <a:endParaRPr/>
          </a:p>
        </p:txBody>
      </p:sp>
      <p:sp>
        <p:nvSpPr>
          <p:cNvPr id="125" name="Google Shape;12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slide highlights the analysis branches. DWT gives us approximation and detail coefficients and supports energy/entropy summaries. CWT creates scalograms that show time-frequency activity. Denoising uses either conventional filtering or wavelet coefficient thresholding. We compare methods rather than assuming all of them have the same objective.</a:t>
            </a:r>
            <a:endParaRPr/>
          </a:p>
        </p:txBody>
      </p:sp>
      <p:sp>
        <p:nvSpPr>
          <p:cNvPr id="173" name="Google Shape;17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final workflow stage compares the processed waveform to a chosen reference, checks SNR and other metrics, and checks whether detected ECG peaks moved or disappeared. After learning from one record, the same selected experiment is run on ten records. We also inspect unusual cases instead of blindly averaging them into the final answer.</a:t>
            </a:r>
            <a:endParaRPr/>
          </a:p>
        </p:txBody>
      </p:sp>
      <p:sp>
        <p:nvSpPr>
          <p:cNvPr id="221" name="Google Shape;22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top of the screenshot is the original ECG, then the first-level approximation and detail. Haar works on pairs of samples. The approximation is a normalized sum and the detail is a normalized difference. The square-root-of-two normalization is the usual orthonormal Haar convention. A3 and D3/D2/D1 are not four unrelated filters; they are the approximation and details from a multilevel decomposition. Detail coefficients can contain both useful sharp changes and noise.</a:t>
            </a:r>
            <a:endParaRPr/>
          </a:p>
        </p:txBody>
      </p:sp>
      <p:sp>
        <p:nvSpPr>
          <p:cNvPr id="269" name="Google Shape;26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plots show the detail coefficients at the first three levels. D1 is the finest and usually captures rapid, small-scale variation. D2 and D3 summarize changes at coarser scales. Note that the coefficient index is not the original time axis: there are fewer coefficients at coarser levels because the transform downsamples. Avoid describing all details as noise, because QRS complexes or pulse transitions also create sharp changes.</a:t>
            </a:r>
            <a:endParaRPr/>
          </a:p>
        </p:txBody>
      </p:sp>
      <p:sp>
        <p:nvSpPr>
          <p:cNvPr id="294" name="Google Shape;29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four plots show how Haar, Daubechies, Symlet and Coiflet represent the same ECG segment. They differ in shape, support and response to changes, so the coefficient patterns are not identical. The numbers on the right are the coefficient-energy values supplied for this run: Haar 0.8166, Daubechies 0.6550, Symlet 0.6401 and Coiflet 0.6648. Energy is often calculated as a sum of squared coefficients; direct values can change with wavelet normalization and coefficient handling. Do not interpret these numbers as a universal ranking or confuse them with the percentage distribution on the next slide.</a:t>
            </a:r>
            <a:endParaRPr/>
          </a:p>
        </p:txBody>
      </p:sp>
      <p:sp>
        <p:nvSpPr>
          <p:cNvPr id="316" name="Google Shape;31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 name="Google Shape;34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left screenshot is the raw coefficient-energy plot from the notebook; it is not itself the relative percentage chart. The numbers beside it are the relative wavelet-energy percentages supplied from the code: D1 15.20%, D2 16.46%, D3 18.88%, A3 49.47%. Entropy values are D1 4.8191, D2 5.2790, D3 4.8797 and A3 5.2521. Say what formula your code used for entropy if asked. Entropy is not a direct signal-quality or diagnosis score. Together the features summarize how the signal is distributed across the transform components.</a:t>
            </a:r>
            <a:endParaRPr/>
          </a:p>
        </p:txBody>
      </p:sp>
      <p:sp>
        <p:nvSpPr>
          <p:cNvPr id="343" name="Google Shape;34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7" name="Google Shape;377;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Explain the orange hard-threshold curve and green soft-threshold curve relative to the original blue ECG. Hard thresholding makes a sharp decision: retain or zero. Soft thresholding makes the same zeroing decision for small coefficients but shrinks the surviving coefficients too. A lower threshold preserves more details but may leave noise; a higher threshold removes more but can distort true ECG morphology. The output must be reconstructed from the adjusted coefficients to return to the signal domain.</a:t>
            </a:r>
            <a:endParaRPr/>
          </a:p>
        </p:txBody>
      </p:sp>
      <p:sp>
        <p:nvSpPr>
          <p:cNvPr id="378" name="Google Shape;378;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7" name="Google Shape;39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comparison helps the audience see that these methods are not doing exactly the same thing. A Butterworth band-pass filter uses selected cutoff frequencies and processes the signal globally in frequency terms. In the shown run it was designed as fourth order, 0.5 to 30 Hz, with forward-backward filtering. BayesShrink works on wavelet coefficients and adapts the threshold for each detail level using a noise and signal variance estimate. Neither method is universally superior. One technical check: at a sampling rate near 62.47 Hz, the Nyquist limit is about 31.24 Hz, so a 30 Hz high cutoff is close to the limit and should be verified.</a:t>
            </a:r>
            <a:endParaRPr/>
          </a:p>
        </p:txBody>
      </p:sp>
      <p:sp>
        <p:nvSpPr>
          <p:cNvPr id="398" name="Google Shape;398;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9" name="Google Shape;419;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graph overlays original ECG, Butterworth-filtered ECG and BayesShrink-denoised ECG. Use the figures supplied for this run: Butterworth RMSE 0.039629, MAE 0.021790, correlation 0.928549; BayesShrink RMSE 0.006133, MAE 0.005369, correlation 0.998432. Lower error means the output remains closer to the recorded reference; higher correlation means stronger similarity of waveform variation. This is specific to the selected record, reference and filter/threshold settings.</a:t>
            </a:r>
            <a:endParaRPr/>
          </a:p>
        </p:txBody>
      </p:sp>
      <p:sp>
        <p:nvSpPr>
          <p:cNvPr id="420" name="Google Shape;420;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0" name="Google Shape;450;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peak detector was run on both the original and the BayesShrink signal using the same settings. Both found twelve peaks, and the positions were exactly the same: 34, 81, 117, 149, 201, 248, 285, 316, 368, 400, 452 and 483. The differences were all zero samples. The reported morphological correlation was 0.998432. This supports preservation of these detected peaks for this segment, but it does not guarantee that every subtle ECG feature is unchanged or that performance transfers to every record.</a:t>
            </a:r>
            <a:endParaRPr/>
          </a:p>
        </p:txBody>
      </p:sp>
      <p:sp>
        <p:nvSpPr>
          <p:cNvPr id="451" name="Google Shape;451;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5" name="Google Shape;475;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slide introduces the continuous wavelet transform. Each scalogram shows how wavelet coefficient magnitude varies with time and frequency. The y-axis is frequency in Hz, and the x-axis is time from the selected record. Brighter regions correspond to larger coefficient magnitudes. Morlet has an oscillatory shape and can show oscillatory patterns across time-frequency space. Mexican Hat is more localized around waveform features. These are different views of the same signal and the better choice depends on the question. The notebook’s plotted frequency range approaches the Nyquist limit at its upper edge, so interpret the highest frequencies cautiously.</a:t>
            </a:r>
            <a:endParaRPr/>
          </a:p>
        </p:txBody>
      </p:sp>
      <p:sp>
        <p:nvSpPr>
          <p:cNvPr id="476" name="Google Shape;476;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5" name="Google Shape;49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Explain why noise was added: it gives us a repeatable setting where the original recorded ECG is retained as a reference and the added noise is known. The target SNR was 10 dB. This lets us compare noisy and denoised signals with the same baseline. Real artifacts can include motion, baseline wander, muscle activity and sensor effects, and Gaussian noise does not mimic all of them.</a:t>
            </a:r>
            <a:endParaRPr/>
          </a:p>
        </p:txBody>
      </p:sp>
      <p:sp>
        <p:nvSpPr>
          <p:cNvPr id="496" name="Google Shape;496;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6" name="Google Shape;516;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Use the metrics the user supplied for this controlled-noise output. SNR before is 10.17 dB and after is 10.88 dB, so the improvement is +0.71 dB. RMSE drops from 0.031927 to 0.029428, MAE from 0.025379 to 0.023137, NRMSE from 0.052773 to 0.048641, and PRD from 31.00% to 28.57%. Correlation rises from 0.954355 to 0.958178. Together these show a modest improvement relative to the original recorded signal, not perfect noise removal. Important consistency check before presenting: another markdown/output cell in the notebook reports 11.24 dB and +1.07 dB for a related run. Confirm which exact run generated the displayed plot and metrics, and keep only one set for the final presentation.</a:t>
            </a:r>
            <a:endParaRPr/>
          </a:p>
        </p:txBody>
      </p:sp>
      <p:sp>
        <p:nvSpPr>
          <p:cNvPr id="517" name="Google Shape;517;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2" name="Google Shape;552;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PPG version of the wavelet analysis. The left plot shows the original PPG plus D1, D2, D3 and A3 coefficients. The right plot shows the PPG CWT scalogram over the eight-second window. In this selected segment, the notebook reports PPG relative energy D1 0.05%, D2 0.20%, D3 0.63%, and A3 99.12%. That is an observation about this segment and selected decomposition, not a universal statement about every PPG signal. The two visualizations answer different questions: DWT summarizes scales, CWT shows how activity is localized in time and frequency.</a:t>
            </a:r>
            <a:endParaRPr/>
          </a:p>
        </p:txBody>
      </p:sp>
      <p:sp>
        <p:nvSpPr>
          <p:cNvPr id="553" name="Google Shape;553;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1" name="Google Shape;571;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transition from the prototype to batch analysis. The plots compare ten candidate ECG segments over the selected time interval. They are not ten independent patients; the listed record IDs come from three subject folders and include more than one segment from a folder. Notice how amplitude range, regularity and apparent artifacts vary from record to record. That variation is one reason the single-record result should not be generalized too quickly.</a:t>
            </a:r>
            <a:endParaRPr/>
          </a:p>
        </p:txBody>
      </p:sp>
      <p:sp>
        <p:nvSpPr>
          <p:cNvPr id="572" name="Google Shape;572;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7" name="Google Shape;597;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Each grouped set corresponds to one record, and the bars show relative energy for D1, D2, D3 and A3. Several records have A3 as their dominant component, while other records show much larger detail energy. This means we should not describe all records with the single-record percentage values. The plot supports record-to-record variation in scale distribution. The unusually high-amplitude record has a different waveform appearance and should be reviewed along with its metrics.</a:t>
            </a:r>
            <a:endParaRPr/>
          </a:p>
        </p:txBody>
      </p:sp>
      <p:sp>
        <p:nvSpPr>
          <p:cNvPr id="598" name="Google Shape;598;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1" name="Google Shape;611;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Explain that the four panels display record-level RMSE, MAE, PRD and correlation for the selected BayesShrink run. A record-level view helps find the outlier that a mean could hide. Correlation bars appear very close to one another on this plot, so if someone asks for exact values, refer to the numeric output table rather than estimating from the chart. These metrics must have a consistent reference, normalization and processing setup to be compared fairly.</a:t>
            </a:r>
            <a:endParaRPr/>
          </a:p>
        </p:txBody>
      </p:sp>
      <p:sp>
        <p:nvSpPr>
          <p:cNvPr id="612" name="Google Shape;612;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3" name="Google Shape;633;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unusual record 81739927_0014. Its waveform includes an extreme transient near 14 seconds, with plotted values roughly +24 and -38, much larger than the rest of the displayed ECG records. The BayesShrink output almost overlays the original, including that large event. Do not call it noise or delete it automatically. It could reflect artifact, scale/calibration differences or a real recorded event; the available plot alone cannot decide. The notebook’s summary values for this record differ substantially from other records, so the correct next step is a quality check and review of the exact metric definitions, not simply accepting or excluding it.</a:t>
            </a:r>
            <a:endParaRPr/>
          </a:p>
        </p:txBody>
      </p:sp>
      <p:sp>
        <p:nvSpPr>
          <p:cNvPr id="634" name="Google Shape;634;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8" name="Google Shape;658;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table compares Butterworth with Symlet-4 for the same set of ten candidate records under this specific output table. The metrics can disagree because they emphasize different properties. For example, lower RMSE means smaller absolute errors relative to the reference; lower PRD means less relative distortion; higher correlation indicates more similar waveform variation. Do not claim Symlet-4 is universally superior: in the separate controlled-noise SNR experiment in the notebook, the average SNR improvements were negative for both Butterworth and Symlet-4, which is a separate protocol and tells us the setup needs consistent evaluation.</a:t>
            </a:r>
            <a:endParaRPr/>
          </a:p>
        </p:txBody>
      </p:sp>
      <p:sp>
        <p:nvSpPr>
          <p:cNvPr id="659" name="Google Shape;659;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1" name="Google Shape;681;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output table reports forty combinations: ten records and four wavelet families. Each row contains RMSE, MAE, NRMSE, PRD, correlation, SNR before and after, and SNR improvement. The table screenshot here shows an excerpt; the full notebook output has all forty rows. The correct comparison should group metrics by record and method with a consistent protocol. Avoid choosing a “best wavelet” using one attractive result alone.</a:t>
            </a:r>
            <a:endParaRPr/>
          </a:p>
        </p:txBody>
      </p:sp>
      <p:sp>
        <p:nvSpPr>
          <p:cNvPr id="682" name="Google Shape;682;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2" name="Google Shape;702;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Conclude with the three layers of evidence: the signal description, the per-record denoising metrics and peak positions, and the ten-record comparisons. Be precise: BayesShrink performed well in the selected single-segment comparison, but it is not established as universally better. One record had a major amplitude transient and needs validation. Future work should harmonize the evaluation protocol, verify record metadata and units, and test on more diverse data with more realistic noise and a reliable clean reference when possible.</a:t>
            </a:r>
            <a:endParaRPr/>
          </a:p>
        </p:txBody>
      </p:sp>
      <p:sp>
        <p:nvSpPr>
          <p:cNvPr id="703" name="Google Shape;703;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p:cSld name="MASTER">
    <p:bg>
      <p:bgPr>
        <a:solidFill>
          <a:srgbClr val="FAF9F5"/>
        </a:solidFill>
      </p:bgPr>
    </p:bg>
    <p:spTree>
      <p:nvGrpSpPr>
        <p:cNvPr id="11" name="Shape 11"/>
        <p:cNvGrpSpPr/>
        <p:nvPr/>
      </p:nvGrpSpPr>
      <p:grpSpPr>
        <a:xfrm>
          <a:off x="0" y="0"/>
          <a:ext cx="0" cy="0"/>
          <a:chOff x="0" y="0"/>
          <a:chExt cx="0" cy="0"/>
        </a:xfrm>
      </p:grpSpPr>
      <p:cxnSp>
        <p:nvCxnSpPr>
          <p:cNvPr id="12" name="Google Shape;12;p2"/>
          <p:cNvCxnSpPr/>
          <p:nvPr/>
        </p:nvCxnSpPr>
        <p:spPr>
          <a:xfrm>
            <a:off x="384048" y="6510528"/>
            <a:ext cx="11411712" cy="0"/>
          </a:xfrm>
          <a:prstGeom prst="straightConnector1">
            <a:avLst/>
          </a:prstGeom>
          <a:noFill/>
          <a:ln cap="flat" cmpd="sng" w="10150">
            <a:solidFill>
              <a:srgbClr val="D8DEE2"/>
            </a:solidFill>
            <a:prstDash val="solid"/>
            <a:round/>
            <a:headEnd len="sm" w="sm" type="none"/>
            <a:tailEnd len="sm" w="sm" type="none"/>
          </a:ln>
        </p:spPr>
      </p:cxnSp>
      <p:sp>
        <p:nvSpPr>
          <p:cNvPr id="13" name="Google Shape;13;p2"/>
          <p:cNvSpPr/>
          <p:nvPr/>
        </p:nvSpPr>
        <p:spPr>
          <a:xfrm>
            <a:off x="438912" y="6556248"/>
            <a:ext cx="4754880" cy="1554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858D"/>
              </a:buClr>
              <a:buSzPts val="780"/>
              <a:buFont typeface="Arial"/>
              <a:buNone/>
            </a:pPr>
            <a:r>
              <a:rPr b="0" i="0" lang="en-US" sz="780" u="none" cap="none" strike="noStrike">
                <a:solidFill>
                  <a:srgbClr val="7A858D"/>
                </a:solidFill>
                <a:latin typeface="Arial"/>
                <a:ea typeface="Arial"/>
                <a:cs typeface="Arial"/>
                <a:sym typeface="Arial"/>
              </a:rPr>
              <a:t>ECG + PPG SIGNAL PROCESSING</a:t>
            </a:r>
            <a:endParaRPr b="0" i="0" sz="780" u="none" cap="none" strike="noStrike">
              <a:solidFill>
                <a:schemeClr val="dk1"/>
              </a:solidFill>
              <a:latin typeface="Arial"/>
              <a:ea typeface="Arial"/>
              <a:cs typeface="Arial"/>
              <a:sym typeface="Arial"/>
            </a:endParaRPr>
          </a:p>
        </p:txBody>
      </p:sp>
      <p:sp>
        <p:nvSpPr>
          <p:cNvPr id="14" name="Google Shape;14;p2"/>
          <p:cNvSpPr txBox="1"/>
          <p:nvPr>
            <p:ph idx="12" type="sldNum"/>
          </p:nvPr>
        </p:nvSpPr>
        <p:spPr>
          <a:xfrm>
            <a:off x="11338560" y="6537960"/>
            <a:ext cx="800000" cy="300000"/>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b="0" i="0" sz="800" u="none" cap="none" strike="noStrike">
                <a:solidFill>
                  <a:srgbClr val="7A858D"/>
                </a:solidFill>
                <a:latin typeface="Arial"/>
                <a:ea typeface="Arial"/>
                <a:cs typeface="Arial"/>
                <a:sym typeface="Arial"/>
              </a:defRPr>
            </a:lvl1pPr>
            <a:lvl2pPr indent="0" lvl="1" marL="0" marR="0" algn="l">
              <a:spcBef>
                <a:spcPts val="0"/>
              </a:spcBef>
              <a:buNone/>
              <a:defRPr b="0" i="0" sz="800" u="none" cap="none" strike="noStrike">
                <a:solidFill>
                  <a:srgbClr val="7A858D"/>
                </a:solidFill>
                <a:latin typeface="Arial"/>
                <a:ea typeface="Arial"/>
                <a:cs typeface="Arial"/>
                <a:sym typeface="Arial"/>
              </a:defRPr>
            </a:lvl2pPr>
            <a:lvl3pPr indent="0" lvl="2" marL="0" marR="0" algn="l">
              <a:spcBef>
                <a:spcPts val="0"/>
              </a:spcBef>
              <a:buNone/>
              <a:defRPr b="0" i="0" sz="800" u="none" cap="none" strike="noStrike">
                <a:solidFill>
                  <a:srgbClr val="7A858D"/>
                </a:solidFill>
                <a:latin typeface="Arial"/>
                <a:ea typeface="Arial"/>
                <a:cs typeface="Arial"/>
                <a:sym typeface="Arial"/>
              </a:defRPr>
            </a:lvl3pPr>
            <a:lvl4pPr indent="0" lvl="3" marL="0" marR="0" algn="l">
              <a:spcBef>
                <a:spcPts val="0"/>
              </a:spcBef>
              <a:buNone/>
              <a:defRPr b="0" i="0" sz="800" u="none" cap="none" strike="noStrike">
                <a:solidFill>
                  <a:srgbClr val="7A858D"/>
                </a:solidFill>
                <a:latin typeface="Arial"/>
                <a:ea typeface="Arial"/>
                <a:cs typeface="Arial"/>
                <a:sym typeface="Arial"/>
              </a:defRPr>
            </a:lvl4pPr>
            <a:lvl5pPr indent="0" lvl="4" marL="0" marR="0" algn="l">
              <a:spcBef>
                <a:spcPts val="0"/>
              </a:spcBef>
              <a:buNone/>
              <a:defRPr b="0" i="0" sz="800" u="none" cap="none" strike="noStrike">
                <a:solidFill>
                  <a:srgbClr val="7A858D"/>
                </a:solidFill>
                <a:latin typeface="Arial"/>
                <a:ea typeface="Arial"/>
                <a:cs typeface="Arial"/>
                <a:sym typeface="Arial"/>
              </a:defRPr>
            </a:lvl5pPr>
            <a:lvl6pPr indent="0" lvl="5" marL="0" marR="0" algn="l">
              <a:spcBef>
                <a:spcPts val="0"/>
              </a:spcBef>
              <a:buNone/>
              <a:defRPr b="0" i="0" sz="800" u="none" cap="none" strike="noStrike">
                <a:solidFill>
                  <a:srgbClr val="7A858D"/>
                </a:solidFill>
                <a:latin typeface="Arial"/>
                <a:ea typeface="Arial"/>
                <a:cs typeface="Arial"/>
                <a:sym typeface="Arial"/>
              </a:defRPr>
            </a:lvl6pPr>
            <a:lvl7pPr indent="0" lvl="6" marL="0" marR="0" algn="l">
              <a:spcBef>
                <a:spcPts val="0"/>
              </a:spcBef>
              <a:buNone/>
              <a:defRPr b="0" i="0" sz="800" u="none" cap="none" strike="noStrike">
                <a:solidFill>
                  <a:srgbClr val="7A858D"/>
                </a:solidFill>
                <a:latin typeface="Arial"/>
                <a:ea typeface="Arial"/>
                <a:cs typeface="Arial"/>
                <a:sym typeface="Arial"/>
              </a:defRPr>
            </a:lvl7pPr>
            <a:lvl8pPr indent="0" lvl="7" marL="0" marR="0" algn="l">
              <a:spcBef>
                <a:spcPts val="0"/>
              </a:spcBef>
              <a:buNone/>
              <a:defRPr b="0" i="0" sz="800" u="none" cap="none" strike="noStrike">
                <a:solidFill>
                  <a:srgbClr val="7A858D"/>
                </a:solidFill>
                <a:latin typeface="Arial"/>
                <a:ea typeface="Arial"/>
                <a:cs typeface="Arial"/>
                <a:sym typeface="Arial"/>
              </a:defRPr>
            </a:lvl8pPr>
            <a:lvl9pPr indent="0" lvl="8" marL="0" marR="0" algn="l">
              <a:spcBef>
                <a:spcPts val="0"/>
              </a:spcBef>
              <a:buNone/>
              <a:defRPr b="0" i="0" sz="800" u="none" cap="none" strike="noStrike">
                <a:solidFill>
                  <a:srgbClr val="7A858D"/>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
          <p:cNvSpPr txBox="1"/>
          <p:nvPr>
            <p:ph idx="12" type="sldNum"/>
          </p:nvPr>
        </p:nvSpPr>
        <p:spPr>
          <a:xfrm>
            <a:off x="11338560" y="6537960"/>
            <a:ext cx="800000" cy="300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800" u="none" cap="none" strike="noStrike">
                <a:solidFill>
                  <a:srgbClr val="7A858D"/>
                </a:solidFill>
                <a:latin typeface="Arial"/>
                <a:ea typeface="Arial"/>
                <a:cs typeface="Arial"/>
                <a:sym typeface="Arial"/>
              </a:defRPr>
            </a:lvl1pPr>
            <a:lvl2pPr indent="0" lvl="1" marL="0" marR="0" rtl="0" algn="l">
              <a:spcBef>
                <a:spcPts val="0"/>
              </a:spcBef>
              <a:buNone/>
              <a:defRPr b="0" i="0" sz="800" u="none" cap="none" strike="noStrike">
                <a:solidFill>
                  <a:srgbClr val="7A858D"/>
                </a:solidFill>
                <a:latin typeface="Arial"/>
                <a:ea typeface="Arial"/>
                <a:cs typeface="Arial"/>
                <a:sym typeface="Arial"/>
              </a:defRPr>
            </a:lvl2pPr>
            <a:lvl3pPr indent="0" lvl="2" marL="0" marR="0" rtl="0" algn="l">
              <a:spcBef>
                <a:spcPts val="0"/>
              </a:spcBef>
              <a:buNone/>
              <a:defRPr b="0" i="0" sz="800" u="none" cap="none" strike="noStrike">
                <a:solidFill>
                  <a:srgbClr val="7A858D"/>
                </a:solidFill>
                <a:latin typeface="Arial"/>
                <a:ea typeface="Arial"/>
                <a:cs typeface="Arial"/>
                <a:sym typeface="Arial"/>
              </a:defRPr>
            </a:lvl3pPr>
            <a:lvl4pPr indent="0" lvl="3" marL="0" marR="0" rtl="0" algn="l">
              <a:spcBef>
                <a:spcPts val="0"/>
              </a:spcBef>
              <a:buNone/>
              <a:defRPr b="0" i="0" sz="800" u="none" cap="none" strike="noStrike">
                <a:solidFill>
                  <a:srgbClr val="7A858D"/>
                </a:solidFill>
                <a:latin typeface="Arial"/>
                <a:ea typeface="Arial"/>
                <a:cs typeface="Arial"/>
                <a:sym typeface="Arial"/>
              </a:defRPr>
            </a:lvl4pPr>
            <a:lvl5pPr indent="0" lvl="4" marL="0" marR="0" rtl="0" algn="l">
              <a:spcBef>
                <a:spcPts val="0"/>
              </a:spcBef>
              <a:buNone/>
              <a:defRPr b="0" i="0" sz="800" u="none" cap="none" strike="noStrike">
                <a:solidFill>
                  <a:srgbClr val="7A858D"/>
                </a:solidFill>
                <a:latin typeface="Arial"/>
                <a:ea typeface="Arial"/>
                <a:cs typeface="Arial"/>
                <a:sym typeface="Arial"/>
              </a:defRPr>
            </a:lvl5pPr>
            <a:lvl6pPr indent="0" lvl="5" marL="0" marR="0" rtl="0" algn="l">
              <a:spcBef>
                <a:spcPts val="0"/>
              </a:spcBef>
              <a:buNone/>
              <a:defRPr b="0" i="0" sz="800" u="none" cap="none" strike="noStrike">
                <a:solidFill>
                  <a:srgbClr val="7A858D"/>
                </a:solidFill>
                <a:latin typeface="Arial"/>
                <a:ea typeface="Arial"/>
                <a:cs typeface="Arial"/>
                <a:sym typeface="Arial"/>
              </a:defRPr>
            </a:lvl6pPr>
            <a:lvl7pPr indent="0" lvl="6" marL="0" marR="0" rtl="0" algn="l">
              <a:spcBef>
                <a:spcPts val="0"/>
              </a:spcBef>
              <a:buNone/>
              <a:defRPr b="0" i="0" sz="800" u="none" cap="none" strike="noStrike">
                <a:solidFill>
                  <a:srgbClr val="7A858D"/>
                </a:solidFill>
                <a:latin typeface="Arial"/>
                <a:ea typeface="Arial"/>
                <a:cs typeface="Arial"/>
                <a:sym typeface="Arial"/>
              </a:defRPr>
            </a:lvl7pPr>
            <a:lvl8pPr indent="0" lvl="7" marL="0" marR="0" rtl="0" algn="l">
              <a:spcBef>
                <a:spcPts val="0"/>
              </a:spcBef>
              <a:buNone/>
              <a:defRPr b="0" i="0" sz="800" u="none" cap="none" strike="noStrike">
                <a:solidFill>
                  <a:srgbClr val="7A858D"/>
                </a:solidFill>
                <a:latin typeface="Arial"/>
                <a:ea typeface="Arial"/>
                <a:cs typeface="Arial"/>
                <a:sym typeface="Arial"/>
              </a:defRPr>
            </a:lvl8pPr>
            <a:lvl9pPr indent="0" lvl="8" marL="0" marR="0" rtl="0" algn="l">
              <a:spcBef>
                <a:spcPts val="0"/>
              </a:spcBef>
              <a:buNone/>
              <a:defRPr b="0" i="0" sz="800" u="none" cap="none" strike="noStrike">
                <a:solidFill>
                  <a:srgbClr val="7A858D"/>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Lst>
  <mc:AlternateContent>
    <mc:Choice Requires="p14">
      <p:transition spd="med">
        <p14:prism dir="l"/>
      </p:transition>
    </mc:Choice>
    <mc:Fallback>
      <p:transition spd="med">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7.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20" name="Shape 20"/>
        <p:cNvGrpSpPr/>
        <p:nvPr/>
      </p:nvGrpSpPr>
      <p:grpSpPr>
        <a:xfrm>
          <a:off x="0" y="0"/>
          <a:ext cx="0" cy="0"/>
          <a:chOff x="0" y="0"/>
          <a:chExt cx="0" cy="0"/>
        </a:xfrm>
      </p:grpSpPr>
      <p:sp>
        <p:nvSpPr>
          <p:cNvPr id="21" name="Google Shape;21;p4"/>
          <p:cNvSpPr/>
          <p:nvPr/>
        </p:nvSpPr>
        <p:spPr>
          <a:xfrm>
            <a:off x="0" y="0"/>
            <a:ext cx="182880" cy="6858000"/>
          </a:xfrm>
          <a:prstGeom prst="rect">
            <a:avLst/>
          </a:prstGeom>
          <a:solidFill>
            <a:srgbClr val="4E928B"/>
          </a:solidFill>
          <a:ln cap="flat" cmpd="sng" w="9525">
            <a:solidFill>
              <a:srgbClr val="4E92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p:nvPr/>
        </p:nvSpPr>
        <p:spPr>
          <a:xfrm>
            <a:off x="685800" y="713232"/>
            <a:ext cx="1627632" cy="256032"/>
          </a:xfrm>
          <a:prstGeom prst="roundRect">
            <a:avLst>
              <a:gd fmla="val 28571" name="adj"/>
            </a:avLst>
          </a:prstGeom>
          <a:solidFill>
            <a:srgbClr val="D58A4B">
              <a:alpha val="14902"/>
            </a:srgbClr>
          </a:solidFill>
          <a:ln cap="flat" cmpd="sng" w="9525">
            <a:solidFill>
              <a:srgbClr val="D58A4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4"/>
          <p:cNvSpPr txBox="1"/>
          <p:nvPr/>
        </p:nvSpPr>
        <p:spPr>
          <a:xfrm>
            <a:off x="758952" y="736092"/>
            <a:ext cx="1481328" cy="19202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D58A4B"/>
              </a:buClr>
              <a:buSzPts val="860"/>
              <a:buFont typeface="Arial"/>
              <a:buNone/>
            </a:pPr>
            <a:r>
              <a:rPr b="1" i="0" lang="en-US" sz="860" u="none" cap="none" strike="noStrike">
                <a:solidFill>
                  <a:srgbClr val="D58A4B"/>
                </a:solidFill>
                <a:latin typeface="Arial"/>
                <a:ea typeface="Arial"/>
                <a:cs typeface="Arial"/>
                <a:sym typeface="Arial"/>
              </a:rPr>
              <a:t>COURSE PROJECT</a:t>
            </a:r>
            <a:endParaRPr b="0" i="0" sz="860" u="none" cap="none" strike="noStrike">
              <a:solidFill>
                <a:schemeClr val="dk1"/>
              </a:solidFill>
              <a:latin typeface="Arial"/>
              <a:ea typeface="Arial"/>
              <a:cs typeface="Arial"/>
              <a:sym typeface="Arial"/>
            </a:endParaRPr>
          </a:p>
        </p:txBody>
      </p:sp>
      <p:sp>
        <p:nvSpPr>
          <p:cNvPr id="24" name="Google Shape;24;p4"/>
          <p:cNvSpPr txBox="1"/>
          <p:nvPr/>
        </p:nvSpPr>
        <p:spPr>
          <a:xfrm>
            <a:off x="713232" y="1170432"/>
            <a:ext cx="5715000" cy="15179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3800"/>
              <a:buFont typeface="Play"/>
              <a:buNone/>
            </a:pPr>
            <a:r>
              <a:rPr b="1" i="0" lang="en-US" sz="3800" u="none" cap="none" strike="noStrike">
                <a:solidFill>
                  <a:srgbClr val="203447"/>
                </a:solidFill>
                <a:latin typeface="Play"/>
                <a:ea typeface="Play"/>
                <a:cs typeface="Play"/>
                <a:sym typeface="Play"/>
              </a:rPr>
              <a:t>ECG &amp; PPG</a:t>
            </a:r>
            <a:endParaRPr b="0" i="0" sz="3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203447"/>
              </a:buClr>
              <a:buSzPts val="3800"/>
              <a:buFont typeface="Play"/>
              <a:buNone/>
            </a:pPr>
            <a:r>
              <a:rPr b="1" i="0" lang="en-US" sz="3800" u="none" cap="none" strike="noStrike">
                <a:solidFill>
                  <a:srgbClr val="203447"/>
                </a:solidFill>
                <a:latin typeface="Play"/>
                <a:ea typeface="Play"/>
                <a:cs typeface="Play"/>
                <a:sym typeface="Play"/>
              </a:rPr>
              <a:t>Signal Processing</a:t>
            </a:r>
            <a:endParaRPr b="0" i="0" sz="3800" u="none" cap="none" strike="noStrike">
              <a:solidFill>
                <a:schemeClr val="dk1"/>
              </a:solidFill>
              <a:latin typeface="Arial"/>
              <a:ea typeface="Arial"/>
              <a:cs typeface="Arial"/>
              <a:sym typeface="Arial"/>
            </a:endParaRPr>
          </a:p>
        </p:txBody>
      </p:sp>
      <p:sp>
        <p:nvSpPr>
          <p:cNvPr id="25" name="Google Shape;25;p4"/>
          <p:cNvSpPr txBox="1"/>
          <p:nvPr/>
        </p:nvSpPr>
        <p:spPr>
          <a:xfrm>
            <a:off x="749808" y="2816352"/>
            <a:ext cx="562356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97DA3"/>
              </a:buClr>
              <a:buSzPts val="1950"/>
              <a:buFont typeface="Arial"/>
              <a:buNone/>
            </a:pPr>
            <a:r>
              <a:rPr b="0" i="0" lang="en-US" sz="1950" u="none" cap="none" strike="noStrike">
                <a:solidFill>
                  <a:srgbClr val="397DA3"/>
                </a:solidFill>
                <a:latin typeface="Arial"/>
                <a:ea typeface="Arial"/>
                <a:cs typeface="Arial"/>
                <a:sym typeface="Arial"/>
              </a:rPr>
              <a:t>Wavelet analysis and denoising</a:t>
            </a:r>
            <a:endParaRPr b="0" i="0" sz="1950" u="none" cap="none" strike="noStrike">
              <a:solidFill>
                <a:schemeClr val="dk1"/>
              </a:solidFill>
              <a:latin typeface="Arial"/>
              <a:ea typeface="Arial"/>
              <a:cs typeface="Arial"/>
              <a:sym typeface="Arial"/>
            </a:endParaRPr>
          </a:p>
        </p:txBody>
      </p:sp>
      <p:sp>
        <p:nvSpPr>
          <p:cNvPr id="26" name="Google Shape;26;p4"/>
          <p:cNvSpPr txBox="1"/>
          <p:nvPr/>
        </p:nvSpPr>
        <p:spPr>
          <a:xfrm>
            <a:off x="768096" y="3310128"/>
            <a:ext cx="5440680" cy="58521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1520"/>
              <a:buFont typeface="Arial"/>
              <a:buNone/>
            </a:pPr>
            <a:r>
              <a:rPr b="0" i="0" lang="en-US" sz="1520" u="none" cap="none" strike="noStrike">
                <a:solidFill>
                  <a:srgbClr val="203447"/>
                </a:solidFill>
                <a:latin typeface="Arial"/>
                <a:ea typeface="Arial"/>
                <a:cs typeface="Arial"/>
                <a:sym typeface="Arial"/>
              </a:rPr>
              <a:t>How can we reduce noise while preserving important waveform features?</a:t>
            </a:r>
            <a:endParaRPr b="0" i="0" sz="1520" u="none" cap="none" strike="noStrike">
              <a:solidFill>
                <a:schemeClr val="dk1"/>
              </a:solidFill>
              <a:latin typeface="Arial"/>
              <a:ea typeface="Arial"/>
              <a:cs typeface="Arial"/>
              <a:sym typeface="Arial"/>
            </a:endParaRPr>
          </a:p>
        </p:txBody>
      </p:sp>
      <p:cxnSp>
        <p:nvCxnSpPr>
          <p:cNvPr id="27" name="Google Shape;27;p4"/>
          <p:cNvCxnSpPr/>
          <p:nvPr/>
        </p:nvCxnSpPr>
        <p:spPr>
          <a:xfrm>
            <a:off x="749808" y="4005072"/>
            <a:ext cx="5440680" cy="0"/>
          </a:xfrm>
          <a:prstGeom prst="straightConnector1">
            <a:avLst/>
          </a:prstGeom>
          <a:noFill/>
          <a:ln cap="flat" cmpd="sng" w="25400">
            <a:solidFill>
              <a:srgbClr val="D58A4B"/>
            </a:solidFill>
            <a:prstDash val="solid"/>
            <a:round/>
            <a:headEnd len="sm" w="sm" type="none"/>
            <a:tailEnd len="sm" w="sm" type="none"/>
          </a:ln>
        </p:spPr>
      </p:cxnSp>
      <p:sp>
        <p:nvSpPr>
          <p:cNvPr id="28" name="Google Shape;28;p4"/>
          <p:cNvSpPr txBox="1"/>
          <p:nvPr/>
        </p:nvSpPr>
        <p:spPr>
          <a:xfrm>
            <a:off x="768096" y="4224528"/>
            <a:ext cx="5532120"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1420"/>
              <a:buFont typeface="Arial"/>
              <a:buNone/>
            </a:pPr>
            <a:r>
              <a:rPr b="1" i="0" lang="en-US" sz="1420" u="none" cap="none" strike="noStrike">
                <a:solidFill>
                  <a:srgbClr val="203447"/>
                </a:solidFill>
                <a:latin typeface="Arial"/>
                <a:ea typeface="Arial"/>
                <a:cs typeface="Arial"/>
                <a:sym typeface="Arial"/>
              </a:rPr>
              <a:t>Course: Foundation of Data Science</a:t>
            </a:r>
            <a:endParaRPr b="0" i="0" sz="1420" u="none" cap="none" strike="noStrike">
              <a:solidFill>
                <a:schemeClr val="dk1"/>
              </a:solidFill>
              <a:latin typeface="Arial"/>
              <a:ea typeface="Arial"/>
              <a:cs typeface="Arial"/>
              <a:sym typeface="Arial"/>
            </a:endParaRPr>
          </a:p>
        </p:txBody>
      </p:sp>
      <p:sp>
        <p:nvSpPr>
          <p:cNvPr id="29" name="Google Shape;29;p4"/>
          <p:cNvSpPr txBox="1"/>
          <p:nvPr/>
        </p:nvSpPr>
        <p:spPr>
          <a:xfrm>
            <a:off x="768096" y="4562856"/>
            <a:ext cx="5532120"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1370"/>
              <a:buFont typeface="Arial"/>
              <a:buNone/>
            </a:pPr>
            <a:r>
              <a:rPr b="0" i="0" lang="en-US" sz="1370" u="none" cap="none" strike="noStrike">
                <a:solidFill>
                  <a:srgbClr val="203447"/>
                </a:solidFill>
                <a:latin typeface="Arial"/>
                <a:ea typeface="Arial"/>
                <a:cs typeface="Arial"/>
                <a:sym typeface="Arial"/>
              </a:rPr>
              <a:t>Presented by: </a:t>
            </a:r>
            <a:r>
              <a:rPr lang="en-US" sz="1370">
                <a:solidFill>
                  <a:srgbClr val="203447"/>
                </a:solidFill>
              </a:rPr>
              <a:t>Ridhi Singh</a:t>
            </a:r>
            <a:endParaRPr b="0" i="0" sz="1370" u="none" cap="none" strike="noStrike">
              <a:solidFill>
                <a:schemeClr val="dk1"/>
              </a:solidFill>
              <a:latin typeface="Arial"/>
              <a:ea typeface="Arial"/>
              <a:cs typeface="Arial"/>
              <a:sym typeface="Arial"/>
            </a:endParaRPr>
          </a:p>
        </p:txBody>
      </p:sp>
      <p:sp>
        <p:nvSpPr>
          <p:cNvPr id="30" name="Google Shape;30;p4"/>
          <p:cNvSpPr txBox="1"/>
          <p:nvPr/>
        </p:nvSpPr>
        <p:spPr>
          <a:xfrm>
            <a:off x="768096" y="4901184"/>
            <a:ext cx="5532120"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1370"/>
              <a:buFont typeface="Arial"/>
              <a:buNone/>
            </a:pPr>
            <a:r>
              <a:rPr b="0" i="0" lang="en-US" sz="1370" u="none" cap="none" strike="noStrike">
                <a:solidFill>
                  <a:srgbClr val="203447"/>
                </a:solidFill>
                <a:latin typeface="Arial"/>
                <a:ea typeface="Arial"/>
                <a:cs typeface="Arial"/>
                <a:sym typeface="Arial"/>
              </a:rPr>
              <a:t>Professor: Dr. Anurag Singh</a:t>
            </a:r>
            <a:endParaRPr b="0" i="0" sz="1370" u="none" cap="none" strike="noStrike">
              <a:solidFill>
                <a:schemeClr val="dk1"/>
              </a:solidFill>
              <a:latin typeface="Arial"/>
              <a:ea typeface="Arial"/>
              <a:cs typeface="Arial"/>
              <a:sym typeface="Arial"/>
            </a:endParaRPr>
          </a:p>
        </p:txBody>
      </p:sp>
      <p:sp>
        <p:nvSpPr>
          <p:cNvPr id="31" name="Google Shape;31;p4"/>
          <p:cNvSpPr txBox="1"/>
          <p:nvPr/>
        </p:nvSpPr>
        <p:spPr>
          <a:xfrm>
            <a:off x="768096" y="5239512"/>
            <a:ext cx="5532000" cy="2742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1370"/>
              <a:buFont typeface="Arial"/>
              <a:buNone/>
            </a:pPr>
            <a:r>
              <a:rPr b="0" i="0" lang="en-US" sz="1370" u="none" cap="none" strike="noStrike">
                <a:solidFill>
                  <a:srgbClr val="203447"/>
                </a:solidFill>
                <a:latin typeface="Arial"/>
                <a:ea typeface="Arial"/>
                <a:cs typeface="Arial"/>
                <a:sym typeface="Arial"/>
              </a:rPr>
              <a:t>Under the guidance of: Om Nath Sir</a:t>
            </a:r>
            <a:endParaRPr b="0" i="0" sz="1370" u="none" cap="none" strike="noStrike">
              <a:solidFill>
                <a:schemeClr val="dk1"/>
              </a:solidFill>
              <a:latin typeface="Arial"/>
              <a:ea typeface="Arial"/>
              <a:cs typeface="Arial"/>
              <a:sym typeface="Arial"/>
            </a:endParaRPr>
          </a:p>
        </p:txBody>
      </p:sp>
      <p:sp>
        <p:nvSpPr>
          <p:cNvPr id="32" name="Google Shape;32;p4"/>
          <p:cNvSpPr/>
          <p:nvPr/>
        </p:nvSpPr>
        <p:spPr>
          <a:xfrm>
            <a:off x="6537960" y="1143000"/>
            <a:ext cx="5074920" cy="4526280"/>
          </a:xfrm>
          <a:prstGeom prst="roundRect">
            <a:avLst>
              <a:gd fmla="val 1616" name="adj"/>
            </a:avLst>
          </a:prstGeom>
          <a:solidFill>
            <a:srgbClr val="FFFFFF"/>
          </a:solidFill>
          <a:ln cap="flat" cmpd="sng" w="10150">
            <a:solidFill>
              <a:srgbClr val="DD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nt/data/image(1).png" id="33" name="Google Shape;33;p4"/>
          <p:cNvPicPr preferRelativeResize="0"/>
          <p:nvPr/>
        </p:nvPicPr>
        <p:blipFill rotWithShape="1">
          <a:blip r:embed="rId3">
            <a:alphaModFix/>
          </a:blip>
          <a:srcRect b="0" l="0" r="0" t="0"/>
          <a:stretch/>
        </p:blipFill>
        <p:spPr>
          <a:xfrm>
            <a:off x="6611100" y="1143000"/>
            <a:ext cx="4928626" cy="4459400"/>
          </a:xfrm>
          <a:prstGeom prst="rect">
            <a:avLst/>
          </a:prstGeom>
          <a:noFill/>
          <a:ln>
            <a:noFill/>
          </a:ln>
        </p:spPr>
      </p:pic>
      <p:sp>
        <p:nvSpPr>
          <p:cNvPr id="34" name="Google Shape;34;p4"/>
          <p:cNvSpPr txBox="1"/>
          <p:nvPr>
            <p:ph idx="4294967295" type="sldNum"/>
          </p:nvPr>
        </p:nvSpPr>
        <p:spPr>
          <a:xfrm>
            <a:off x="11338560" y="653796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800" u="none" cap="none" strike="noStrike">
                <a:solidFill>
                  <a:srgbClr val="7A858D"/>
                </a:solidFill>
                <a:latin typeface="Arial"/>
                <a:ea typeface="Arial"/>
                <a:cs typeface="Arial"/>
                <a:sym typeface="Arial"/>
              </a:rPr>
              <a:t>‹#›</a:t>
            </a:fld>
            <a:endParaRPr b="0" i="0" sz="800" u="none" cap="none" strike="noStrike">
              <a:solidFill>
                <a:srgbClr val="7A858D"/>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1">
                                  <p:stCondLst>
                                    <p:cond delay="0"/>
                                  </p:stCondLst>
                                  <p:childTnLst>
                                    <p:set>
                                      <p:cBhvr>
                                        <p:cTn dur="1" fill="hold">
                                          <p:stCondLst>
                                            <p:cond delay="0"/>
                                          </p:stCondLst>
                                        </p:cTn>
                                        <p:tgtEl>
                                          <p:spTgt spid="33"/>
                                        </p:tgtEl>
                                        <p:attrNameLst>
                                          <p:attrName>style.visibility</p:attrName>
                                        </p:attrNameLst>
                                      </p:cBhvr>
                                      <p:to>
                                        <p:strVal val="visible"/>
                                      </p:to>
                                    </p:set>
                                    <p:anim calcmode="lin" valueType="num">
                                      <p:cBhvr additive="base">
                                        <p:cTn dur="1000"/>
                                        <p:tgtEl>
                                          <p:spTgt spid="3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39" name="Shape 39"/>
        <p:cNvGrpSpPr/>
        <p:nvPr/>
      </p:nvGrpSpPr>
      <p:grpSpPr>
        <a:xfrm>
          <a:off x="0" y="0"/>
          <a:ext cx="0" cy="0"/>
          <a:chOff x="0" y="0"/>
          <a:chExt cx="0" cy="0"/>
        </a:xfrm>
      </p:grpSpPr>
      <p:sp>
        <p:nvSpPr>
          <p:cNvPr id="40" name="Google Shape;40;p5"/>
          <p:cNvSpPr/>
          <p:nvPr/>
        </p:nvSpPr>
        <p:spPr>
          <a:xfrm>
            <a:off x="9646920" y="274320"/>
            <a:ext cx="2084832" cy="310896"/>
          </a:xfrm>
          <a:prstGeom prst="roundRect">
            <a:avLst>
              <a:gd fmla="val 29412" name="adj"/>
            </a:avLst>
          </a:prstGeom>
          <a:solidFill>
            <a:srgbClr val="EAF2F5"/>
          </a:solidFill>
          <a:ln cap="flat" cmpd="sng" w="9525">
            <a:solidFill>
              <a:srgbClr val="EAF2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5"/>
          <p:cNvSpPr txBox="1"/>
          <p:nvPr/>
        </p:nvSpPr>
        <p:spPr>
          <a:xfrm>
            <a:off x="9710928" y="310896"/>
            <a:ext cx="1956816" cy="21945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397DA3"/>
              </a:buClr>
              <a:buSzPts val="850"/>
              <a:buFont typeface="Arial"/>
              <a:buNone/>
            </a:pPr>
            <a:r>
              <a:rPr b="1" lang="en-US" sz="850">
                <a:solidFill>
                  <a:srgbClr val="397DA3"/>
                </a:solidFill>
              </a:rPr>
              <a:t>INTRODUCTION</a:t>
            </a:r>
            <a:endParaRPr b="0" i="0" sz="850" u="none" cap="none" strike="noStrike">
              <a:solidFill>
                <a:schemeClr val="dk1"/>
              </a:solidFill>
              <a:latin typeface="Arial"/>
              <a:ea typeface="Arial"/>
              <a:cs typeface="Arial"/>
              <a:sym typeface="Arial"/>
            </a:endParaRPr>
          </a:p>
        </p:txBody>
      </p:sp>
      <p:sp>
        <p:nvSpPr>
          <p:cNvPr id="42" name="Google Shape;42;p5"/>
          <p:cNvSpPr txBox="1"/>
          <p:nvPr/>
        </p:nvSpPr>
        <p:spPr>
          <a:xfrm>
            <a:off x="438912" y="292608"/>
            <a:ext cx="896112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2700"/>
              <a:buFont typeface="Play"/>
              <a:buNone/>
            </a:pPr>
            <a:r>
              <a:rPr b="1" i="0" lang="en-US" sz="2700" u="none" cap="none" strike="noStrike">
                <a:solidFill>
                  <a:srgbClr val="203447"/>
                </a:solidFill>
                <a:latin typeface="Play"/>
                <a:ea typeface="Play"/>
                <a:cs typeface="Play"/>
                <a:sym typeface="Play"/>
              </a:rPr>
              <a:t>Why wavelets for ECG and PPG?</a:t>
            </a:r>
            <a:endParaRPr b="0" i="0" sz="2700" u="none" cap="none" strike="noStrike">
              <a:solidFill>
                <a:schemeClr val="dk1"/>
              </a:solidFill>
              <a:latin typeface="Arial"/>
              <a:ea typeface="Arial"/>
              <a:cs typeface="Arial"/>
              <a:sym typeface="Arial"/>
            </a:endParaRPr>
          </a:p>
        </p:txBody>
      </p:sp>
      <p:sp>
        <p:nvSpPr>
          <p:cNvPr id="43" name="Google Shape;43;p5"/>
          <p:cNvSpPr txBox="1"/>
          <p:nvPr/>
        </p:nvSpPr>
        <p:spPr>
          <a:xfrm>
            <a:off x="457200" y="804672"/>
            <a:ext cx="11064240" cy="32918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1717D"/>
              </a:buClr>
              <a:buSzPts val="1250"/>
              <a:buFont typeface="Arial"/>
              <a:buNone/>
            </a:pPr>
            <a:r>
              <a:rPr b="0" i="0" lang="en-US" sz="1250" u="none" cap="none" strike="noStrike">
                <a:solidFill>
                  <a:srgbClr val="61717D"/>
                </a:solidFill>
                <a:latin typeface="Arial"/>
                <a:ea typeface="Arial"/>
                <a:cs typeface="Arial"/>
                <a:sym typeface="Arial"/>
              </a:rPr>
              <a:t>These are non-stationary signals: their shape and frequency content can change over time</a:t>
            </a:r>
            <a:endParaRPr b="0" i="0" sz="1250" u="none" cap="none" strike="noStrike">
              <a:solidFill>
                <a:schemeClr val="dk1"/>
              </a:solidFill>
              <a:latin typeface="Arial"/>
              <a:ea typeface="Arial"/>
              <a:cs typeface="Arial"/>
              <a:sym typeface="Arial"/>
            </a:endParaRPr>
          </a:p>
        </p:txBody>
      </p:sp>
      <p:cxnSp>
        <p:nvCxnSpPr>
          <p:cNvPr id="44" name="Google Shape;44;p5"/>
          <p:cNvCxnSpPr/>
          <p:nvPr/>
        </p:nvCxnSpPr>
        <p:spPr>
          <a:xfrm>
            <a:off x="438912" y="1197864"/>
            <a:ext cx="11292840" cy="0"/>
          </a:xfrm>
          <a:prstGeom prst="straightConnector1">
            <a:avLst/>
          </a:prstGeom>
          <a:noFill/>
          <a:ln cap="flat" cmpd="sng" w="22850">
            <a:solidFill>
              <a:srgbClr val="4E928B"/>
            </a:solidFill>
            <a:prstDash val="solid"/>
            <a:round/>
            <a:headEnd len="sm" w="sm" type="none"/>
            <a:tailEnd len="sm" w="sm" type="none"/>
          </a:ln>
        </p:spPr>
      </p:cxnSp>
      <p:sp>
        <p:nvSpPr>
          <p:cNvPr id="45" name="Google Shape;45;p5"/>
          <p:cNvSpPr/>
          <p:nvPr/>
        </p:nvSpPr>
        <p:spPr>
          <a:xfrm>
            <a:off x="568350" y="1416650"/>
            <a:ext cx="4828200" cy="2416500"/>
          </a:xfrm>
          <a:prstGeom prst="roundRect">
            <a:avLst>
              <a:gd fmla="val 3846" name="adj"/>
            </a:avLst>
          </a:prstGeom>
          <a:solidFill>
            <a:srgbClr val="F8EEE3"/>
          </a:solidFill>
          <a:ln cap="flat" cmpd="sng" w="12700">
            <a:solidFill>
              <a:srgbClr val="D58A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5"/>
          <p:cNvSpPr txBox="1"/>
          <p:nvPr/>
        </p:nvSpPr>
        <p:spPr>
          <a:xfrm>
            <a:off x="962666" y="1517888"/>
            <a:ext cx="3255300" cy="2742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D58A4B"/>
              </a:buClr>
              <a:buSzPts val="1500"/>
              <a:buFont typeface="Arial"/>
              <a:buNone/>
            </a:pPr>
            <a:r>
              <a:rPr b="1" i="0" lang="en-US" sz="1500" u="none" cap="none" strike="noStrike">
                <a:solidFill>
                  <a:srgbClr val="D58A4B"/>
                </a:solidFill>
                <a:latin typeface="Arial"/>
                <a:ea typeface="Arial"/>
                <a:cs typeface="Arial"/>
                <a:sym typeface="Arial"/>
              </a:rPr>
              <a:t>Conventional filtering</a:t>
            </a:r>
            <a:endParaRPr b="0" i="0" sz="1500" u="none" cap="none" strike="noStrike">
              <a:solidFill>
                <a:schemeClr val="dk1"/>
              </a:solidFill>
              <a:latin typeface="Arial"/>
              <a:ea typeface="Arial"/>
              <a:cs typeface="Arial"/>
              <a:sym typeface="Arial"/>
            </a:endParaRPr>
          </a:p>
        </p:txBody>
      </p:sp>
      <p:sp>
        <p:nvSpPr>
          <p:cNvPr id="47" name="Google Shape;47;p5"/>
          <p:cNvSpPr txBox="1"/>
          <p:nvPr/>
        </p:nvSpPr>
        <p:spPr>
          <a:xfrm>
            <a:off x="1238916" y="1842503"/>
            <a:ext cx="3255300" cy="18471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203447"/>
              </a:buClr>
              <a:buSzPts val="1220"/>
              <a:buFont typeface="Arial"/>
              <a:buNone/>
            </a:pPr>
            <a:r>
              <a:rPr b="0" i="0" lang="en-US" sz="1420" u="none" cap="none" strike="noStrike">
                <a:solidFill>
                  <a:srgbClr val="203447"/>
                </a:solidFill>
                <a:latin typeface="Arial"/>
                <a:ea typeface="Arial"/>
                <a:cs typeface="Arial"/>
                <a:sym typeface="Arial"/>
              </a:rPr>
              <a:t>Keeps a chosen frequency band and </a:t>
            </a:r>
            <a:r>
              <a:rPr lang="en-US" sz="1420">
                <a:solidFill>
                  <a:srgbClr val="203447"/>
                </a:solidFill>
              </a:rPr>
              <a:t>discard</a:t>
            </a:r>
            <a:r>
              <a:rPr b="0" i="0" lang="en-US" sz="1420" u="none" cap="none" strike="noStrike">
                <a:solidFill>
                  <a:srgbClr val="203447"/>
                </a:solidFill>
                <a:latin typeface="Arial"/>
                <a:ea typeface="Arial"/>
                <a:cs typeface="Arial"/>
                <a:sym typeface="Arial"/>
              </a:rPr>
              <a:t> the rest. It can reduce known interference, but useful ECG or PPG details in the same band may also be reduced.</a:t>
            </a:r>
            <a:endParaRPr b="0" i="0" sz="1420" u="none" cap="none" strike="noStrike">
              <a:solidFill>
                <a:schemeClr val="dk1"/>
              </a:solidFill>
              <a:latin typeface="Arial"/>
              <a:ea typeface="Arial"/>
              <a:cs typeface="Arial"/>
              <a:sym typeface="Arial"/>
            </a:endParaRPr>
          </a:p>
        </p:txBody>
      </p:sp>
      <p:sp>
        <p:nvSpPr>
          <p:cNvPr id="48" name="Google Shape;48;p5"/>
          <p:cNvSpPr/>
          <p:nvPr/>
        </p:nvSpPr>
        <p:spPr>
          <a:xfrm>
            <a:off x="6374975" y="1471200"/>
            <a:ext cx="5109900" cy="2315400"/>
          </a:xfrm>
          <a:prstGeom prst="roundRect">
            <a:avLst>
              <a:gd fmla="val 3846" name="adj"/>
            </a:avLst>
          </a:prstGeom>
          <a:solidFill>
            <a:srgbClr val="E8F2EF"/>
          </a:solidFill>
          <a:ln cap="flat" cmpd="sng" w="12700">
            <a:solidFill>
              <a:srgbClr val="4E92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5"/>
          <p:cNvSpPr txBox="1"/>
          <p:nvPr/>
        </p:nvSpPr>
        <p:spPr>
          <a:xfrm>
            <a:off x="6665268" y="1568188"/>
            <a:ext cx="3255300" cy="2742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4E928B"/>
              </a:buClr>
              <a:buSzPts val="1500"/>
              <a:buFont typeface="Arial"/>
              <a:buNone/>
            </a:pPr>
            <a:r>
              <a:rPr b="1" i="0" lang="en-US" sz="1500" u="none" cap="none" strike="noStrike">
                <a:solidFill>
                  <a:srgbClr val="4E928B"/>
                </a:solidFill>
                <a:latin typeface="Arial"/>
                <a:ea typeface="Arial"/>
                <a:cs typeface="Arial"/>
                <a:sym typeface="Arial"/>
              </a:rPr>
              <a:t>Wavelet analysis</a:t>
            </a:r>
            <a:endParaRPr b="0" i="0" sz="1500" u="none" cap="none" strike="noStrike">
              <a:solidFill>
                <a:schemeClr val="dk1"/>
              </a:solidFill>
              <a:latin typeface="Arial"/>
              <a:ea typeface="Arial"/>
              <a:cs typeface="Arial"/>
              <a:sym typeface="Arial"/>
            </a:endParaRPr>
          </a:p>
        </p:txBody>
      </p:sp>
      <p:sp>
        <p:nvSpPr>
          <p:cNvPr id="50" name="Google Shape;50;p5"/>
          <p:cNvSpPr txBox="1"/>
          <p:nvPr/>
        </p:nvSpPr>
        <p:spPr>
          <a:xfrm>
            <a:off x="7201750" y="1913475"/>
            <a:ext cx="3255300" cy="17259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203447"/>
              </a:buClr>
              <a:buSzPts val="1220"/>
              <a:buFont typeface="Arial"/>
              <a:buNone/>
            </a:pPr>
            <a:r>
              <a:rPr b="0" i="0" lang="en-US" sz="1420" u="none" cap="none" strike="noStrike">
                <a:solidFill>
                  <a:srgbClr val="203447"/>
                </a:solidFill>
                <a:latin typeface="Arial"/>
                <a:ea typeface="Arial"/>
                <a:cs typeface="Arial"/>
                <a:sym typeface="Arial"/>
              </a:rPr>
              <a:t>Looks at the signal at multiple scales while retaining time-local information. DWT gives scale coefficients; CWT shows time-frequency activity. Thresholding can reduce selected coefficients before reconstruction.</a:t>
            </a:r>
            <a:endParaRPr b="0" i="0" sz="1420" u="none" cap="none" strike="noStrike">
              <a:solidFill>
                <a:schemeClr val="dk1"/>
              </a:solidFill>
              <a:latin typeface="Arial"/>
              <a:ea typeface="Arial"/>
              <a:cs typeface="Arial"/>
              <a:sym typeface="Arial"/>
            </a:endParaRPr>
          </a:p>
        </p:txBody>
      </p:sp>
      <p:sp>
        <p:nvSpPr>
          <p:cNvPr id="51" name="Google Shape;51;p5"/>
          <p:cNvSpPr/>
          <p:nvPr/>
        </p:nvSpPr>
        <p:spPr>
          <a:xfrm>
            <a:off x="694944" y="4233672"/>
            <a:ext cx="10789920" cy="1298448"/>
          </a:xfrm>
          <a:prstGeom prst="roundRect">
            <a:avLst>
              <a:gd fmla="val 7042" name="adj"/>
            </a:avLst>
          </a:prstGeom>
          <a:solidFill>
            <a:srgbClr val="F0F1EE"/>
          </a:solidFill>
          <a:ln cap="flat" cmpd="sng" w="12700">
            <a:solidFill>
              <a:srgbClr val="2D6C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5"/>
          <p:cNvSpPr txBox="1"/>
          <p:nvPr/>
        </p:nvSpPr>
        <p:spPr>
          <a:xfrm>
            <a:off x="841248" y="4334256"/>
            <a:ext cx="10497312"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D6C68"/>
              </a:buClr>
              <a:buSzPts val="1500"/>
              <a:buFont typeface="Arial"/>
              <a:buNone/>
            </a:pPr>
            <a:r>
              <a:rPr b="1" i="0" lang="en-US" sz="1500" u="none" cap="none" strike="noStrike">
                <a:solidFill>
                  <a:srgbClr val="2D6C68"/>
                </a:solidFill>
                <a:latin typeface="Arial"/>
                <a:ea typeface="Arial"/>
                <a:cs typeface="Arial"/>
                <a:sym typeface="Arial"/>
              </a:rPr>
              <a:t>The real-world problem</a:t>
            </a:r>
            <a:endParaRPr b="0" i="0" sz="1500" u="none" cap="none" strike="noStrike">
              <a:solidFill>
                <a:schemeClr val="dk1"/>
              </a:solidFill>
              <a:latin typeface="Arial"/>
              <a:ea typeface="Arial"/>
              <a:cs typeface="Arial"/>
              <a:sym typeface="Arial"/>
            </a:endParaRPr>
          </a:p>
        </p:txBody>
      </p:sp>
      <p:sp>
        <p:nvSpPr>
          <p:cNvPr id="53" name="Google Shape;53;p5"/>
          <p:cNvSpPr txBox="1"/>
          <p:nvPr/>
        </p:nvSpPr>
        <p:spPr>
          <a:xfrm>
            <a:off x="841248" y="4672584"/>
            <a:ext cx="10497312" cy="768096"/>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203447"/>
              </a:buClr>
              <a:buSzPts val="1220"/>
              <a:buFont typeface="Arial"/>
              <a:buNone/>
            </a:pPr>
            <a:r>
              <a:rPr b="0" i="0" lang="en-US" sz="1420" u="none" cap="none" strike="noStrike">
                <a:solidFill>
                  <a:srgbClr val="203447"/>
                </a:solidFill>
                <a:latin typeface="Arial"/>
                <a:ea typeface="Arial"/>
                <a:cs typeface="Arial"/>
                <a:sym typeface="Arial"/>
              </a:rPr>
              <a:t>Movement, muscle activity, changes in electrode or sensor contact, and baseline drift can disturb a recording. Our goal is to reduce unwanted disturbance while preserving ECG QRS/R-peaks, PPG pulse shape, and timing.</a:t>
            </a:r>
            <a:endParaRPr b="0" i="0" sz="1420" u="none" cap="none" strike="noStrike">
              <a:solidFill>
                <a:schemeClr val="dk1"/>
              </a:solidFill>
              <a:latin typeface="Arial"/>
              <a:ea typeface="Arial"/>
              <a:cs typeface="Arial"/>
              <a:sym typeface="Arial"/>
            </a:endParaRPr>
          </a:p>
        </p:txBody>
      </p:sp>
      <p:sp>
        <p:nvSpPr>
          <p:cNvPr id="54" name="Google Shape;54;p5"/>
          <p:cNvSpPr txBox="1"/>
          <p:nvPr>
            <p:ph idx="4294967295" type="sldNum"/>
          </p:nvPr>
        </p:nvSpPr>
        <p:spPr>
          <a:xfrm>
            <a:off x="11338560" y="653796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800" u="none" cap="none" strike="noStrike">
                <a:solidFill>
                  <a:srgbClr val="7A858D"/>
                </a:solidFill>
                <a:latin typeface="Arial"/>
                <a:ea typeface="Arial"/>
                <a:cs typeface="Arial"/>
                <a:sym typeface="Arial"/>
              </a:rPr>
              <a:t>‹#›</a:t>
            </a:fld>
            <a:endParaRPr b="0" i="0" sz="800" u="none" cap="none" strike="noStrike">
              <a:solidFill>
                <a:srgbClr val="7A858D"/>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3" presetSubtype="16">
                                  <p:stCondLst>
                                    <p:cond delay="0"/>
                                  </p:stCondLst>
                                  <p:childTnLst>
                                    <p:set>
                                      <p:cBhvr>
                                        <p:cTn dur="1" fill="hold">
                                          <p:stCondLst>
                                            <p:cond delay="0"/>
                                          </p:stCondLst>
                                        </p:cTn>
                                        <p:tgtEl>
                                          <p:spTgt spid="51"/>
                                        </p:tgtEl>
                                        <p:attrNameLst>
                                          <p:attrName>style.visibility</p:attrName>
                                        </p:attrNameLst>
                                      </p:cBhvr>
                                      <p:to>
                                        <p:strVal val="visible"/>
                                      </p:to>
                                    </p:set>
                                    <p:anim calcmode="lin" valueType="num">
                                      <p:cBhvr additive="base">
                                        <p:cTn dur="1000"/>
                                        <p:tgtEl>
                                          <p:spTgt spid="51"/>
                                        </p:tgtEl>
                                        <p:attrNameLst>
                                          <p:attrName>ppt_w</p:attrName>
                                        </p:attrNameLst>
                                      </p:cBhvr>
                                      <p:tavLst>
                                        <p:tav fmla="" tm="0">
                                          <p:val>
                                            <p:strVal val="0"/>
                                          </p:val>
                                        </p:tav>
                                        <p:tav fmla="" tm="100000">
                                          <p:val>
                                            <p:strVal val="#ppt_w"/>
                                          </p:val>
                                        </p:tav>
                                      </p:tavLst>
                                    </p:anim>
                                    <p:anim calcmode="lin" valueType="num">
                                      <p:cBhvr additive="base">
                                        <p:cTn dur="1000"/>
                                        <p:tgtEl>
                                          <p:spTgt spid="51"/>
                                        </p:tgtEl>
                                        <p:attrNameLst>
                                          <p:attrName>ppt_h</p:attrName>
                                        </p:attrNameLst>
                                      </p:cBhvr>
                                      <p:tavLst>
                                        <p:tav fmla="" tm="0">
                                          <p:val>
                                            <p:strVal val="0"/>
                                          </p:val>
                                        </p:tav>
                                        <p:tav fmla="" tm="100000">
                                          <p:val>
                                            <p:strVal val="#ppt_h"/>
                                          </p:val>
                                        </p:tav>
                                      </p:tavLst>
                                    </p:anim>
                                  </p:childTnLst>
                                </p:cTn>
                              </p:par>
                            </p:childTnLst>
                          </p:cTn>
                        </p:par>
                        <p:par>
                          <p:cTn fill="hold">
                            <p:stCondLst>
                              <p:cond delay="1000"/>
                            </p:stCondLst>
                            <p:childTnLst>
                              <p:par>
                                <p:cTn fill="hold" nodeType="afterEffect" presetClass="entr" presetID="1" presetSubtype="0">
                                  <p:stCondLst>
                                    <p:cond delay="0"/>
                                  </p:stCondLst>
                                  <p:childTnLst>
                                    <p:set>
                                      <p:cBhvr>
                                        <p:cTn dur="1" fill="hold">
                                          <p:stCondLst>
                                            <p:cond delay="0"/>
                                          </p:stCondLst>
                                        </p:cTn>
                                        <p:tgtEl>
                                          <p:spTgt spid="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59" name="Shape 59"/>
        <p:cNvGrpSpPr/>
        <p:nvPr/>
      </p:nvGrpSpPr>
      <p:grpSpPr>
        <a:xfrm>
          <a:off x="0" y="0"/>
          <a:ext cx="0" cy="0"/>
          <a:chOff x="0" y="0"/>
          <a:chExt cx="0" cy="0"/>
        </a:xfrm>
      </p:grpSpPr>
      <p:sp>
        <p:nvSpPr>
          <p:cNvPr id="60" name="Google Shape;60;p6"/>
          <p:cNvSpPr/>
          <p:nvPr/>
        </p:nvSpPr>
        <p:spPr>
          <a:xfrm>
            <a:off x="9646920" y="274320"/>
            <a:ext cx="2084832" cy="310896"/>
          </a:xfrm>
          <a:prstGeom prst="roundRect">
            <a:avLst>
              <a:gd fmla="val 29412" name="adj"/>
            </a:avLst>
          </a:prstGeom>
          <a:solidFill>
            <a:srgbClr val="EAF2F5"/>
          </a:solidFill>
          <a:ln cap="flat" cmpd="sng" w="9525">
            <a:solidFill>
              <a:srgbClr val="EAF2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6"/>
          <p:cNvSpPr txBox="1"/>
          <p:nvPr/>
        </p:nvSpPr>
        <p:spPr>
          <a:xfrm>
            <a:off x="9710928" y="310896"/>
            <a:ext cx="1956816" cy="21945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397DA3"/>
              </a:buClr>
              <a:buSzPts val="850"/>
              <a:buFont typeface="Arial"/>
              <a:buNone/>
            </a:pPr>
            <a:r>
              <a:rPr b="1" i="0" lang="en-US" sz="850" u="none" cap="none" strike="noStrike">
                <a:solidFill>
                  <a:srgbClr val="397DA3"/>
                </a:solidFill>
                <a:latin typeface="Arial"/>
                <a:ea typeface="Arial"/>
                <a:cs typeface="Arial"/>
                <a:sym typeface="Arial"/>
              </a:rPr>
              <a:t>SINGLE RECORD</a:t>
            </a:r>
            <a:endParaRPr b="0" i="0" sz="850" u="none" cap="none" strike="noStrike">
              <a:solidFill>
                <a:schemeClr val="dk1"/>
              </a:solidFill>
              <a:latin typeface="Arial"/>
              <a:ea typeface="Arial"/>
              <a:cs typeface="Arial"/>
              <a:sym typeface="Arial"/>
            </a:endParaRPr>
          </a:p>
        </p:txBody>
      </p:sp>
      <p:sp>
        <p:nvSpPr>
          <p:cNvPr id="62" name="Google Shape;62;p6"/>
          <p:cNvSpPr txBox="1"/>
          <p:nvPr/>
        </p:nvSpPr>
        <p:spPr>
          <a:xfrm>
            <a:off x="438912" y="292608"/>
            <a:ext cx="896112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2700"/>
              <a:buFont typeface="Play"/>
              <a:buNone/>
            </a:pPr>
            <a:r>
              <a:rPr b="1" i="0" lang="en-US" sz="2700" u="none" cap="none" strike="noStrike">
                <a:solidFill>
                  <a:srgbClr val="203447"/>
                </a:solidFill>
                <a:latin typeface="Play"/>
                <a:ea typeface="Play"/>
                <a:cs typeface="Play"/>
                <a:sym typeface="Play"/>
              </a:rPr>
              <a:t>First: what do ECG and PPG look like?</a:t>
            </a:r>
            <a:endParaRPr b="0" i="0" sz="2700" u="none" cap="none" strike="noStrike">
              <a:solidFill>
                <a:schemeClr val="dk1"/>
              </a:solidFill>
              <a:latin typeface="Arial"/>
              <a:ea typeface="Arial"/>
              <a:cs typeface="Arial"/>
              <a:sym typeface="Arial"/>
            </a:endParaRPr>
          </a:p>
        </p:txBody>
      </p:sp>
      <p:sp>
        <p:nvSpPr>
          <p:cNvPr id="63" name="Google Shape;63;p6"/>
          <p:cNvSpPr txBox="1"/>
          <p:nvPr/>
        </p:nvSpPr>
        <p:spPr>
          <a:xfrm>
            <a:off x="457200" y="804672"/>
            <a:ext cx="11064240" cy="32918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1717D"/>
              </a:buClr>
              <a:buSzPts val="1250"/>
              <a:buFont typeface="Arial"/>
              <a:buNone/>
            </a:pPr>
            <a:r>
              <a:rPr b="0" i="0" lang="en-US" sz="1250" u="none" cap="none" strike="noStrike">
                <a:solidFill>
                  <a:srgbClr val="61717D"/>
                </a:solidFill>
                <a:latin typeface="Arial"/>
                <a:ea typeface="Arial"/>
                <a:cs typeface="Arial"/>
                <a:sym typeface="Arial"/>
              </a:rPr>
              <a:t>We started by plotting the two channels from the same selected recording</a:t>
            </a:r>
            <a:endParaRPr b="0" i="0" sz="1250" u="none" cap="none" strike="noStrike">
              <a:solidFill>
                <a:schemeClr val="dk1"/>
              </a:solidFill>
              <a:latin typeface="Arial"/>
              <a:ea typeface="Arial"/>
              <a:cs typeface="Arial"/>
              <a:sym typeface="Arial"/>
            </a:endParaRPr>
          </a:p>
        </p:txBody>
      </p:sp>
      <p:cxnSp>
        <p:nvCxnSpPr>
          <p:cNvPr id="64" name="Google Shape;64;p6"/>
          <p:cNvCxnSpPr/>
          <p:nvPr/>
        </p:nvCxnSpPr>
        <p:spPr>
          <a:xfrm>
            <a:off x="438912" y="1197864"/>
            <a:ext cx="11292840" cy="0"/>
          </a:xfrm>
          <a:prstGeom prst="straightConnector1">
            <a:avLst/>
          </a:prstGeom>
          <a:noFill/>
          <a:ln cap="flat" cmpd="sng" w="22850">
            <a:solidFill>
              <a:srgbClr val="4E928B"/>
            </a:solidFill>
            <a:prstDash val="solid"/>
            <a:round/>
            <a:headEnd len="sm" w="sm" type="none"/>
            <a:tailEnd len="sm" w="sm" type="none"/>
          </a:ln>
        </p:spPr>
      </p:cxnSp>
      <p:sp>
        <p:nvSpPr>
          <p:cNvPr id="65" name="Google Shape;65;p6"/>
          <p:cNvSpPr/>
          <p:nvPr/>
        </p:nvSpPr>
        <p:spPr>
          <a:xfrm>
            <a:off x="502920" y="1371600"/>
            <a:ext cx="7909560" cy="4526280"/>
          </a:xfrm>
          <a:prstGeom prst="roundRect">
            <a:avLst>
              <a:gd fmla="val 1616" name="adj"/>
            </a:avLst>
          </a:prstGeom>
          <a:solidFill>
            <a:srgbClr val="FFFFFF"/>
          </a:solidFill>
          <a:ln cap="flat" cmpd="sng" w="10150">
            <a:solidFill>
              <a:srgbClr val="DD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nt/data/image(1).png" id="66" name="Google Shape;66;p6"/>
          <p:cNvPicPr preferRelativeResize="0"/>
          <p:nvPr/>
        </p:nvPicPr>
        <p:blipFill rotWithShape="1">
          <a:blip r:embed="rId3">
            <a:alphaModFix/>
          </a:blip>
          <a:srcRect b="0" l="0" r="0" t="0"/>
          <a:stretch/>
        </p:blipFill>
        <p:spPr>
          <a:xfrm>
            <a:off x="557784" y="1701168"/>
            <a:ext cx="7799832" cy="3867144"/>
          </a:xfrm>
          <a:prstGeom prst="rect">
            <a:avLst/>
          </a:prstGeom>
          <a:noFill/>
          <a:ln>
            <a:noFill/>
          </a:ln>
        </p:spPr>
      </p:pic>
      <p:sp>
        <p:nvSpPr>
          <p:cNvPr id="67" name="Google Shape;67;p6"/>
          <p:cNvSpPr/>
          <p:nvPr/>
        </p:nvSpPr>
        <p:spPr>
          <a:xfrm>
            <a:off x="8668512" y="1508760"/>
            <a:ext cx="2971800" cy="1627632"/>
          </a:xfrm>
          <a:prstGeom prst="roundRect">
            <a:avLst>
              <a:gd fmla="val 5618" name="adj"/>
            </a:avLst>
          </a:prstGeom>
          <a:solidFill>
            <a:srgbClr val="EAF2F5"/>
          </a:solidFill>
          <a:ln cap="flat" cmpd="sng" w="12700">
            <a:solidFill>
              <a:srgbClr val="397DA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nvSpPr>
        <p:spPr>
          <a:xfrm>
            <a:off x="8814816" y="1609344"/>
            <a:ext cx="2679192"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97DA3"/>
              </a:buClr>
              <a:buSzPts val="1500"/>
              <a:buFont typeface="Arial"/>
              <a:buNone/>
            </a:pPr>
            <a:r>
              <a:rPr b="1" i="0" lang="en-US" sz="1500" u="none" cap="none" strike="noStrike">
                <a:solidFill>
                  <a:srgbClr val="397DA3"/>
                </a:solidFill>
                <a:latin typeface="Arial"/>
                <a:ea typeface="Arial"/>
                <a:cs typeface="Arial"/>
                <a:sym typeface="Arial"/>
              </a:rPr>
              <a:t>ECG — electrical</a:t>
            </a:r>
            <a:endParaRPr b="0" i="0" sz="1500" u="none" cap="none" strike="noStrike">
              <a:solidFill>
                <a:schemeClr val="dk1"/>
              </a:solidFill>
              <a:latin typeface="Arial"/>
              <a:ea typeface="Arial"/>
              <a:cs typeface="Arial"/>
              <a:sym typeface="Arial"/>
            </a:endParaRPr>
          </a:p>
        </p:txBody>
      </p:sp>
      <p:sp>
        <p:nvSpPr>
          <p:cNvPr id="69" name="Google Shape;69;p6"/>
          <p:cNvSpPr txBox="1"/>
          <p:nvPr/>
        </p:nvSpPr>
        <p:spPr>
          <a:xfrm>
            <a:off x="8814816" y="1947672"/>
            <a:ext cx="2679192" cy="109728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203447"/>
              </a:buClr>
              <a:buSzPts val="1220"/>
              <a:buFont typeface="Arial"/>
              <a:buNone/>
            </a:pPr>
            <a:r>
              <a:rPr b="0" i="0" lang="en-US" sz="1220" u="none" cap="none" strike="noStrike">
                <a:solidFill>
                  <a:srgbClr val="203447"/>
                </a:solidFill>
                <a:latin typeface="Arial"/>
                <a:ea typeface="Arial"/>
                <a:cs typeface="Arial"/>
                <a:sym typeface="Arial"/>
              </a:rPr>
              <a:t>Shows electrical activity associated with the heartbeat. Sharp QRS/R peaks are useful landmarks.</a:t>
            </a:r>
            <a:endParaRPr b="0" i="0" sz="1220" u="none" cap="none" strike="noStrike">
              <a:solidFill>
                <a:schemeClr val="dk1"/>
              </a:solidFill>
              <a:latin typeface="Arial"/>
              <a:ea typeface="Arial"/>
              <a:cs typeface="Arial"/>
              <a:sym typeface="Arial"/>
            </a:endParaRPr>
          </a:p>
        </p:txBody>
      </p:sp>
      <p:sp>
        <p:nvSpPr>
          <p:cNvPr id="70" name="Google Shape;70;p6"/>
          <p:cNvSpPr/>
          <p:nvPr/>
        </p:nvSpPr>
        <p:spPr>
          <a:xfrm>
            <a:off x="8668512" y="3410712"/>
            <a:ext cx="2971800" cy="1627632"/>
          </a:xfrm>
          <a:prstGeom prst="roundRect">
            <a:avLst>
              <a:gd fmla="val 5618" name="adj"/>
            </a:avLst>
          </a:prstGeom>
          <a:solidFill>
            <a:srgbClr val="E8F2EF"/>
          </a:solidFill>
          <a:ln cap="flat" cmpd="sng" w="12700">
            <a:solidFill>
              <a:srgbClr val="4E92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6"/>
          <p:cNvSpPr txBox="1"/>
          <p:nvPr/>
        </p:nvSpPr>
        <p:spPr>
          <a:xfrm>
            <a:off x="8814816" y="3511296"/>
            <a:ext cx="2679192"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4E928B"/>
              </a:buClr>
              <a:buSzPts val="1500"/>
              <a:buFont typeface="Arial"/>
              <a:buNone/>
            </a:pPr>
            <a:r>
              <a:rPr b="1" i="0" lang="en-US" sz="1500" u="none" cap="none" strike="noStrike">
                <a:solidFill>
                  <a:srgbClr val="4E928B"/>
                </a:solidFill>
                <a:latin typeface="Arial"/>
                <a:ea typeface="Arial"/>
                <a:cs typeface="Arial"/>
                <a:sym typeface="Arial"/>
              </a:rPr>
              <a:t>PPG — optical pulse</a:t>
            </a:r>
            <a:endParaRPr b="0" i="0" sz="1500" u="none" cap="none" strike="noStrike">
              <a:solidFill>
                <a:schemeClr val="dk1"/>
              </a:solidFill>
              <a:latin typeface="Arial"/>
              <a:ea typeface="Arial"/>
              <a:cs typeface="Arial"/>
              <a:sym typeface="Arial"/>
            </a:endParaRPr>
          </a:p>
        </p:txBody>
      </p:sp>
      <p:sp>
        <p:nvSpPr>
          <p:cNvPr id="72" name="Google Shape;72;p6"/>
          <p:cNvSpPr txBox="1"/>
          <p:nvPr/>
        </p:nvSpPr>
        <p:spPr>
          <a:xfrm>
            <a:off x="8814816" y="3849624"/>
            <a:ext cx="2679192" cy="109728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203447"/>
              </a:buClr>
              <a:buSzPts val="1220"/>
              <a:buFont typeface="Arial"/>
              <a:buNone/>
            </a:pPr>
            <a:r>
              <a:rPr b="0" i="0" lang="en-US" sz="1220" u="none" cap="none" strike="noStrike">
                <a:solidFill>
                  <a:srgbClr val="203447"/>
                </a:solidFill>
                <a:latin typeface="Arial"/>
                <a:ea typeface="Arial"/>
                <a:cs typeface="Arial"/>
                <a:sym typeface="Arial"/>
              </a:rPr>
              <a:t>Measures peripheral blood-volume changes. The waveform is smoother and pulse-shaped.</a:t>
            </a:r>
            <a:endParaRPr b="0" i="0" sz="1220" u="none" cap="none" strike="noStrike">
              <a:solidFill>
                <a:schemeClr val="dk1"/>
              </a:solidFill>
              <a:latin typeface="Arial"/>
              <a:ea typeface="Arial"/>
              <a:cs typeface="Arial"/>
              <a:sym typeface="Arial"/>
            </a:endParaRPr>
          </a:p>
        </p:txBody>
      </p:sp>
      <p:sp>
        <p:nvSpPr>
          <p:cNvPr id="73" name="Google Shape;73;p6"/>
          <p:cNvSpPr txBox="1"/>
          <p:nvPr/>
        </p:nvSpPr>
        <p:spPr>
          <a:xfrm>
            <a:off x="8705088" y="5330952"/>
            <a:ext cx="2880360" cy="50292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D58A4B"/>
              </a:buClr>
              <a:buSzPts val="1400"/>
              <a:buFont typeface="Arial"/>
              <a:buNone/>
            </a:pPr>
            <a:r>
              <a:rPr b="1" i="0" lang="en-US" sz="1400" u="none" cap="none" strike="noStrike">
                <a:solidFill>
                  <a:srgbClr val="D58A4B"/>
                </a:solidFill>
                <a:latin typeface="Arial"/>
                <a:ea typeface="Arial"/>
                <a:cs typeface="Arial"/>
                <a:sym typeface="Arial"/>
              </a:rPr>
              <a:t>Same time window, different physiological information.</a:t>
            </a:r>
            <a:endParaRPr b="0" i="0" sz="1400" u="none" cap="none" strike="noStrike">
              <a:solidFill>
                <a:schemeClr val="dk1"/>
              </a:solidFill>
              <a:latin typeface="Arial"/>
              <a:ea typeface="Arial"/>
              <a:cs typeface="Arial"/>
              <a:sym typeface="Arial"/>
            </a:endParaRPr>
          </a:p>
        </p:txBody>
      </p:sp>
      <p:sp>
        <p:nvSpPr>
          <p:cNvPr id="74" name="Google Shape;74;p6"/>
          <p:cNvSpPr txBox="1"/>
          <p:nvPr>
            <p:ph idx="4294967295" type="sldNum"/>
          </p:nvPr>
        </p:nvSpPr>
        <p:spPr>
          <a:xfrm>
            <a:off x="11338560" y="653796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800" u="none" cap="none" strike="noStrike">
                <a:solidFill>
                  <a:srgbClr val="7A858D"/>
                </a:solidFill>
                <a:latin typeface="Arial"/>
                <a:ea typeface="Arial"/>
                <a:cs typeface="Arial"/>
                <a:sym typeface="Arial"/>
              </a:rPr>
              <a:t>‹#›</a:t>
            </a:fld>
            <a:endParaRPr b="0" i="0" sz="800" u="none" cap="none" strike="noStrike">
              <a:solidFill>
                <a:srgbClr val="7A858D"/>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79" name="Shape 79"/>
        <p:cNvGrpSpPr/>
        <p:nvPr/>
      </p:nvGrpSpPr>
      <p:grpSpPr>
        <a:xfrm>
          <a:off x="0" y="0"/>
          <a:ext cx="0" cy="0"/>
          <a:chOff x="0" y="0"/>
          <a:chExt cx="0" cy="0"/>
        </a:xfrm>
      </p:grpSpPr>
      <p:sp>
        <p:nvSpPr>
          <p:cNvPr id="80" name="Google Shape;80;p7"/>
          <p:cNvSpPr/>
          <p:nvPr/>
        </p:nvSpPr>
        <p:spPr>
          <a:xfrm>
            <a:off x="9646920" y="274320"/>
            <a:ext cx="2084832" cy="310896"/>
          </a:xfrm>
          <a:prstGeom prst="roundRect">
            <a:avLst>
              <a:gd fmla="val 29412" name="adj"/>
            </a:avLst>
          </a:prstGeom>
          <a:solidFill>
            <a:srgbClr val="EAF2F5"/>
          </a:solidFill>
          <a:ln cap="flat" cmpd="sng" w="9525">
            <a:solidFill>
              <a:srgbClr val="EAF2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7"/>
          <p:cNvSpPr txBox="1"/>
          <p:nvPr/>
        </p:nvSpPr>
        <p:spPr>
          <a:xfrm>
            <a:off x="9710928" y="310896"/>
            <a:ext cx="1956816" cy="21945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397DA3"/>
              </a:buClr>
              <a:buSzPts val="850"/>
              <a:buFont typeface="Arial"/>
              <a:buNone/>
            </a:pPr>
            <a:r>
              <a:rPr b="1" i="0" lang="en-US" sz="850" u="none" cap="none" strike="noStrike">
                <a:solidFill>
                  <a:srgbClr val="397DA3"/>
                </a:solidFill>
                <a:latin typeface="Arial"/>
                <a:ea typeface="Arial"/>
                <a:cs typeface="Arial"/>
                <a:sym typeface="Arial"/>
              </a:rPr>
              <a:t>WORKFLOW</a:t>
            </a:r>
            <a:endParaRPr b="0" i="0" sz="850" u="none" cap="none" strike="noStrike">
              <a:solidFill>
                <a:schemeClr val="dk1"/>
              </a:solidFill>
              <a:latin typeface="Arial"/>
              <a:ea typeface="Arial"/>
              <a:cs typeface="Arial"/>
              <a:sym typeface="Arial"/>
            </a:endParaRPr>
          </a:p>
        </p:txBody>
      </p:sp>
      <p:sp>
        <p:nvSpPr>
          <p:cNvPr id="82" name="Google Shape;82;p7"/>
          <p:cNvSpPr txBox="1"/>
          <p:nvPr/>
        </p:nvSpPr>
        <p:spPr>
          <a:xfrm>
            <a:off x="438912" y="292608"/>
            <a:ext cx="896112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2700"/>
              <a:buFont typeface="Play"/>
              <a:buNone/>
            </a:pPr>
            <a:r>
              <a:rPr b="1" i="0" lang="en-US" sz="2700" u="none" cap="none" strike="noStrike">
                <a:solidFill>
                  <a:srgbClr val="203447"/>
                </a:solidFill>
                <a:latin typeface="Play"/>
                <a:ea typeface="Play"/>
                <a:cs typeface="Play"/>
                <a:sym typeface="Play"/>
              </a:rPr>
              <a:t>Our complete workflow</a:t>
            </a:r>
            <a:endParaRPr b="0" i="0" sz="2700" u="none" cap="none" strike="noStrike">
              <a:solidFill>
                <a:schemeClr val="dk1"/>
              </a:solidFill>
              <a:latin typeface="Arial"/>
              <a:ea typeface="Arial"/>
              <a:cs typeface="Arial"/>
              <a:sym typeface="Arial"/>
            </a:endParaRPr>
          </a:p>
        </p:txBody>
      </p:sp>
      <p:sp>
        <p:nvSpPr>
          <p:cNvPr id="83" name="Google Shape;83;p7"/>
          <p:cNvSpPr txBox="1"/>
          <p:nvPr/>
        </p:nvSpPr>
        <p:spPr>
          <a:xfrm>
            <a:off x="457200" y="804672"/>
            <a:ext cx="11064240" cy="32918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1717D"/>
              </a:buClr>
              <a:buSzPts val="1250"/>
              <a:buFont typeface="Arial"/>
              <a:buNone/>
            </a:pPr>
            <a:r>
              <a:rPr b="0" i="0" lang="en-US" sz="1250" u="none" cap="none" strike="noStrike">
                <a:solidFill>
                  <a:srgbClr val="61717D"/>
                </a:solidFill>
                <a:latin typeface="Arial"/>
                <a:ea typeface="Arial"/>
                <a:cs typeface="Arial"/>
                <a:sym typeface="Arial"/>
              </a:rPr>
              <a:t>This is the road map — next, I will zoom into each part</a:t>
            </a:r>
            <a:endParaRPr b="0" i="0" sz="1250" u="none" cap="none" strike="noStrike">
              <a:solidFill>
                <a:schemeClr val="dk1"/>
              </a:solidFill>
              <a:latin typeface="Arial"/>
              <a:ea typeface="Arial"/>
              <a:cs typeface="Arial"/>
              <a:sym typeface="Arial"/>
            </a:endParaRPr>
          </a:p>
        </p:txBody>
      </p:sp>
      <p:cxnSp>
        <p:nvCxnSpPr>
          <p:cNvPr id="84" name="Google Shape;84;p7"/>
          <p:cNvCxnSpPr/>
          <p:nvPr/>
        </p:nvCxnSpPr>
        <p:spPr>
          <a:xfrm>
            <a:off x="438912" y="1197864"/>
            <a:ext cx="11292840" cy="0"/>
          </a:xfrm>
          <a:prstGeom prst="straightConnector1">
            <a:avLst/>
          </a:prstGeom>
          <a:noFill/>
          <a:ln cap="flat" cmpd="sng" w="22850">
            <a:solidFill>
              <a:srgbClr val="4E928B"/>
            </a:solidFill>
            <a:prstDash val="solid"/>
            <a:round/>
            <a:headEnd len="sm" w="sm" type="none"/>
            <a:tailEnd len="sm" w="sm" type="none"/>
          </a:ln>
        </p:spPr>
      </p:cxnSp>
      <p:sp>
        <p:nvSpPr>
          <p:cNvPr id="85" name="Google Shape;85;p7"/>
          <p:cNvSpPr/>
          <p:nvPr/>
        </p:nvSpPr>
        <p:spPr>
          <a:xfrm>
            <a:off x="530352" y="1490472"/>
            <a:ext cx="3246120" cy="576072"/>
          </a:xfrm>
          <a:prstGeom prst="roundRect">
            <a:avLst>
              <a:gd fmla="val 15873" name="adj"/>
            </a:avLst>
          </a:prstGeom>
          <a:solidFill>
            <a:srgbClr val="EAF2F5"/>
          </a:solidFill>
          <a:ln cap="flat" cmpd="sng" w="14600">
            <a:solidFill>
              <a:srgbClr val="397DA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7"/>
          <p:cNvSpPr txBox="1"/>
          <p:nvPr/>
        </p:nvSpPr>
        <p:spPr>
          <a:xfrm>
            <a:off x="612648" y="1536192"/>
            <a:ext cx="3081528" cy="48463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03447"/>
              </a:buClr>
              <a:buSzPts val="1240"/>
              <a:buFont typeface="Arial"/>
              <a:buNone/>
            </a:pPr>
            <a:r>
              <a:rPr b="1" i="0" lang="en-US" sz="1240" u="none" cap="none" strike="noStrike">
                <a:solidFill>
                  <a:srgbClr val="203447"/>
                </a:solidFill>
                <a:latin typeface="Arial"/>
                <a:ea typeface="Arial"/>
                <a:cs typeface="Arial"/>
                <a:sym typeface="Arial"/>
              </a:rPr>
              <a:t>1. Select record + 8-second window</a:t>
            </a:r>
            <a:endParaRPr b="0" i="0" sz="1240" u="none" cap="none" strike="noStrike">
              <a:solidFill>
                <a:schemeClr val="dk1"/>
              </a:solidFill>
              <a:latin typeface="Arial"/>
              <a:ea typeface="Arial"/>
              <a:cs typeface="Arial"/>
              <a:sym typeface="Arial"/>
            </a:endParaRPr>
          </a:p>
        </p:txBody>
      </p:sp>
      <p:sp>
        <p:nvSpPr>
          <p:cNvPr id="87" name="Google Shape;87;p7"/>
          <p:cNvSpPr/>
          <p:nvPr/>
        </p:nvSpPr>
        <p:spPr>
          <a:xfrm>
            <a:off x="4462272" y="1490472"/>
            <a:ext cx="3246120" cy="576072"/>
          </a:xfrm>
          <a:prstGeom prst="roundRect">
            <a:avLst>
              <a:gd fmla="val 15873" name="adj"/>
            </a:avLst>
          </a:prstGeom>
          <a:solidFill>
            <a:srgbClr val="EAF2F5"/>
          </a:solidFill>
          <a:ln cap="flat" cmpd="sng" w="14600">
            <a:solidFill>
              <a:srgbClr val="397DA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7"/>
          <p:cNvSpPr txBox="1"/>
          <p:nvPr/>
        </p:nvSpPr>
        <p:spPr>
          <a:xfrm>
            <a:off x="4544568" y="1536192"/>
            <a:ext cx="3081528" cy="48463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03447"/>
              </a:buClr>
              <a:buSzPts val="1240"/>
              <a:buFont typeface="Arial"/>
              <a:buNone/>
            </a:pPr>
            <a:r>
              <a:rPr b="1" i="0" lang="en-US" sz="1240" u="none" cap="none" strike="noStrike">
                <a:solidFill>
                  <a:srgbClr val="203447"/>
                </a:solidFill>
                <a:latin typeface="Arial"/>
                <a:ea typeface="Arial"/>
                <a:cs typeface="Arial"/>
                <a:sym typeface="Arial"/>
              </a:rPr>
              <a:t>2. Extract ECG Lead II + PPG Pleth</a:t>
            </a:r>
            <a:endParaRPr b="0" i="0" sz="1240" u="none" cap="none" strike="noStrike">
              <a:solidFill>
                <a:schemeClr val="dk1"/>
              </a:solidFill>
              <a:latin typeface="Arial"/>
              <a:ea typeface="Arial"/>
              <a:cs typeface="Arial"/>
              <a:sym typeface="Arial"/>
            </a:endParaRPr>
          </a:p>
        </p:txBody>
      </p:sp>
      <p:sp>
        <p:nvSpPr>
          <p:cNvPr id="89" name="Google Shape;89;p7"/>
          <p:cNvSpPr/>
          <p:nvPr/>
        </p:nvSpPr>
        <p:spPr>
          <a:xfrm>
            <a:off x="8394192" y="1490472"/>
            <a:ext cx="3246120" cy="576072"/>
          </a:xfrm>
          <a:prstGeom prst="roundRect">
            <a:avLst>
              <a:gd fmla="val 15873" name="adj"/>
            </a:avLst>
          </a:prstGeom>
          <a:solidFill>
            <a:srgbClr val="EAF2F5"/>
          </a:solidFill>
          <a:ln cap="flat" cmpd="sng" w="14600">
            <a:solidFill>
              <a:srgbClr val="397DA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7"/>
          <p:cNvSpPr txBox="1"/>
          <p:nvPr/>
        </p:nvSpPr>
        <p:spPr>
          <a:xfrm>
            <a:off x="8476488" y="1536192"/>
            <a:ext cx="3081528" cy="48463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03447"/>
              </a:buClr>
              <a:buSzPts val="1240"/>
              <a:buFont typeface="Arial"/>
              <a:buNone/>
            </a:pPr>
            <a:r>
              <a:rPr b="1" i="0" lang="en-US" sz="1240" u="none" cap="none" strike="noStrike">
                <a:solidFill>
                  <a:srgbClr val="203447"/>
                </a:solidFill>
                <a:latin typeface="Arial"/>
                <a:ea typeface="Arial"/>
                <a:cs typeface="Arial"/>
                <a:sym typeface="Arial"/>
              </a:rPr>
              <a:t>3. Plot raw signals + basic checks</a:t>
            </a:r>
            <a:endParaRPr b="0" i="0" sz="1240" u="none" cap="none" strike="noStrike">
              <a:solidFill>
                <a:schemeClr val="dk1"/>
              </a:solidFill>
              <a:latin typeface="Arial"/>
              <a:ea typeface="Arial"/>
              <a:cs typeface="Arial"/>
              <a:sym typeface="Arial"/>
            </a:endParaRPr>
          </a:p>
        </p:txBody>
      </p:sp>
      <p:cxnSp>
        <p:nvCxnSpPr>
          <p:cNvPr id="91" name="Google Shape;91;p7"/>
          <p:cNvCxnSpPr/>
          <p:nvPr/>
        </p:nvCxnSpPr>
        <p:spPr>
          <a:xfrm>
            <a:off x="3776472" y="1773936"/>
            <a:ext cx="630936" cy="0"/>
          </a:xfrm>
          <a:prstGeom prst="straightConnector1">
            <a:avLst/>
          </a:prstGeom>
          <a:noFill/>
          <a:ln cap="flat" cmpd="sng" w="20300">
            <a:solidFill>
              <a:srgbClr val="397DA3"/>
            </a:solidFill>
            <a:prstDash val="solid"/>
            <a:round/>
            <a:headEnd len="sm" w="sm" type="none"/>
            <a:tailEnd len="med" w="med" type="triangle"/>
          </a:ln>
        </p:spPr>
      </p:cxnSp>
      <p:cxnSp>
        <p:nvCxnSpPr>
          <p:cNvPr id="92" name="Google Shape;92;p7"/>
          <p:cNvCxnSpPr/>
          <p:nvPr/>
        </p:nvCxnSpPr>
        <p:spPr>
          <a:xfrm>
            <a:off x="7708392" y="1773936"/>
            <a:ext cx="630936" cy="0"/>
          </a:xfrm>
          <a:prstGeom prst="straightConnector1">
            <a:avLst/>
          </a:prstGeom>
          <a:noFill/>
          <a:ln cap="flat" cmpd="sng" w="20300">
            <a:solidFill>
              <a:srgbClr val="397DA3"/>
            </a:solidFill>
            <a:prstDash val="solid"/>
            <a:round/>
            <a:headEnd len="sm" w="sm" type="none"/>
            <a:tailEnd len="med" w="med" type="triangle"/>
          </a:ln>
        </p:spPr>
      </p:cxnSp>
      <p:sp>
        <p:nvSpPr>
          <p:cNvPr id="93" name="Google Shape;93;p7"/>
          <p:cNvSpPr txBox="1"/>
          <p:nvPr/>
        </p:nvSpPr>
        <p:spPr>
          <a:xfrm>
            <a:off x="1828800" y="2267712"/>
            <a:ext cx="8503920" cy="25603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61717D"/>
              </a:buClr>
              <a:buSzPts val="1120"/>
              <a:buFont typeface="Arial"/>
              <a:buNone/>
            </a:pPr>
            <a:r>
              <a:rPr b="0" i="1" lang="en-US" sz="1120" u="none" cap="none" strike="noStrike">
                <a:solidFill>
                  <a:srgbClr val="61717D"/>
                </a:solidFill>
                <a:latin typeface="Arial"/>
                <a:ea typeface="Arial"/>
                <a:cs typeface="Arial"/>
                <a:sym typeface="Arial"/>
              </a:rPr>
              <a:t>Then the work splits into three connected analyses</a:t>
            </a:r>
            <a:endParaRPr b="0" i="0" sz="1120" u="none" cap="none" strike="noStrike">
              <a:solidFill>
                <a:schemeClr val="dk1"/>
              </a:solidFill>
              <a:latin typeface="Arial"/>
              <a:ea typeface="Arial"/>
              <a:cs typeface="Arial"/>
              <a:sym typeface="Arial"/>
            </a:endParaRPr>
          </a:p>
        </p:txBody>
      </p:sp>
      <p:sp>
        <p:nvSpPr>
          <p:cNvPr id="94" name="Google Shape;94;p7"/>
          <p:cNvSpPr/>
          <p:nvPr/>
        </p:nvSpPr>
        <p:spPr>
          <a:xfrm>
            <a:off x="530352" y="2633472"/>
            <a:ext cx="3429000" cy="713232"/>
          </a:xfrm>
          <a:prstGeom prst="roundRect">
            <a:avLst>
              <a:gd fmla="val 12821" name="adj"/>
            </a:avLst>
          </a:prstGeom>
          <a:solidFill>
            <a:srgbClr val="E8F2EF"/>
          </a:solidFill>
          <a:ln cap="flat" cmpd="sng" w="14600">
            <a:solidFill>
              <a:srgbClr val="4E92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7"/>
          <p:cNvSpPr txBox="1"/>
          <p:nvPr/>
        </p:nvSpPr>
        <p:spPr>
          <a:xfrm>
            <a:off x="612648" y="2679192"/>
            <a:ext cx="3264408" cy="6217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03447"/>
              </a:buClr>
              <a:buSzPts val="1210"/>
              <a:buFont typeface="Arial"/>
              <a:buNone/>
            </a:pPr>
            <a:r>
              <a:rPr b="1" i="0" lang="en-US" sz="1210" u="none" cap="none" strike="noStrike">
                <a:solidFill>
                  <a:srgbClr val="203447"/>
                </a:solidFill>
                <a:latin typeface="Arial"/>
                <a:ea typeface="Arial"/>
                <a:cs typeface="Arial"/>
                <a:sym typeface="Arial"/>
              </a:rPr>
              <a:t>DWT</a:t>
            </a:r>
            <a:endParaRPr b="0" i="0" sz="121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203447"/>
              </a:buClr>
              <a:buSzPts val="1210"/>
              <a:buFont typeface="Arial"/>
              <a:buNone/>
            </a:pPr>
            <a:r>
              <a:rPr b="1" i="0" lang="en-US" sz="1210" u="none" cap="none" strike="noStrike">
                <a:solidFill>
                  <a:srgbClr val="203447"/>
                </a:solidFill>
                <a:latin typeface="Arial"/>
                <a:ea typeface="Arial"/>
                <a:cs typeface="Arial"/>
                <a:sym typeface="Arial"/>
              </a:rPr>
              <a:t>Approximation + detail coefficients</a:t>
            </a:r>
            <a:endParaRPr b="0" i="0" sz="1210" u="none" cap="none" strike="noStrike">
              <a:solidFill>
                <a:schemeClr val="dk1"/>
              </a:solidFill>
              <a:latin typeface="Arial"/>
              <a:ea typeface="Arial"/>
              <a:cs typeface="Arial"/>
              <a:sym typeface="Arial"/>
            </a:endParaRPr>
          </a:p>
        </p:txBody>
      </p:sp>
      <p:sp>
        <p:nvSpPr>
          <p:cNvPr id="96" name="Google Shape;96;p7"/>
          <p:cNvSpPr/>
          <p:nvPr/>
        </p:nvSpPr>
        <p:spPr>
          <a:xfrm>
            <a:off x="4379976" y="2633472"/>
            <a:ext cx="3429000" cy="713232"/>
          </a:xfrm>
          <a:prstGeom prst="roundRect">
            <a:avLst>
              <a:gd fmla="val 12821" name="adj"/>
            </a:avLst>
          </a:prstGeom>
          <a:solidFill>
            <a:srgbClr val="E8F2EF"/>
          </a:solidFill>
          <a:ln cap="flat" cmpd="sng" w="14600">
            <a:solidFill>
              <a:srgbClr val="4E92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7"/>
          <p:cNvSpPr txBox="1"/>
          <p:nvPr/>
        </p:nvSpPr>
        <p:spPr>
          <a:xfrm>
            <a:off x="4462272" y="2679192"/>
            <a:ext cx="3264408" cy="6217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03447"/>
              </a:buClr>
              <a:buSzPts val="1210"/>
              <a:buFont typeface="Arial"/>
              <a:buNone/>
            </a:pPr>
            <a:r>
              <a:rPr b="1" i="0" lang="en-US" sz="1210" u="none" cap="none" strike="noStrike">
                <a:solidFill>
                  <a:srgbClr val="203447"/>
                </a:solidFill>
                <a:latin typeface="Arial"/>
                <a:ea typeface="Arial"/>
                <a:cs typeface="Arial"/>
                <a:sym typeface="Arial"/>
              </a:rPr>
              <a:t>CWT</a:t>
            </a:r>
            <a:endParaRPr b="0" i="0" sz="121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203447"/>
              </a:buClr>
              <a:buSzPts val="1210"/>
              <a:buFont typeface="Arial"/>
              <a:buNone/>
            </a:pPr>
            <a:r>
              <a:rPr b="1" i="0" lang="en-US" sz="1210" u="none" cap="none" strike="noStrike">
                <a:solidFill>
                  <a:srgbClr val="203447"/>
                </a:solidFill>
                <a:latin typeface="Arial"/>
                <a:ea typeface="Arial"/>
                <a:cs typeface="Arial"/>
                <a:sym typeface="Arial"/>
              </a:rPr>
              <a:t>Time–frequency scalograms</a:t>
            </a:r>
            <a:endParaRPr b="0" i="0" sz="1210" u="none" cap="none" strike="noStrike">
              <a:solidFill>
                <a:schemeClr val="dk1"/>
              </a:solidFill>
              <a:latin typeface="Arial"/>
              <a:ea typeface="Arial"/>
              <a:cs typeface="Arial"/>
              <a:sym typeface="Arial"/>
            </a:endParaRPr>
          </a:p>
        </p:txBody>
      </p:sp>
      <p:sp>
        <p:nvSpPr>
          <p:cNvPr id="98" name="Google Shape;98;p7"/>
          <p:cNvSpPr/>
          <p:nvPr/>
        </p:nvSpPr>
        <p:spPr>
          <a:xfrm>
            <a:off x="8229600" y="2633472"/>
            <a:ext cx="3429000" cy="713232"/>
          </a:xfrm>
          <a:prstGeom prst="roundRect">
            <a:avLst>
              <a:gd fmla="val 12821" name="adj"/>
            </a:avLst>
          </a:prstGeom>
          <a:solidFill>
            <a:srgbClr val="E8F2EF"/>
          </a:solidFill>
          <a:ln cap="flat" cmpd="sng" w="14600">
            <a:solidFill>
              <a:srgbClr val="4E92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7"/>
          <p:cNvSpPr txBox="1"/>
          <p:nvPr/>
        </p:nvSpPr>
        <p:spPr>
          <a:xfrm>
            <a:off x="8311896" y="2679192"/>
            <a:ext cx="3264408" cy="6217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03447"/>
              </a:buClr>
              <a:buSzPts val="1210"/>
              <a:buFont typeface="Arial"/>
              <a:buNone/>
            </a:pPr>
            <a:r>
              <a:rPr b="1" i="0" lang="en-US" sz="1210" u="none" cap="none" strike="noStrike">
                <a:solidFill>
                  <a:srgbClr val="203447"/>
                </a:solidFill>
                <a:latin typeface="Arial"/>
                <a:ea typeface="Arial"/>
                <a:cs typeface="Arial"/>
                <a:sym typeface="Arial"/>
              </a:rPr>
              <a:t>Denoising</a:t>
            </a:r>
            <a:endParaRPr b="0" i="0" sz="121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203447"/>
              </a:buClr>
              <a:buSzPts val="1210"/>
              <a:buFont typeface="Arial"/>
              <a:buNone/>
            </a:pPr>
            <a:r>
              <a:rPr b="1" i="0" lang="en-US" sz="1210" u="none" cap="none" strike="noStrike">
                <a:solidFill>
                  <a:srgbClr val="203447"/>
                </a:solidFill>
                <a:latin typeface="Arial"/>
                <a:ea typeface="Arial"/>
                <a:cs typeface="Arial"/>
                <a:sym typeface="Arial"/>
              </a:rPr>
              <a:t>Butterworth + wavelet thresholds</a:t>
            </a:r>
            <a:endParaRPr b="0" i="0" sz="1210" u="none" cap="none" strike="noStrike">
              <a:solidFill>
                <a:schemeClr val="dk1"/>
              </a:solidFill>
              <a:latin typeface="Arial"/>
              <a:ea typeface="Arial"/>
              <a:cs typeface="Arial"/>
              <a:sym typeface="Arial"/>
            </a:endParaRPr>
          </a:p>
        </p:txBody>
      </p:sp>
      <p:sp>
        <p:nvSpPr>
          <p:cNvPr id="100" name="Google Shape;100;p7"/>
          <p:cNvSpPr/>
          <p:nvPr/>
        </p:nvSpPr>
        <p:spPr>
          <a:xfrm>
            <a:off x="530352" y="3639312"/>
            <a:ext cx="3429000" cy="548640"/>
          </a:xfrm>
          <a:prstGeom prst="roundRect">
            <a:avLst>
              <a:gd fmla="val 16667" name="adj"/>
            </a:avLst>
          </a:prstGeom>
          <a:solidFill>
            <a:srgbClr val="E8F2EF"/>
          </a:solidFill>
          <a:ln cap="flat" cmpd="sng" w="14600">
            <a:solidFill>
              <a:srgbClr val="4E92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7"/>
          <p:cNvSpPr txBox="1"/>
          <p:nvPr/>
        </p:nvSpPr>
        <p:spPr>
          <a:xfrm>
            <a:off x="612648" y="3685032"/>
            <a:ext cx="3264408" cy="4572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03447"/>
              </a:buClr>
              <a:buSzPts val="1180"/>
              <a:buFont typeface="Arial"/>
              <a:buNone/>
            </a:pPr>
            <a:r>
              <a:rPr b="1" i="0" lang="en-US" sz="1180" u="none" cap="none" strike="noStrike">
                <a:solidFill>
                  <a:srgbClr val="203447"/>
                </a:solidFill>
                <a:latin typeface="Arial"/>
                <a:ea typeface="Arial"/>
                <a:cs typeface="Arial"/>
                <a:sym typeface="Arial"/>
              </a:rPr>
              <a:t>Energy distribution + entropy</a:t>
            </a:r>
            <a:endParaRPr b="0" i="0" sz="1180" u="none" cap="none" strike="noStrike">
              <a:solidFill>
                <a:schemeClr val="dk1"/>
              </a:solidFill>
              <a:latin typeface="Arial"/>
              <a:ea typeface="Arial"/>
              <a:cs typeface="Arial"/>
              <a:sym typeface="Arial"/>
            </a:endParaRPr>
          </a:p>
        </p:txBody>
      </p:sp>
      <p:sp>
        <p:nvSpPr>
          <p:cNvPr id="102" name="Google Shape;102;p7"/>
          <p:cNvSpPr/>
          <p:nvPr/>
        </p:nvSpPr>
        <p:spPr>
          <a:xfrm>
            <a:off x="4379976" y="3639312"/>
            <a:ext cx="3429000" cy="548640"/>
          </a:xfrm>
          <a:prstGeom prst="roundRect">
            <a:avLst>
              <a:gd fmla="val 16667" name="adj"/>
            </a:avLst>
          </a:prstGeom>
          <a:solidFill>
            <a:srgbClr val="E8F2EF"/>
          </a:solidFill>
          <a:ln cap="flat" cmpd="sng" w="14600">
            <a:solidFill>
              <a:srgbClr val="4E92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7"/>
          <p:cNvSpPr txBox="1"/>
          <p:nvPr/>
        </p:nvSpPr>
        <p:spPr>
          <a:xfrm>
            <a:off x="4462272" y="3685032"/>
            <a:ext cx="3264408" cy="4572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03447"/>
              </a:buClr>
              <a:buSzPts val="1180"/>
              <a:buFont typeface="Arial"/>
              <a:buNone/>
            </a:pPr>
            <a:r>
              <a:rPr b="1" i="0" lang="en-US" sz="1180" u="none" cap="none" strike="noStrike">
                <a:solidFill>
                  <a:srgbClr val="203447"/>
                </a:solidFill>
                <a:latin typeface="Arial"/>
                <a:ea typeface="Arial"/>
                <a:cs typeface="Arial"/>
                <a:sym typeface="Arial"/>
              </a:rPr>
              <a:t>Compare Morlet and Mexican Hat</a:t>
            </a:r>
            <a:endParaRPr b="0" i="0" sz="1180" u="none" cap="none" strike="noStrike">
              <a:solidFill>
                <a:schemeClr val="dk1"/>
              </a:solidFill>
              <a:latin typeface="Arial"/>
              <a:ea typeface="Arial"/>
              <a:cs typeface="Arial"/>
              <a:sym typeface="Arial"/>
            </a:endParaRPr>
          </a:p>
        </p:txBody>
      </p:sp>
      <p:sp>
        <p:nvSpPr>
          <p:cNvPr id="104" name="Google Shape;104;p7"/>
          <p:cNvSpPr/>
          <p:nvPr/>
        </p:nvSpPr>
        <p:spPr>
          <a:xfrm>
            <a:off x="8229600" y="3639312"/>
            <a:ext cx="3429000" cy="548640"/>
          </a:xfrm>
          <a:prstGeom prst="roundRect">
            <a:avLst>
              <a:gd fmla="val 16667" name="adj"/>
            </a:avLst>
          </a:prstGeom>
          <a:solidFill>
            <a:srgbClr val="E8F2EF"/>
          </a:solidFill>
          <a:ln cap="flat" cmpd="sng" w="14600">
            <a:solidFill>
              <a:srgbClr val="4E92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7"/>
          <p:cNvSpPr txBox="1"/>
          <p:nvPr/>
        </p:nvSpPr>
        <p:spPr>
          <a:xfrm>
            <a:off x="8311896" y="3685032"/>
            <a:ext cx="3264408" cy="4572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03447"/>
              </a:buClr>
              <a:buSzPts val="1180"/>
              <a:buFont typeface="Arial"/>
              <a:buNone/>
            </a:pPr>
            <a:r>
              <a:rPr b="1" i="0" lang="en-US" sz="1180" u="none" cap="none" strike="noStrike">
                <a:solidFill>
                  <a:srgbClr val="203447"/>
                </a:solidFill>
                <a:latin typeface="Arial"/>
                <a:ea typeface="Arial"/>
                <a:cs typeface="Arial"/>
                <a:sym typeface="Arial"/>
              </a:rPr>
              <a:t>Hard / soft / BayesShrink</a:t>
            </a:r>
            <a:endParaRPr b="0" i="0" sz="1180" u="none" cap="none" strike="noStrike">
              <a:solidFill>
                <a:schemeClr val="dk1"/>
              </a:solidFill>
              <a:latin typeface="Arial"/>
              <a:ea typeface="Arial"/>
              <a:cs typeface="Arial"/>
              <a:sym typeface="Arial"/>
            </a:endParaRPr>
          </a:p>
        </p:txBody>
      </p:sp>
      <p:cxnSp>
        <p:nvCxnSpPr>
          <p:cNvPr id="106" name="Google Shape;106;p7"/>
          <p:cNvCxnSpPr/>
          <p:nvPr/>
        </p:nvCxnSpPr>
        <p:spPr>
          <a:xfrm>
            <a:off x="2240280" y="3346704"/>
            <a:ext cx="0" cy="246888"/>
          </a:xfrm>
          <a:prstGeom prst="straightConnector1">
            <a:avLst/>
          </a:prstGeom>
          <a:noFill/>
          <a:ln cap="flat" cmpd="sng" w="16500">
            <a:solidFill>
              <a:srgbClr val="4E928B"/>
            </a:solidFill>
            <a:prstDash val="solid"/>
            <a:round/>
            <a:headEnd len="sm" w="sm" type="none"/>
            <a:tailEnd len="med" w="med" type="triangle"/>
          </a:ln>
        </p:spPr>
      </p:cxnSp>
      <p:cxnSp>
        <p:nvCxnSpPr>
          <p:cNvPr id="107" name="Google Shape;107;p7"/>
          <p:cNvCxnSpPr/>
          <p:nvPr/>
        </p:nvCxnSpPr>
        <p:spPr>
          <a:xfrm>
            <a:off x="6089904" y="3346704"/>
            <a:ext cx="0" cy="246888"/>
          </a:xfrm>
          <a:prstGeom prst="straightConnector1">
            <a:avLst/>
          </a:prstGeom>
          <a:noFill/>
          <a:ln cap="flat" cmpd="sng" w="16500">
            <a:solidFill>
              <a:srgbClr val="4E928B"/>
            </a:solidFill>
            <a:prstDash val="solid"/>
            <a:round/>
            <a:headEnd len="sm" w="sm" type="none"/>
            <a:tailEnd len="med" w="med" type="triangle"/>
          </a:ln>
        </p:spPr>
      </p:cxnSp>
      <p:cxnSp>
        <p:nvCxnSpPr>
          <p:cNvPr id="108" name="Google Shape;108;p7"/>
          <p:cNvCxnSpPr/>
          <p:nvPr/>
        </p:nvCxnSpPr>
        <p:spPr>
          <a:xfrm>
            <a:off x="9939528" y="3346704"/>
            <a:ext cx="0" cy="246888"/>
          </a:xfrm>
          <a:prstGeom prst="straightConnector1">
            <a:avLst/>
          </a:prstGeom>
          <a:noFill/>
          <a:ln cap="flat" cmpd="sng" w="16500">
            <a:solidFill>
              <a:srgbClr val="4E928B"/>
            </a:solidFill>
            <a:prstDash val="solid"/>
            <a:round/>
            <a:headEnd len="sm" w="sm" type="none"/>
            <a:tailEnd len="med" w="med" type="triangle"/>
          </a:ln>
        </p:spPr>
      </p:cxnSp>
      <p:sp>
        <p:nvSpPr>
          <p:cNvPr id="109" name="Google Shape;109;p7"/>
          <p:cNvSpPr/>
          <p:nvPr/>
        </p:nvSpPr>
        <p:spPr>
          <a:xfrm>
            <a:off x="530352" y="4553712"/>
            <a:ext cx="3429000" cy="621792"/>
          </a:xfrm>
          <a:prstGeom prst="roundRect">
            <a:avLst>
              <a:gd fmla="val 14706" name="adj"/>
            </a:avLst>
          </a:prstGeom>
          <a:solidFill>
            <a:srgbClr val="F8EEE3"/>
          </a:solidFill>
          <a:ln cap="flat" cmpd="sng" w="14600">
            <a:solidFill>
              <a:srgbClr val="D58A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7"/>
          <p:cNvSpPr txBox="1"/>
          <p:nvPr/>
        </p:nvSpPr>
        <p:spPr>
          <a:xfrm>
            <a:off x="612648" y="4599432"/>
            <a:ext cx="3264408" cy="5303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03447"/>
              </a:buClr>
              <a:buSzPts val="1180"/>
              <a:buFont typeface="Arial"/>
              <a:buNone/>
            </a:pPr>
            <a:r>
              <a:rPr b="1" i="0" lang="en-US" sz="1180" u="none" cap="none" strike="noStrike">
                <a:solidFill>
                  <a:srgbClr val="203447"/>
                </a:solidFill>
                <a:latin typeface="Arial"/>
                <a:ea typeface="Arial"/>
                <a:cs typeface="Arial"/>
                <a:sym typeface="Arial"/>
              </a:rPr>
              <a:t>Reconstruct and align signal length</a:t>
            </a:r>
            <a:endParaRPr b="0" i="0" sz="1180" u="none" cap="none" strike="noStrike">
              <a:solidFill>
                <a:schemeClr val="dk1"/>
              </a:solidFill>
              <a:latin typeface="Arial"/>
              <a:ea typeface="Arial"/>
              <a:cs typeface="Arial"/>
              <a:sym typeface="Arial"/>
            </a:endParaRPr>
          </a:p>
        </p:txBody>
      </p:sp>
      <p:sp>
        <p:nvSpPr>
          <p:cNvPr id="111" name="Google Shape;111;p7"/>
          <p:cNvSpPr/>
          <p:nvPr/>
        </p:nvSpPr>
        <p:spPr>
          <a:xfrm>
            <a:off x="4379976" y="4553712"/>
            <a:ext cx="3429000" cy="621792"/>
          </a:xfrm>
          <a:prstGeom prst="roundRect">
            <a:avLst>
              <a:gd fmla="val 14706" name="adj"/>
            </a:avLst>
          </a:prstGeom>
          <a:solidFill>
            <a:srgbClr val="F8EEE3"/>
          </a:solidFill>
          <a:ln cap="flat" cmpd="sng" w="14600">
            <a:solidFill>
              <a:srgbClr val="D58A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7"/>
          <p:cNvSpPr txBox="1"/>
          <p:nvPr/>
        </p:nvSpPr>
        <p:spPr>
          <a:xfrm>
            <a:off x="4462272" y="4599432"/>
            <a:ext cx="3264408" cy="5303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03447"/>
              </a:buClr>
              <a:buSzPts val="1100"/>
              <a:buFont typeface="Arial"/>
              <a:buNone/>
            </a:pPr>
            <a:r>
              <a:rPr b="1" i="0" lang="en-US" sz="1100" u="none" cap="none" strike="noStrike">
                <a:solidFill>
                  <a:srgbClr val="203447"/>
                </a:solidFill>
                <a:latin typeface="Arial"/>
                <a:ea typeface="Arial"/>
                <a:cs typeface="Arial"/>
                <a:sym typeface="Arial"/>
              </a:rPr>
              <a:t>Evaluate: RMSE, MAE, SNR, PRD, correlation, peaks</a:t>
            </a:r>
            <a:endParaRPr b="0" i="0" sz="1100" u="none" cap="none" strike="noStrike">
              <a:solidFill>
                <a:schemeClr val="dk1"/>
              </a:solidFill>
              <a:latin typeface="Arial"/>
              <a:ea typeface="Arial"/>
              <a:cs typeface="Arial"/>
              <a:sym typeface="Arial"/>
            </a:endParaRPr>
          </a:p>
        </p:txBody>
      </p:sp>
      <p:sp>
        <p:nvSpPr>
          <p:cNvPr id="113" name="Google Shape;113;p7"/>
          <p:cNvSpPr/>
          <p:nvPr/>
        </p:nvSpPr>
        <p:spPr>
          <a:xfrm>
            <a:off x="8229600" y="4553712"/>
            <a:ext cx="3429000" cy="621792"/>
          </a:xfrm>
          <a:prstGeom prst="roundRect">
            <a:avLst>
              <a:gd fmla="val 14706" name="adj"/>
            </a:avLst>
          </a:prstGeom>
          <a:solidFill>
            <a:srgbClr val="F8EEE3"/>
          </a:solidFill>
          <a:ln cap="flat" cmpd="sng" w="14600">
            <a:solidFill>
              <a:srgbClr val="D58A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7"/>
          <p:cNvSpPr txBox="1"/>
          <p:nvPr/>
        </p:nvSpPr>
        <p:spPr>
          <a:xfrm>
            <a:off x="8311896" y="4599432"/>
            <a:ext cx="3264408" cy="5303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03447"/>
              </a:buClr>
              <a:buSzPts val="1150"/>
              <a:buFont typeface="Arial"/>
              <a:buNone/>
            </a:pPr>
            <a:r>
              <a:rPr b="1" i="0" lang="en-US" sz="1150" u="none" cap="none" strike="noStrike">
                <a:solidFill>
                  <a:srgbClr val="203447"/>
                </a:solidFill>
                <a:latin typeface="Arial"/>
                <a:ea typeface="Arial"/>
                <a:cs typeface="Arial"/>
                <a:sym typeface="Arial"/>
              </a:rPr>
              <a:t>Repeat selected steps across 10 records</a:t>
            </a:r>
            <a:endParaRPr b="0" i="0" sz="1150" u="none" cap="none" strike="noStrike">
              <a:solidFill>
                <a:schemeClr val="dk1"/>
              </a:solidFill>
              <a:latin typeface="Arial"/>
              <a:ea typeface="Arial"/>
              <a:cs typeface="Arial"/>
              <a:sym typeface="Arial"/>
            </a:endParaRPr>
          </a:p>
        </p:txBody>
      </p:sp>
      <p:cxnSp>
        <p:nvCxnSpPr>
          <p:cNvPr id="115" name="Google Shape;115;p7"/>
          <p:cNvCxnSpPr/>
          <p:nvPr/>
        </p:nvCxnSpPr>
        <p:spPr>
          <a:xfrm>
            <a:off x="9939528" y="4206240"/>
            <a:ext cx="0" cy="292608"/>
          </a:xfrm>
          <a:prstGeom prst="straightConnector1">
            <a:avLst/>
          </a:prstGeom>
          <a:noFill/>
          <a:ln cap="flat" cmpd="sng" w="15225">
            <a:solidFill>
              <a:srgbClr val="D58A4B"/>
            </a:solidFill>
            <a:prstDash val="solid"/>
            <a:round/>
            <a:headEnd len="sm" w="sm" type="none"/>
            <a:tailEnd len="med" w="med" type="triangle"/>
          </a:ln>
        </p:spPr>
      </p:cxnSp>
      <p:cxnSp>
        <p:nvCxnSpPr>
          <p:cNvPr id="116" name="Google Shape;116;p7"/>
          <p:cNvCxnSpPr/>
          <p:nvPr/>
        </p:nvCxnSpPr>
        <p:spPr>
          <a:xfrm>
            <a:off x="3977640" y="4864608"/>
            <a:ext cx="338328" cy="0"/>
          </a:xfrm>
          <a:prstGeom prst="straightConnector1">
            <a:avLst/>
          </a:prstGeom>
          <a:noFill/>
          <a:ln cap="flat" cmpd="sng" w="17775">
            <a:solidFill>
              <a:srgbClr val="D58A4B"/>
            </a:solidFill>
            <a:prstDash val="solid"/>
            <a:round/>
            <a:headEnd len="sm" w="sm" type="none"/>
            <a:tailEnd len="med" w="med" type="triangle"/>
          </a:ln>
        </p:spPr>
      </p:cxnSp>
      <p:cxnSp>
        <p:nvCxnSpPr>
          <p:cNvPr id="117" name="Google Shape;117;p7"/>
          <p:cNvCxnSpPr/>
          <p:nvPr/>
        </p:nvCxnSpPr>
        <p:spPr>
          <a:xfrm>
            <a:off x="7818120" y="4864608"/>
            <a:ext cx="347472" cy="0"/>
          </a:xfrm>
          <a:prstGeom prst="straightConnector1">
            <a:avLst/>
          </a:prstGeom>
          <a:noFill/>
          <a:ln cap="flat" cmpd="sng" w="17775">
            <a:solidFill>
              <a:srgbClr val="D58A4B"/>
            </a:solidFill>
            <a:prstDash val="solid"/>
            <a:round/>
            <a:headEnd len="sm" w="sm" type="none"/>
            <a:tailEnd len="med" w="med" type="triangle"/>
          </a:ln>
        </p:spPr>
      </p:cxnSp>
      <p:sp>
        <p:nvSpPr>
          <p:cNvPr id="118" name="Google Shape;118;p7"/>
          <p:cNvSpPr/>
          <p:nvPr/>
        </p:nvSpPr>
        <p:spPr>
          <a:xfrm>
            <a:off x="3383280" y="5449824"/>
            <a:ext cx="5394960" cy="521208"/>
          </a:xfrm>
          <a:prstGeom prst="roundRect">
            <a:avLst>
              <a:gd fmla="val 17544" name="adj"/>
            </a:avLst>
          </a:prstGeom>
          <a:solidFill>
            <a:srgbClr val="F8EEE3"/>
          </a:solidFill>
          <a:ln cap="flat" cmpd="sng" w="14600">
            <a:solidFill>
              <a:srgbClr val="D58A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7"/>
          <p:cNvSpPr txBox="1"/>
          <p:nvPr/>
        </p:nvSpPr>
        <p:spPr>
          <a:xfrm>
            <a:off x="3465576" y="5495544"/>
            <a:ext cx="5230368" cy="42976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03447"/>
              </a:buClr>
              <a:buSzPts val="1200"/>
              <a:buFont typeface="Arial"/>
              <a:buNone/>
            </a:pPr>
            <a:r>
              <a:rPr b="1" i="0" lang="en-US" sz="1200" u="none" cap="none" strike="noStrike">
                <a:solidFill>
                  <a:srgbClr val="203447"/>
                </a:solidFill>
                <a:latin typeface="Arial"/>
                <a:ea typeface="Arial"/>
                <a:cs typeface="Arial"/>
                <a:sym typeface="Arial"/>
              </a:rPr>
              <a:t>Compare records and investigate unusual signal behaviour</a:t>
            </a:r>
            <a:endParaRPr b="0" i="0" sz="1200" u="none" cap="none" strike="noStrike">
              <a:solidFill>
                <a:schemeClr val="dk1"/>
              </a:solidFill>
              <a:latin typeface="Arial"/>
              <a:ea typeface="Arial"/>
              <a:cs typeface="Arial"/>
              <a:sym typeface="Arial"/>
            </a:endParaRPr>
          </a:p>
        </p:txBody>
      </p:sp>
      <p:cxnSp>
        <p:nvCxnSpPr>
          <p:cNvPr id="120" name="Google Shape;120;p7"/>
          <p:cNvCxnSpPr/>
          <p:nvPr/>
        </p:nvCxnSpPr>
        <p:spPr>
          <a:xfrm flipH="1">
            <a:off x="8668512" y="5175504"/>
            <a:ext cx="1271016" cy="237744"/>
          </a:xfrm>
          <a:prstGeom prst="straightConnector1">
            <a:avLst/>
          </a:prstGeom>
          <a:noFill/>
          <a:ln cap="flat" cmpd="sng" w="15875">
            <a:solidFill>
              <a:srgbClr val="D58A4B"/>
            </a:solidFill>
            <a:prstDash val="solid"/>
            <a:round/>
            <a:headEnd len="sm" w="sm" type="none"/>
            <a:tailEnd len="med" w="med" type="triangle"/>
          </a:ln>
        </p:spPr>
      </p:cxnSp>
      <p:sp>
        <p:nvSpPr>
          <p:cNvPr id="121" name="Google Shape;121;p7"/>
          <p:cNvSpPr txBox="1"/>
          <p:nvPr>
            <p:ph idx="4294967295" type="sldNum"/>
          </p:nvPr>
        </p:nvSpPr>
        <p:spPr>
          <a:xfrm>
            <a:off x="11338560" y="653796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800" u="none" cap="none" strike="noStrike">
                <a:solidFill>
                  <a:srgbClr val="7A858D"/>
                </a:solidFill>
                <a:latin typeface="Arial"/>
                <a:ea typeface="Arial"/>
                <a:cs typeface="Arial"/>
                <a:sym typeface="Arial"/>
              </a:rPr>
              <a:t>‹#›</a:t>
            </a:fld>
            <a:endParaRPr b="0" i="0" sz="800" u="none" cap="none" strike="noStrike">
              <a:solidFill>
                <a:srgbClr val="7A858D"/>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126" name="Shape 126"/>
        <p:cNvGrpSpPr/>
        <p:nvPr/>
      </p:nvGrpSpPr>
      <p:grpSpPr>
        <a:xfrm>
          <a:off x="0" y="0"/>
          <a:ext cx="0" cy="0"/>
          <a:chOff x="0" y="0"/>
          <a:chExt cx="0" cy="0"/>
        </a:xfrm>
      </p:grpSpPr>
      <p:sp>
        <p:nvSpPr>
          <p:cNvPr id="127" name="Google Shape;127;p8"/>
          <p:cNvSpPr/>
          <p:nvPr/>
        </p:nvSpPr>
        <p:spPr>
          <a:xfrm>
            <a:off x="9646920" y="274320"/>
            <a:ext cx="2084832" cy="310896"/>
          </a:xfrm>
          <a:prstGeom prst="roundRect">
            <a:avLst>
              <a:gd fmla="val 29412" name="adj"/>
            </a:avLst>
          </a:prstGeom>
          <a:solidFill>
            <a:srgbClr val="EAF2F5"/>
          </a:solidFill>
          <a:ln cap="flat" cmpd="sng" w="9525">
            <a:solidFill>
              <a:srgbClr val="EAF2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8"/>
          <p:cNvSpPr txBox="1"/>
          <p:nvPr/>
        </p:nvSpPr>
        <p:spPr>
          <a:xfrm>
            <a:off x="9710928" y="310896"/>
            <a:ext cx="1956816" cy="21945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397DA3"/>
              </a:buClr>
              <a:buSzPts val="850"/>
              <a:buFont typeface="Arial"/>
              <a:buNone/>
            </a:pPr>
            <a:r>
              <a:rPr b="1" i="0" lang="en-US" sz="850" u="none" cap="none" strike="noStrike">
                <a:solidFill>
                  <a:srgbClr val="397DA3"/>
                </a:solidFill>
                <a:latin typeface="Arial"/>
                <a:ea typeface="Arial"/>
                <a:cs typeface="Arial"/>
                <a:sym typeface="Arial"/>
              </a:rPr>
              <a:t>WORKFLOW ZOOM</a:t>
            </a:r>
            <a:endParaRPr b="0" i="0" sz="850" u="none" cap="none" strike="noStrike">
              <a:solidFill>
                <a:schemeClr val="dk1"/>
              </a:solidFill>
              <a:latin typeface="Arial"/>
              <a:ea typeface="Arial"/>
              <a:cs typeface="Arial"/>
              <a:sym typeface="Arial"/>
            </a:endParaRPr>
          </a:p>
        </p:txBody>
      </p:sp>
      <p:sp>
        <p:nvSpPr>
          <p:cNvPr id="129" name="Google Shape;129;p8"/>
          <p:cNvSpPr txBox="1"/>
          <p:nvPr/>
        </p:nvSpPr>
        <p:spPr>
          <a:xfrm>
            <a:off x="438912" y="292608"/>
            <a:ext cx="896112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2700"/>
              <a:buFont typeface="Play"/>
              <a:buNone/>
            </a:pPr>
            <a:r>
              <a:rPr b="1" i="0" lang="en-US" sz="2700" u="none" cap="none" strike="noStrike">
                <a:solidFill>
                  <a:srgbClr val="203447"/>
                </a:solidFill>
                <a:latin typeface="Play"/>
                <a:ea typeface="Play"/>
                <a:cs typeface="Play"/>
                <a:sym typeface="Play"/>
              </a:rPr>
              <a:t>Road map, part 1: get the data right</a:t>
            </a:r>
            <a:endParaRPr b="0" i="0" sz="2700" u="none" cap="none" strike="noStrike">
              <a:solidFill>
                <a:schemeClr val="dk1"/>
              </a:solidFill>
              <a:latin typeface="Arial"/>
              <a:ea typeface="Arial"/>
              <a:cs typeface="Arial"/>
              <a:sym typeface="Arial"/>
            </a:endParaRPr>
          </a:p>
        </p:txBody>
      </p:sp>
      <p:sp>
        <p:nvSpPr>
          <p:cNvPr id="130" name="Google Shape;130;p8"/>
          <p:cNvSpPr txBox="1"/>
          <p:nvPr/>
        </p:nvSpPr>
        <p:spPr>
          <a:xfrm>
            <a:off x="457200" y="804672"/>
            <a:ext cx="11064240" cy="32918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1717D"/>
              </a:buClr>
              <a:buSzPts val="1250"/>
              <a:buFont typeface="Arial"/>
              <a:buNone/>
            </a:pPr>
            <a:r>
              <a:rPr b="0" i="0" lang="en-US" sz="1250" u="none" cap="none" strike="noStrike">
                <a:solidFill>
                  <a:srgbClr val="61717D"/>
                </a:solidFill>
                <a:latin typeface="Arial"/>
                <a:ea typeface="Arial"/>
                <a:cs typeface="Arial"/>
                <a:sym typeface="Arial"/>
              </a:rPr>
              <a:t>Start from one file before automating the steps</a:t>
            </a:r>
            <a:endParaRPr b="0" i="0" sz="1250" u="none" cap="none" strike="noStrike">
              <a:solidFill>
                <a:schemeClr val="dk1"/>
              </a:solidFill>
              <a:latin typeface="Arial"/>
              <a:ea typeface="Arial"/>
              <a:cs typeface="Arial"/>
              <a:sym typeface="Arial"/>
            </a:endParaRPr>
          </a:p>
        </p:txBody>
      </p:sp>
      <p:cxnSp>
        <p:nvCxnSpPr>
          <p:cNvPr id="131" name="Google Shape;131;p8"/>
          <p:cNvCxnSpPr/>
          <p:nvPr/>
        </p:nvCxnSpPr>
        <p:spPr>
          <a:xfrm>
            <a:off x="438912" y="1197864"/>
            <a:ext cx="11292840" cy="0"/>
          </a:xfrm>
          <a:prstGeom prst="straightConnector1">
            <a:avLst/>
          </a:prstGeom>
          <a:noFill/>
          <a:ln cap="flat" cmpd="sng" w="22850">
            <a:solidFill>
              <a:srgbClr val="4E928B"/>
            </a:solidFill>
            <a:prstDash val="solid"/>
            <a:round/>
            <a:headEnd len="sm" w="sm" type="none"/>
            <a:tailEnd len="sm" w="sm" type="none"/>
          </a:ln>
        </p:spPr>
      </p:cxnSp>
      <p:sp>
        <p:nvSpPr>
          <p:cNvPr id="132" name="Google Shape;132;p8"/>
          <p:cNvSpPr/>
          <p:nvPr/>
        </p:nvSpPr>
        <p:spPr>
          <a:xfrm>
            <a:off x="530352" y="1490472"/>
            <a:ext cx="3246120" cy="576072"/>
          </a:xfrm>
          <a:prstGeom prst="roundRect">
            <a:avLst>
              <a:gd fmla="val 15873" name="adj"/>
            </a:avLst>
          </a:prstGeom>
          <a:solidFill>
            <a:srgbClr val="EAF2F5"/>
          </a:solidFill>
          <a:ln cap="flat" cmpd="sng" w="14600">
            <a:solidFill>
              <a:srgbClr val="397DA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8"/>
          <p:cNvSpPr txBox="1"/>
          <p:nvPr/>
        </p:nvSpPr>
        <p:spPr>
          <a:xfrm>
            <a:off x="612648" y="1536192"/>
            <a:ext cx="3081528" cy="48463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03447"/>
              </a:buClr>
              <a:buSzPts val="1240"/>
              <a:buFont typeface="Arial"/>
              <a:buNone/>
            </a:pPr>
            <a:r>
              <a:rPr b="1" i="0" lang="en-US" sz="1240" u="none" cap="none" strike="noStrike">
                <a:solidFill>
                  <a:srgbClr val="203447"/>
                </a:solidFill>
                <a:latin typeface="Arial"/>
                <a:ea typeface="Arial"/>
                <a:cs typeface="Arial"/>
                <a:sym typeface="Arial"/>
              </a:rPr>
              <a:t>1. Select record + 8-second window</a:t>
            </a:r>
            <a:endParaRPr b="0" i="0" sz="1240" u="none" cap="none" strike="noStrike">
              <a:solidFill>
                <a:schemeClr val="dk1"/>
              </a:solidFill>
              <a:latin typeface="Arial"/>
              <a:ea typeface="Arial"/>
              <a:cs typeface="Arial"/>
              <a:sym typeface="Arial"/>
            </a:endParaRPr>
          </a:p>
        </p:txBody>
      </p:sp>
      <p:sp>
        <p:nvSpPr>
          <p:cNvPr id="134" name="Google Shape;134;p8"/>
          <p:cNvSpPr/>
          <p:nvPr/>
        </p:nvSpPr>
        <p:spPr>
          <a:xfrm>
            <a:off x="4462272" y="1490472"/>
            <a:ext cx="3246120" cy="576072"/>
          </a:xfrm>
          <a:prstGeom prst="roundRect">
            <a:avLst>
              <a:gd fmla="val 15873" name="adj"/>
            </a:avLst>
          </a:prstGeom>
          <a:solidFill>
            <a:srgbClr val="EAF2F5"/>
          </a:solidFill>
          <a:ln cap="flat" cmpd="sng" w="14600">
            <a:solidFill>
              <a:srgbClr val="397DA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8"/>
          <p:cNvSpPr txBox="1"/>
          <p:nvPr/>
        </p:nvSpPr>
        <p:spPr>
          <a:xfrm>
            <a:off x="4544568" y="1536192"/>
            <a:ext cx="3081528" cy="48463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03447"/>
              </a:buClr>
              <a:buSzPts val="1240"/>
              <a:buFont typeface="Arial"/>
              <a:buNone/>
            </a:pPr>
            <a:r>
              <a:rPr b="1" i="0" lang="en-US" sz="1240" u="none" cap="none" strike="noStrike">
                <a:solidFill>
                  <a:srgbClr val="203447"/>
                </a:solidFill>
                <a:latin typeface="Arial"/>
                <a:ea typeface="Arial"/>
                <a:cs typeface="Arial"/>
                <a:sym typeface="Arial"/>
              </a:rPr>
              <a:t>2. Extract ECG Lead II + PPG Pleth</a:t>
            </a:r>
            <a:endParaRPr b="0" i="0" sz="1240" u="none" cap="none" strike="noStrike">
              <a:solidFill>
                <a:schemeClr val="dk1"/>
              </a:solidFill>
              <a:latin typeface="Arial"/>
              <a:ea typeface="Arial"/>
              <a:cs typeface="Arial"/>
              <a:sym typeface="Arial"/>
            </a:endParaRPr>
          </a:p>
        </p:txBody>
      </p:sp>
      <p:sp>
        <p:nvSpPr>
          <p:cNvPr id="136" name="Google Shape;136;p8"/>
          <p:cNvSpPr/>
          <p:nvPr/>
        </p:nvSpPr>
        <p:spPr>
          <a:xfrm>
            <a:off x="8394192" y="1490472"/>
            <a:ext cx="3246120" cy="576072"/>
          </a:xfrm>
          <a:prstGeom prst="roundRect">
            <a:avLst>
              <a:gd fmla="val 15873" name="adj"/>
            </a:avLst>
          </a:prstGeom>
          <a:solidFill>
            <a:srgbClr val="EAF2F5"/>
          </a:solidFill>
          <a:ln cap="flat" cmpd="sng" w="14600">
            <a:solidFill>
              <a:srgbClr val="397DA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8"/>
          <p:cNvSpPr txBox="1"/>
          <p:nvPr/>
        </p:nvSpPr>
        <p:spPr>
          <a:xfrm>
            <a:off x="8476488" y="1536192"/>
            <a:ext cx="3081528" cy="48463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03447"/>
              </a:buClr>
              <a:buSzPts val="1240"/>
              <a:buFont typeface="Arial"/>
              <a:buNone/>
            </a:pPr>
            <a:r>
              <a:rPr b="1" i="0" lang="en-US" sz="1240" u="none" cap="none" strike="noStrike">
                <a:solidFill>
                  <a:srgbClr val="203447"/>
                </a:solidFill>
                <a:latin typeface="Arial"/>
                <a:ea typeface="Arial"/>
                <a:cs typeface="Arial"/>
                <a:sym typeface="Arial"/>
              </a:rPr>
              <a:t>3. Plot raw signals + basic checks</a:t>
            </a:r>
            <a:endParaRPr b="0" i="0" sz="1240" u="none" cap="none" strike="noStrike">
              <a:solidFill>
                <a:schemeClr val="dk1"/>
              </a:solidFill>
              <a:latin typeface="Arial"/>
              <a:ea typeface="Arial"/>
              <a:cs typeface="Arial"/>
              <a:sym typeface="Arial"/>
            </a:endParaRPr>
          </a:p>
        </p:txBody>
      </p:sp>
      <p:cxnSp>
        <p:nvCxnSpPr>
          <p:cNvPr id="138" name="Google Shape;138;p8"/>
          <p:cNvCxnSpPr/>
          <p:nvPr/>
        </p:nvCxnSpPr>
        <p:spPr>
          <a:xfrm>
            <a:off x="3776472" y="1773936"/>
            <a:ext cx="630936" cy="0"/>
          </a:xfrm>
          <a:prstGeom prst="straightConnector1">
            <a:avLst/>
          </a:prstGeom>
          <a:noFill/>
          <a:ln cap="flat" cmpd="sng" w="20300">
            <a:solidFill>
              <a:srgbClr val="397DA3"/>
            </a:solidFill>
            <a:prstDash val="solid"/>
            <a:round/>
            <a:headEnd len="sm" w="sm" type="none"/>
            <a:tailEnd len="med" w="med" type="triangle"/>
          </a:ln>
        </p:spPr>
      </p:cxnSp>
      <p:cxnSp>
        <p:nvCxnSpPr>
          <p:cNvPr id="139" name="Google Shape;139;p8"/>
          <p:cNvCxnSpPr/>
          <p:nvPr/>
        </p:nvCxnSpPr>
        <p:spPr>
          <a:xfrm>
            <a:off x="7708392" y="1773936"/>
            <a:ext cx="630936" cy="0"/>
          </a:xfrm>
          <a:prstGeom prst="straightConnector1">
            <a:avLst/>
          </a:prstGeom>
          <a:noFill/>
          <a:ln cap="flat" cmpd="sng" w="20300">
            <a:solidFill>
              <a:srgbClr val="397DA3"/>
            </a:solidFill>
            <a:prstDash val="solid"/>
            <a:round/>
            <a:headEnd len="sm" w="sm" type="none"/>
            <a:tailEnd len="med" w="med" type="triangle"/>
          </a:ln>
        </p:spPr>
      </p:cxnSp>
      <p:sp>
        <p:nvSpPr>
          <p:cNvPr id="140" name="Google Shape;140;p8"/>
          <p:cNvSpPr txBox="1"/>
          <p:nvPr/>
        </p:nvSpPr>
        <p:spPr>
          <a:xfrm>
            <a:off x="1828800" y="2267712"/>
            <a:ext cx="8503920" cy="25603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61717D"/>
              </a:buClr>
              <a:buSzPts val="1120"/>
              <a:buFont typeface="Arial"/>
              <a:buNone/>
            </a:pPr>
            <a:r>
              <a:rPr b="0" i="1" lang="en-US" sz="1120" u="none" cap="none" strike="noStrike">
                <a:solidFill>
                  <a:srgbClr val="61717D"/>
                </a:solidFill>
                <a:latin typeface="Arial"/>
                <a:ea typeface="Arial"/>
                <a:cs typeface="Arial"/>
                <a:sym typeface="Arial"/>
              </a:rPr>
              <a:t>Then the work splits into three connected analyses</a:t>
            </a:r>
            <a:endParaRPr b="0" i="0" sz="1120" u="none" cap="none" strike="noStrike">
              <a:solidFill>
                <a:schemeClr val="dk1"/>
              </a:solidFill>
              <a:latin typeface="Arial"/>
              <a:ea typeface="Arial"/>
              <a:cs typeface="Arial"/>
              <a:sym typeface="Arial"/>
            </a:endParaRPr>
          </a:p>
        </p:txBody>
      </p:sp>
      <p:sp>
        <p:nvSpPr>
          <p:cNvPr id="141" name="Google Shape;141;p8"/>
          <p:cNvSpPr/>
          <p:nvPr/>
        </p:nvSpPr>
        <p:spPr>
          <a:xfrm>
            <a:off x="530352" y="2633472"/>
            <a:ext cx="3429000" cy="713232"/>
          </a:xfrm>
          <a:prstGeom prst="roundRect">
            <a:avLst>
              <a:gd fmla="val 12821" name="adj"/>
            </a:avLst>
          </a:prstGeom>
          <a:solidFill>
            <a:srgbClr val="F0F1EE"/>
          </a:solidFill>
          <a:ln cap="flat" cmpd="sng" w="14600">
            <a:solidFill>
              <a:srgbClr val="DD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8"/>
          <p:cNvSpPr txBox="1"/>
          <p:nvPr/>
        </p:nvSpPr>
        <p:spPr>
          <a:xfrm>
            <a:off x="612648" y="2679192"/>
            <a:ext cx="3264408" cy="6217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9949B"/>
              </a:buClr>
              <a:buSzPts val="1210"/>
              <a:buFont typeface="Arial"/>
              <a:buNone/>
            </a:pPr>
            <a:r>
              <a:rPr b="1" i="0" lang="en-US" sz="1210" u="none" cap="none" strike="noStrike">
                <a:solidFill>
                  <a:srgbClr val="89949B"/>
                </a:solidFill>
                <a:latin typeface="Arial"/>
                <a:ea typeface="Arial"/>
                <a:cs typeface="Arial"/>
                <a:sym typeface="Arial"/>
              </a:rPr>
              <a:t>DWT</a:t>
            </a:r>
            <a:endParaRPr b="0" i="0" sz="121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89949B"/>
              </a:buClr>
              <a:buSzPts val="1210"/>
              <a:buFont typeface="Arial"/>
              <a:buNone/>
            </a:pPr>
            <a:r>
              <a:rPr b="1" i="0" lang="en-US" sz="1210" u="none" cap="none" strike="noStrike">
                <a:solidFill>
                  <a:srgbClr val="89949B"/>
                </a:solidFill>
                <a:latin typeface="Arial"/>
                <a:ea typeface="Arial"/>
                <a:cs typeface="Arial"/>
                <a:sym typeface="Arial"/>
              </a:rPr>
              <a:t>Approximation + detail coefficients</a:t>
            </a:r>
            <a:endParaRPr b="0" i="0" sz="1210" u="none" cap="none" strike="noStrike">
              <a:solidFill>
                <a:schemeClr val="dk1"/>
              </a:solidFill>
              <a:latin typeface="Arial"/>
              <a:ea typeface="Arial"/>
              <a:cs typeface="Arial"/>
              <a:sym typeface="Arial"/>
            </a:endParaRPr>
          </a:p>
        </p:txBody>
      </p:sp>
      <p:sp>
        <p:nvSpPr>
          <p:cNvPr id="143" name="Google Shape;143;p8"/>
          <p:cNvSpPr/>
          <p:nvPr/>
        </p:nvSpPr>
        <p:spPr>
          <a:xfrm>
            <a:off x="4379976" y="2633472"/>
            <a:ext cx="3429000" cy="713232"/>
          </a:xfrm>
          <a:prstGeom prst="roundRect">
            <a:avLst>
              <a:gd fmla="val 12821" name="adj"/>
            </a:avLst>
          </a:prstGeom>
          <a:solidFill>
            <a:srgbClr val="F0F1EE"/>
          </a:solidFill>
          <a:ln cap="flat" cmpd="sng" w="14600">
            <a:solidFill>
              <a:srgbClr val="DD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8"/>
          <p:cNvSpPr txBox="1"/>
          <p:nvPr/>
        </p:nvSpPr>
        <p:spPr>
          <a:xfrm>
            <a:off x="4462272" y="2679192"/>
            <a:ext cx="3264408" cy="6217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9949B"/>
              </a:buClr>
              <a:buSzPts val="1210"/>
              <a:buFont typeface="Arial"/>
              <a:buNone/>
            </a:pPr>
            <a:r>
              <a:rPr b="1" i="0" lang="en-US" sz="1210" u="none" cap="none" strike="noStrike">
                <a:solidFill>
                  <a:srgbClr val="89949B"/>
                </a:solidFill>
                <a:latin typeface="Arial"/>
                <a:ea typeface="Arial"/>
                <a:cs typeface="Arial"/>
                <a:sym typeface="Arial"/>
              </a:rPr>
              <a:t>CWT</a:t>
            </a:r>
            <a:endParaRPr b="0" i="0" sz="121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89949B"/>
              </a:buClr>
              <a:buSzPts val="1210"/>
              <a:buFont typeface="Arial"/>
              <a:buNone/>
            </a:pPr>
            <a:r>
              <a:rPr b="1" i="0" lang="en-US" sz="1210" u="none" cap="none" strike="noStrike">
                <a:solidFill>
                  <a:srgbClr val="89949B"/>
                </a:solidFill>
                <a:latin typeface="Arial"/>
                <a:ea typeface="Arial"/>
                <a:cs typeface="Arial"/>
                <a:sym typeface="Arial"/>
              </a:rPr>
              <a:t>Time–frequency scalograms</a:t>
            </a:r>
            <a:endParaRPr b="0" i="0" sz="1210" u="none" cap="none" strike="noStrike">
              <a:solidFill>
                <a:schemeClr val="dk1"/>
              </a:solidFill>
              <a:latin typeface="Arial"/>
              <a:ea typeface="Arial"/>
              <a:cs typeface="Arial"/>
              <a:sym typeface="Arial"/>
            </a:endParaRPr>
          </a:p>
        </p:txBody>
      </p:sp>
      <p:sp>
        <p:nvSpPr>
          <p:cNvPr id="145" name="Google Shape;145;p8"/>
          <p:cNvSpPr/>
          <p:nvPr/>
        </p:nvSpPr>
        <p:spPr>
          <a:xfrm>
            <a:off x="8229600" y="2633472"/>
            <a:ext cx="3429000" cy="713232"/>
          </a:xfrm>
          <a:prstGeom prst="roundRect">
            <a:avLst>
              <a:gd fmla="val 12821" name="adj"/>
            </a:avLst>
          </a:prstGeom>
          <a:solidFill>
            <a:srgbClr val="F0F1EE"/>
          </a:solidFill>
          <a:ln cap="flat" cmpd="sng" w="14600">
            <a:solidFill>
              <a:srgbClr val="DD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8"/>
          <p:cNvSpPr txBox="1"/>
          <p:nvPr/>
        </p:nvSpPr>
        <p:spPr>
          <a:xfrm>
            <a:off x="8311896" y="2679192"/>
            <a:ext cx="3264408" cy="6217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9949B"/>
              </a:buClr>
              <a:buSzPts val="1210"/>
              <a:buFont typeface="Arial"/>
              <a:buNone/>
            </a:pPr>
            <a:r>
              <a:rPr b="1" i="0" lang="en-US" sz="1210" u="none" cap="none" strike="noStrike">
                <a:solidFill>
                  <a:srgbClr val="89949B"/>
                </a:solidFill>
                <a:latin typeface="Arial"/>
                <a:ea typeface="Arial"/>
                <a:cs typeface="Arial"/>
                <a:sym typeface="Arial"/>
              </a:rPr>
              <a:t>Denoising</a:t>
            </a:r>
            <a:endParaRPr b="0" i="0" sz="121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89949B"/>
              </a:buClr>
              <a:buSzPts val="1210"/>
              <a:buFont typeface="Arial"/>
              <a:buNone/>
            </a:pPr>
            <a:r>
              <a:rPr b="1" i="0" lang="en-US" sz="1210" u="none" cap="none" strike="noStrike">
                <a:solidFill>
                  <a:srgbClr val="89949B"/>
                </a:solidFill>
                <a:latin typeface="Arial"/>
                <a:ea typeface="Arial"/>
                <a:cs typeface="Arial"/>
                <a:sym typeface="Arial"/>
              </a:rPr>
              <a:t>Butterworth + wavelet thresholds</a:t>
            </a:r>
            <a:endParaRPr b="0" i="0" sz="1210" u="none" cap="none" strike="noStrike">
              <a:solidFill>
                <a:schemeClr val="dk1"/>
              </a:solidFill>
              <a:latin typeface="Arial"/>
              <a:ea typeface="Arial"/>
              <a:cs typeface="Arial"/>
              <a:sym typeface="Arial"/>
            </a:endParaRPr>
          </a:p>
        </p:txBody>
      </p:sp>
      <p:sp>
        <p:nvSpPr>
          <p:cNvPr id="147" name="Google Shape;147;p8"/>
          <p:cNvSpPr/>
          <p:nvPr/>
        </p:nvSpPr>
        <p:spPr>
          <a:xfrm>
            <a:off x="530352" y="3639312"/>
            <a:ext cx="3429000" cy="548640"/>
          </a:xfrm>
          <a:prstGeom prst="roundRect">
            <a:avLst>
              <a:gd fmla="val 16667" name="adj"/>
            </a:avLst>
          </a:prstGeom>
          <a:solidFill>
            <a:srgbClr val="F0F1EE"/>
          </a:solidFill>
          <a:ln cap="flat" cmpd="sng" w="14600">
            <a:solidFill>
              <a:srgbClr val="DD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8"/>
          <p:cNvSpPr txBox="1"/>
          <p:nvPr/>
        </p:nvSpPr>
        <p:spPr>
          <a:xfrm>
            <a:off x="612648" y="3685032"/>
            <a:ext cx="3264408" cy="4572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9949B"/>
              </a:buClr>
              <a:buSzPts val="1180"/>
              <a:buFont typeface="Arial"/>
              <a:buNone/>
            </a:pPr>
            <a:r>
              <a:rPr b="1" i="0" lang="en-US" sz="1180" u="none" cap="none" strike="noStrike">
                <a:solidFill>
                  <a:srgbClr val="89949B"/>
                </a:solidFill>
                <a:latin typeface="Arial"/>
                <a:ea typeface="Arial"/>
                <a:cs typeface="Arial"/>
                <a:sym typeface="Arial"/>
              </a:rPr>
              <a:t>Energy distribution + entropy</a:t>
            </a:r>
            <a:endParaRPr b="0" i="0" sz="1180" u="none" cap="none" strike="noStrike">
              <a:solidFill>
                <a:schemeClr val="dk1"/>
              </a:solidFill>
              <a:latin typeface="Arial"/>
              <a:ea typeface="Arial"/>
              <a:cs typeface="Arial"/>
              <a:sym typeface="Arial"/>
            </a:endParaRPr>
          </a:p>
        </p:txBody>
      </p:sp>
      <p:sp>
        <p:nvSpPr>
          <p:cNvPr id="149" name="Google Shape;149;p8"/>
          <p:cNvSpPr/>
          <p:nvPr/>
        </p:nvSpPr>
        <p:spPr>
          <a:xfrm>
            <a:off x="4379976" y="3639312"/>
            <a:ext cx="3429000" cy="548640"/>
          </a:xfrm>
          <a:prstGeom prst="roundRect">
            <a:avLst>
              <a:gd fmla="val 16667" name="adj"/>
            </a:avLst>
          </a:prstGeom>
          <a:solidFill>
            <a:srgbClr val="F0F1EE"/>
          </a:solidFill>
          <a:ln cap="flat" cmpd="sng" w="14600">
            <a:solidFill>
              <a:srgbClr val="DD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8"/>
          <p:cNvSpPr txBox="1"/>
          <p:nvPr/>
        </p:nvSpPr>
        <p:spPr>
          <a:xfrm>
            <a:off x="4462272" y="3685032"/>
            <a:ext cx="3264408" cy="4572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9949B"/>
              </a:buClr>
              <a:buSzPts val="1180"/>
              <a:buFont typeface="Arial"/>
              <a:buNone/>
            </a:pPr>
            <a:r>
              <a:rPr b="1" i="0" lang="en-US" sz="1180" u="none" cap="none" strike="noStrike">
                <a:solidFill>
                  <a:srgbClr val="89949B"/>
                </a:solidFill>
                <a:latin typeface="Arial"/>
                <a:ea typeface="Arial"/>
                <a:cs typeface="Arial"/>
                <a:sym typeface="Arial"/>
              </a:rPr>
              <a:t>Compare Morlet and Mexican Hat</a:t>
            </a:r>
            <a:endParaRPr b="0" i="0" sz="1180" u="none" cap="none" strike="noStrike">
              <a:solidFill>
                <a:schemeClr val="dk1"/>
              </a:solidFill>
              <a:latin typeface="Arial"/>
              <a:ea typeface="Arial"/>
              <a:cs typeface="Arial"/>
              <a:sym typeface="Arial"/>
            </a:endParaRPr>
          </a:p>
        </p:txBody>
      </p:sp>
      <p:sp>
        <p:nvSpPr>
          <p:cNvPr id="151" name="Google Shape;151;p8"/>
          <p:cNvSpPr/>
          <p:nvPr/>
        </p:nvSpPr>
        <p:spPr>
          <a:xfrm>
            <a:off x="8229600" y="3639312"/>
            <a:ext cx="3429000" cy="548640"/>
          </a:xfrm>
          <a:prstGeom prst="roundRect">
            <a:avLst>
              <a:gd fmla="val 16667" name="adj"/>
            </a:avLst>
          </a:prstGeom>
          <a:solidFill>
            <a:srgbClr val="F0F1EE"/>
          </a:solidFill>
          <a:ln cap="flat" cmpd="sng" w="14600">
            <a:solidFill>
              <a:srgbClr val="DD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8"/>
          <p:cNvSpPr txBox="1"/>
          <p:nvPr/>
        </p:nvSpPr>
        <p:spPr>
          <a:xfrm>
            <a:off x="8311896" y="3685032"/>
            <a:ext cx="3264408" cy="4572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9949B"/>
              </a:buClr>
              <a:buSzPts val="1180"/>
              <a:buFont typeface="Arial"/>
              <a:buNone/>
            </a:pPr>
            <a:r>
              <a:rPr b="1" i="0" lang="en-US" sz="1180" u="none" cap="none" strike="noStrike">
                <a:solidFill>
                  <a:srgbClr val="89949B"/>
                </a:solidFill>
                <a:latin typeface="Arial"/>
                <a:ea typeface="Arial"/>
                <a:cs typeface="Arial"/>
                <a:sym typeface="Arial"/>
              </a:rPr>
              <a:t>Hard / soft / BayesShrink</a:t>
            </a:r>
            <a:endParaRPr b="0" i="0" sz="1180" u="none" cap="none" strike="noStrike">
              <a:solidFill>
                <a:schemeClr val="dk1"/>
              </a:solidFill>
              <a:latin typeface="Arial"/>
              <a:ea typeface="Arial"/>
              <a:cs typeface="Arial"/>
              <a:sym typeface="Arial"/>
            </a:endParaRPr>
          </a:p>
        </p:txBody>
      </p:sp>
      <p:cxnSp>
        <p:nvCxnSpPr>
          <p:cNvPr id="153" name="Google Shape;153;p8"/>
          <p:cNvCxnSpPr/>
          <p:nvPr/>
        </p:nvCxnSpPr>
        <p:spPr>
          <a:xfrm>
            <a:off x="2240280" y="3346704"/>
            <a:ext cx="0" cy="246888"/>
          </a:xfrm>
          <a:prstGeom prst="straightConnector1">
            <a:avLst/>
          </a:prstGeom>
          <a:noFill/>
          <a:ln cap="flat" cmpd="sng" w="16500">
            <a:solidFill>
              <a:srgbClr val="DDE4E7"/>
            </a:solidFill>
            <a:prstDash val="solid"/>
            <a:round/>
            <a:headEnd len="sm" w="sm" type="none"/>
            <a:tailEnd len="med" w="med" type="triangle"/>
          </a:ln>
        </p:spPr>
      </p:cxnSp>
      <p:cxnSp>
        <p:nvCxnSpPr>
          <p:cNvPr id="154" name="Google Shape;154;p8"/>
          <p:cNvCxnSpPr/>
          <p:nvPr/>
        </p:nvCxnSpPr>
        <p:spPr>
          <a:xfrm>
            <a:off x="6089904" y="3346704"/>
            <a:ext cx="0" cy="246888"/>
          </a:xfrm>
          <a:prstGeom prst="straightConnector1">
            <a:avLst/>
          </a:prstGeom>
          <a:noFill/>
          <a:ln cap="flat" cmpd="sng" w="16500">
            <a:solidFill>
              <a:srgbClr val="DDE4E7"/>
            </a:solidFill>
            <a:prstDash val="solid"/>
            <a:round/>
            <a:headEnd len="sm" w="sm" type="none"/>
            <a:tailEnd len="med" w="med" type="triangle"/>
          </a:ln>
        </p:spPr>
      </p:cxnSp>
      <p:cxnSp>
        <p:nvCxnSpPr>
          <p:cNvPr id="155" name="Google Shape;155;p8"/>
          <p:cNvCxnSpPr/>
          <p:nvPr/>
        </p:nvCxnSpPr>
        <p:spPr>
          <a:xfrm>
            <a:off x="9939528" y="3346704"/>
            <a:ext cx="0" cy="246888"/>
          </a:xfrm>
          <a:prstGeom prst="straightConnector1">
            <a:avLst/>
          </a:prstGeom>
          <a:noFill/>
          <a:ln cap="flat" cmpd="sng" w="16500">
            <a:solidFill>
              <a:srgbClr val="DDE4E7"/>
            </a:solidFill>
            <a:prstDash val="solid"/>
            <a:round/>
            <a:headEnd len="sm" w="sm" type="none"/>
            <a:tailEnd len="med" w="med" type="triangle"/>
          </a:ln>
        </p:spPr>
      </p:cxnSp>
      <p:sp>
        <p:nvSpPr>
          <p:cNvPr id="156" name="Google Shape;156;p8"/>
          <p:cNvSpPr/>
          <p:nvPr/>
        </p:nvSpPr>
        <p:spPr>
          <a:xfrm>
            <a:off x="530352" y="4553712"/>
            <a:ext cx="3429000" cy="621792"/>
          </a:xfrm>
          <a:prstGeom prst="roundRect">
            <a:avLst>
              <a:gd fmla="val 14706" name="adj"/>
            </a:avLst>
          </a:prstGeom>
          <a:solidFill>
            <a:srgbClr val="F0F1EE"/>
          </a:solidFill>
          <a:ln cap="flat" cmpd="sng" w="14600">
            <a:solidFill>
              <a:srgbClr val="DD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8"/>
          <p:cNvSpPr txBox="1"/>
          <p:nvPr/>
        </p:nvSpPr>
        <p:spPr>
          <a:xfrm>
            <a:off x="612648" y="4599432"/>
            <a:ext cx="3264408" cy="5303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9949B"/>
              </a:buClr>
              <a:buSzPts val="1180"/>
              <a:buFont typeface="Arial"/>
              <a:buNone/>
            </a:pPr>
            <a:r>
              <a:rPr b="1" i="0" lang="en-US" sz="1180" u="none" cap="none" strike="noStrike">
                <a:solidFill>
                  <a:srgbClr val="89949B"/>
                </a:solidFill>
                <a:latin typeface="Arial"/>
                <a:ea typeface="Arial"/>
                <a:cs typeface="Arial"/>
                <a:sym typeface="Arial"/>
              </a:rPr>
              <a:t>Reconstruct and align signal length</a:t>
            </a:r>
            <a:endParaRPr b="0" i="0" sz="1180" u="none" cap="none" strike="noStrike">
              <a:solidFill>
                <a:schemeClr val="dk1"/>
              </a:solidFill>
              <a:latin typeface="Arial"/>
              <a:ea typeface="Arial"/>
              <a:cs typeface="Arial"/>
              <a:sym typeface="Arial"/>
            </a:endParaRPr>
          </a:p>
        </p:txBody>
      </p:sp>
      <p:sp>
        <p:nvSpPr>
          <p:cNvPr id="158" name="Google Shape;158;p8"/>
          <p:cNvSpPr/>
          <p:nvPr/>
        </p:nvSpPr>
        <p:spPr>
          <a:xfrm>
            <a:off x="4379976" y="4553712"/>
            <a:ext cx="3429000" cy="621792"/>
          </a:xfrm>
          <a:prstGeom prst="roundRect">
            <a:avLst>
              <a:gd fmla="val 14706" name="adj"/>
            </a:avLst>
          </a:prstGeom>
          <a:solidFill>
            <a:srgbClr val="F0F1EE"/>
          </a:solidFill>
          <a:ln cap="flat" cmpd="sng" w="14600">
            <a:solidFill>
              <a:srgbClr val="DD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8"/>
          <p:cNvSpPr txBox="1"/>
          <p:nvPr/>
        </p:nvSpPr>
        <p:spPr>
          <a:xfrm>
            <a:off x="4462272" y="4599432"/>
            <a:ext cx="3264408" cy="5303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9949B"/>
              </a:buClr>
              <a:buSzPts val="1100"/>
              <a:buFont typeface="Arial"/>
              <a:buNone/>
            </a:pPr>
            <a:r>
              <a:rPr b="1" i="0" lang="en-US" sz="1100" u="none" cap="none" strike="noStrike">
                <a:solidFill>
                  <a:srgbClr val="89949B"/>
                </a:solidFill>
                <a:latin typeface="Arial"/>
                <a:ea typeface="Arial"/>
                <a:cs typeface="Arial"/>
                <a:sym typeface="Arial"/>
              </a:rPr>
              <a:t>Evaluate: RMSE, MAE, SNR, PRD, correlation, peaks</a:t>
            </a:r>
            <a:endParaRPr b="0" i="0" sz="1100" u="none" cap="none" strike="noStrike">
              <a:solidFill>
                <a:schemeClr val="dk1"/>
              </a:solidFill>
              <a:latin typeface="Arial"/>
              <a:ea typeface="Arial"/>
              <a:cs typeface="Arial"/>
              <a:sym typeface="Arial"/>
            </a:endParaRPr>
          </a:p>
        </p:txBody>
      </p:sp>
      <p:sp>
        <p:nvSpPr>
          <p:cNvPr id="160" name="Google Shape;160;p8"/>
          <p:cNvSpPr/>
          <p:nvPr/>
        </p:nvSpPr>
        <p:spPr>
          <a:xfrm>
            <a:off x="8229600" y="4553712"/>
            <a:ext cx="3429000" cy="621792"/>
          </a:xfrm>
          <a:prstGeom prst="roundRect">
            <a:avLst>
              <a:gd fmla="val 14706" name="adj"/>
            </a:avLst>
          </a:prstGeom>
          <a:solidFill>
            <a:srgbClr val="F0F1EE"/>
          </a:solidFill>
          <a:ln cap="flat" cmpd="sng" w="14600">
            <a:solidFill>
              <a:srgbClr val="DD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8"/>
          <p:cNvSpPr txBox="1"/>
          <p:nvPr/>
        </p:nvSpPr>
        <p:spPr>
          <a:xfrm>
            <a:off x="8311896" y="4599432"/>
            <a:ext cx="3264408" cy="5303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9949B"/>
              </a:buClr>
              <a:buSzPts val="1150"/>
              <a:buFont typeface="Arial"/>
              <a:buNone/>
            </a:pPr>
            <a:r>
              <a:rPr b="1" i="0" lang="en-US" sz="1150" u="none" cap="none" strike="noStrike">
                <a:solidFill>
                  <a:srgbClr val="89949B"/>
                </a:solidFill>
                <a:latin typeface="Arial"/>
                <a:ea typeface="Arial"/>
                <a:cs typeface="Arial"/>
                <a:sym typeface="Arial"/>
              </a:rPr>
              <a:t>Repeat selected steps across 10 records</a:t>
            </a:r>
            <a:endParaRPr b="0" i="0" sz="1150" u="none" cap="none" strike="noStrike">
              <a:solidFill>
                <a:schemeClr val="dk1"/>
              </a:solidFill>
              <a:latin typeface="Arial"/>
              <a:ea typeface="Arial"/>
              <a:cs typeface="Arial"/>
              <a:sym typeface="Arial"/>
            </a:endParaRPr>
          </a:p>
        </p:txBody>
      </p:sp>
      <p:cxnSp>
        <p:nvCxnSpPr>
          <p:cNvPr id="162" name="Google Shape;162;p8"/>
          <p:cNvCxnSpPr/>
          <p:nvPr/>
        </p:nvCxnSpPr>
        <p:spPr>
          <a:xfrm>
            <a:off x="9939528" y="4206240"/>
            <a:ext cx="0" cy="292608"/>
          </a:xfrm>
          <a:prstGeom prst="straightConnector1">
            <a:avLst/>
          </a:prstGeom>
          <a:noFill/>
          <a:ln cap="flat" cmpd="sng" w="15225">
            <a:solidFill>
              <a:srgbClr val="DDE4E7"/>
            </a:solidFill>
            <a:prstDash val="solid"/>
            <a:round/>
            <a:headEnd len="sm" w="sm" type="none"/>
            <a:tailEnd len="med" w="med" type="triangle"/>
          </a:ln>
        </p:spPr>
      </p:cxnSp>
      <p:cxnSp>
        <p:nvCxnSpPr>
          <p:cNvPr id="163" name="Google Shape;163;p8"/>
          <p:cNvCxnSpPr/>
          <p:nvPr/>
        </p:nvCxnSpPr>
        <p:spPr>
          <a:xfrm>
            <a:off x="3977640" y="4864608"/>
            <a:ext cx="338328" cy="0"/>
          </a:xfrm>
          <a:prstGeom prst="straightConnector1">
            <a:avLst/>
          </a:prstGeom>
          <a:noFill/>
          <a:ln cap="flat" cmpd="sng" w="17775">
            <a:solidFill>
              <a:srgbClr val="DDE4E7"/>
            </a:solidFill>
            <a:prstDash val="solid"/>
            <a:round/>
            <a:headEnd len="sm" w="sm" type="none"/>
            <a:tailEnd len="med" w="med" type="triangle"/>
          </a:ln>
        </p:spPr>
      </p:cxnSp>
      <p:cxnSp>
        <p:nvCxnSpPr>
          <p:cNvPr id="164" name="Google Shape;164;p8"/>
          <p:cNvCxnSpPr/>
          <p:nvPr/>
        </p:nvCxnSpPr>
        <p:spPr>
          <a:xfrm>
            <a:off x="7818120" y="4864608"/>
            <a:ext cx="347472" cy="0"/>
          </a:xfrm>
          <a:prstGeom prst="straightConnector1">
            <a:avLst/>
          </a:prstGeom>
          <a:noFill/>
          <a:ln cap="flat" cmpd="sng" w="17775">
            <a:solidFill>
              <a:srgbClr val="DDE4E7"/>
            </a:solidFill>
            <a:prstDash val="solid"/>
            <a:round/>
            <a:headEnd len="sm" w="sm" type="none"/>
            <a:tailEnd len="med" w="med" type="triangle"/>
          </a:ln>
        </p:spPr>
      </p:cxnSp>
      <p:sp>
        <p:nvSpPr>
          <p:cNvPr id="165" name="Google Shape;165;p8"/>
          <p:cNvSpPr/>
          <p:nvPr/>
        </p:nvSpPr>
        <p:spPr>
          <a:xfrm>
            <a:off x="3383280" y="5449824"/>
            <a:ext cx="5394960" cy="521208"/>
          </a:xfrm>
          <a:prstGeom prst="roundRect">
            <a:avLst>
              <a:gd fmla="val 17544" name="adj"/>
            </a:avLst>
          </a:prstGeom>
          <a:solidFill>
            <a:srgbClr val="F0F1EE"/>
          </a:solidFill>
          <a:ln cap="flat" cmpd="sng" w="14600">
            <a:solidFill>
              <a:srgbClr val="DD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8"/>
          <p:cNvSpPr txBox="1"/>
          <p:nvPr/>
        </p:nvSpPr>
        <p:spPr>
          <a:xfrm>
            <a:off x="3465576" y="5495544"/>
            <a:ext cx="5230368" cy="42976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9949B"/>
              </a:buClr>
              <a:buSzPts val="1200"/>
              <a:buFont typeface="Arial"/>
              <a:buNone/>
            </a:pPr>
            <a:r>
              <a:rPr b="1" i="0" lang="en-US" sz="1200" u="none" cap="none" strike="noStrike">
                <a:solidFill>
                  <a:srgbClr val="89949B"/>
                </a:solidFill>
                <a:latin typeface="Arial"/>
                <a:ea typeface="Arial"/>
                <a:cs typeface="Arial"/>
                <a:sym typeface="Arial"/>
              </a:rPr>
              <a:t>Compare records and investigate unusual signal behaviour</a:t>
            </a:r>
            <a:endParaRPr b="0" i="0" sz="1200" u="none" cap="none" strike="noStrike">
              <a:solidFill>
                <a:schemeClr val="dk1"/>
              </a:solidFill>
              <a:latin typeface="Arial"/>
              <a:ea typeface="Arial"/>
              <a:cs typeface="Arial"/>
              <a:sym typeface="Arial"/>
            </a:endParaRPr>
          </a:p>
        </p:txBody>
      </p:sp>
      <p:cxnSp>
        <p:nvCxnSpPr>
          <p:cNvPr id="167" name="Google Shape;167;p8"/>
          <p:cNvCxnSpPr/>
          <p:nvPr/>
        </p:nvCxnSpPr>
        <p:spPr>
          <a:xfrm flipH="1">
            <a:off x="8668512" y="5175504"/>
            <a:ext cx="1271016" cy="237744"/>
          </a:xfrm>
          <a:prstGeom prst="straightConnector1">
            <a:avLst/>
          </a:prstGeom>
          <a:noFill/>
          <a:ln cap="flat" cmpd="sng" w="15875">
            <a:solidFill>
              <a:srgbClr val="DDE4E7"/>
            </a:solidFill>
            <a:prstDash val="solid"/>
            <a:round/>
            <a:headEnd len="sm" w="sm" type="none"/>
            <a:tailEnd len="med" w="med" type="triangle"/>
          </a:ln>
        </p:spPr>
      </p:cxnSp>
      <p:sp>
        <p:nvSpPr>
          <p:cNvPr id="168" name="Google Shape;168;p8"/>
          <p:cNvSpPr txBox="1"/>
          <p:nvPr/>
        </p:nvSpPr>
        <p:spPr>
          <a:xfrm>
            <a:off x="822960" y="6053328"/>
            <a:ext cx="10607040" cy="29260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397DA3"/>
              </a:buClr>
              <a:buSzPts val="1160"/>
              <a:buFont typeface="Arial"/>
              <a:buNone/>
            </a:pPr>
            <a:r>
              <a:rPr b="1" i="0" lang="en-US" sz="1160" u="none" cap="none" strike="noStrike">
                <a:solidFill>
                  <a:srgbClr val="397DA3"/>
                </a:solidFill>
                <a:latin typeface="Arial"/>
                <a:ea typeface="Arial"/>
                <a:cs typeface="Arial"/>
                <a:sym typeface="Arial"/>
              </a:rPr>
              <a:t>What I check here: correct channels • segment length • missing/non-finite values • plausible waveform range</a:t>
            </a:r>
            <a:endParaRPr b="0" i="0" sz="1160" u="none" cap="none" strike="noStrike">
              <a:solidFill>
                <a:schemeClr val="dk1"/>
              </a:solidFill>
              <a:latin typeface="Arial"/>
              <a:ea typeface="Arial"/>
              <a:cs typeface="Arial"/>
              <a:sym typeface="Arial"/>
            </a:endParaRPr>
          </a:p>
        </p:txBody>
      </p:sp>
      <p:sp>
        <p:nvSpPr>
          <p:cNvPr id="169" name="Google Shape;169;p8"/>
          <p:cNvSpPr txBox="1"/>
          <p:nvPr>
            <p:ph idx="4294967295" type="sldNum"/>
          </p:nvPr>
        </p:nvSpPr>
        <p:spPr>
          <a:xfrm>
            <a:off x="11338560" y="653796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800" u="none" cap="none" strike="noStrike">
                <a:solidFill>
                  <a:srgbClr val="7A858D"/>
                </a:solidFill>
                <a:latin typeface="Arial"/>
                <a:ea typeface="Arial"/>
                <a:cs typeface="Arial"/>
                <a:sym typeface="Arial"/>
              </a:rPr>
              <a:t>‹#›</a:t>
            </a:fld>
            <a:endParaRPr b="0" i="0" sz="800" u="none" cap="none" strike="noStrike">
              <a:solidFill>
                <a:srgbClr val="7A858D"/>
              </a:solidFill>
              <a:latin typeface="Arial"/>
              <a:ea typeface="Arial"/>
              <a:cs typeface="Arial"/>
              <a:sym typeface="Arial"/>
            </a:endParaRPr>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174" name="Shape 174"/>
        <p:cNvGrpSpPr/>
        <p:nvPr/>
      </p:nvGrpSpPr>
      <p:grpSpPr>
        <a:xfrm>
          <a:off x="0" y="0"/>
          <a:ext cx="0" cy="0"/>
          <a:chOff x="0" y="0"/>
          <a:chExt cx="0" cy="0"/>
        </a:xfrm>
      </p:grpSpPr>
      <p:sp>
        <p:nvSpPr>
          <p:cNvPr id="175" name="Google Shape;175;p9"/>
          <p:cNvSpPr/>
          <p:nvPr/>
        </p:nvSpPr>
        <p:spPr>
          <a:xfrm>
            <a:off x="9646920" y="274320"/>
            <a:ext cx="2084832" cy="310896"/>
          </a:xfrm>
          <a:prstGeom prst="roundRect">
            <a:avLst>
              <a:gd fmla="val 29412" name="adj"/>
            </a:avLst>
          </a:prstGeom>
          <a:solidFill>
            <a:srgbClr val="EAF2F5"/>
          </a:solidFill>
          <a:ln cap="flat" cmpd="sng" w="9525">
            <a:solidFill>
              <a:srgbClr val="EAF2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9"/>
          <p:cNvSpPr txBox="1"/>
          <p:nvPr/>
        </p:nvSpPr>
        <p:spPr>
          <a:xfrm>
            <a:off x="9710928" y="310896"/>
            <a:ext cx="1956816" cy="21945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397DA3"/>
              </a:buClr>
              <a:buSzPts val="850"/>
              <a:buFont typeface="Arial"/>
              <a:buNone/>
            </a:pPr>
            <a:r>
              <a:rPr b="1" i="0" lang="en-US" sz="850" u="none" cap="none" strike="noStrike">
                <a:solidFill>
                  <a:srgbClr val="397DA3"/>
                </a:solidFill>
                <a:latin typeface="Arial"/>
                <a:ea typeface="Arial"/>
                <a:cs typeface="Arial"/>
                <a:sym typeface="Arial"/>
              </a:rPr>
              <a:t>WORKFLOW ZOOM</a:t>
            </a:r>
            <a:endParaRPr b="0" i="0" sz="850" u="none" cap="none" strike="noStrike">
              <a:solidFill>
                <a:schemeClr val="dk1"/>
              </a:solidFill>
              <a:latin typeface="Arial"/>
              <a:ea typeface="Arial"/>
              <a:cs typeface="Arial"/>
              <a:sym typeface="Arial"/>
            </a:endParaRPr>
          </a:p>
        </p:txBody>
      </p:sp>
      <p:sp>
        <p:nvSpPr>
          <p:cNvPr id="177" name="Google Shape;177;p9"/>
          <p:cNvSpPr txBox="1"/>
          <p:nvPr/>
        </p:nvSpPr>
        <p:spPr>
          <a:xfrm>
            <a:off x="438912" y="292608"/>
            <a:ext cx="896112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2700"/>
              <a:buFont typeface="Play"/>
              <a:buNone/>
            </a:pPr>
            <a:r>
              <a:rPr b="1" i="0" lang="en-US" sz="2700" u="none" cap="none" strike="noStrike">
                <a:solidFill>
                  <a:srgbClr val="203447"/>
                </a:solidFill>
                <a:latin typeface="Play"/>
                <a:ea typeface="Play"/>
                <a:cs typeface="Play"/>
                <a:sym typeface="Play"/>
              </a:rPr>
              <a:t>Road map, part 2: analyse and process</a:t>
            </a:r>
            <a:endParaRPr b="0" i="0" sz="2700" u="none" cap="none" strike="noStrike">
              <a:solidFill>
                <a:schemeClr val="dk1"/>
              </a:solidFill>
              <a:latin typeface="Arial"/>
              <a:ea typeface="Arial"/>
              <a:cs typeface="Arial"/>
              <a:sym typeface="Arial"/>
            </a:endParaRPr>
          </a:p>
        </p:txBody>
      </p:sp>
      <p:sp>
        <p:nvSpPr>
          <p:cNvPr id="178" name="Google Shape;178;p9"/>
          <p:cNvSpPr txBox="1"/>
          <p:nvPr/>
        </p:nvSpPr>
        <p:spPr>
          <a:xfrm>
            <a:off x="457200" y="804672"/>
            <a:ext cx="11064240" cy="32918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1717D"/>
              </a:buClr>
              <a:buSzPts val="1250"/>
              <a:buFont typeface="Arial"/>
              <a:buNone/>
            </a:pPr>
            <a:r>
              <a:rPr b="0" i="0" lang="en-US" sz="1250" u="none" cap="none" strike="noStrike">
                <a:solidFill>
                  <a:srgbClr val="61717D"/>
                </a:solidFill>
                <a:latin typeface="Arial"/>
                <a:ea typeface="Arial"/>
                <a:cs typeface="Arial"/>
                <a:sym typeface="Arial"/>
              </a:rPr>
              <a:t>Different tools answer different questions</a:t>
            </a:r>
            <a:endParaRPr b="0" i="0" sz="1250" u="none" cap="none" strike="noStrike">
              <a:solidFill>
                <a:schemeClr val="dk1"/>
              </a:solidFill>
              <a:latin typeface="Arial"/>
              <a:ea typeface="Arial"/>
              <a:cs typeface="Arial"/>
              <a:sym typeface="Arial"/>
            </a:endParaRPr>
          </a:p>
        </p:txBody>
      </p:sp>
      <p:cxnSp>
        <p:nvCxnSpPr>
          <p:cNvPr id="179" name="Google Shape;179;p9"/>
          <p:cNvCxnSpPr/>
          <p:nvPr/>
        </p:nvCxnSpPr>
        <p:spPr>
          <a:xfrm>
            <a:off x="438912" y="1197864"/>
            <a:ext cx="11292840" cy="0"/>
          </a:xfrm>
          <a:prstGeom prst="straightConnector1">
            <a:avLst/>
          </a:prstGeom>
          <a:noFill/>
          <a:ln cap="flat" cmpd="sng" w="22850">
            <a:solidFill>
              <a:srgbClr val="4E928B"/>
            </a:solidFill>
            <a:prstDash val="solid"/>
            <a:round/>
            <a:headEnd len="sm" w="sm" type="none"/>
            <a:tailEnd len="sm" w="sm" type="none"/>
          </a:ln>
        </p:spPr>
      </p:cxnSp>
      <p:sp>
        <p:nvSpPr>
          <p:cNvPr id="180" name="Google Shape;180;p9"/>
          <p:cNvSpPr/>
          <p:nvPr/>
        </p:nvSpPr>
        <p:spPr>
          <a:xfrm>
            <a:off x="530352" y="1490472"/>
            <a:ext cx="3246120" cy="576072"/>
          </a:xfrm>
          <a:prstGeom prst="roundRect">
            <a:avLst>
              <a:gd fmla="val 15873" name="adj"/>
            </a:avLst>
          </a:prstGeom>
          <a:solidFill>
            <a:srgbClr val="F0F1EE"/>
          </a:solidFill>
          <a:ln cap="flat" cmpd="sng" w="14600">
            <a:solidFill>
              <a:srgbClr val="DD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9"/>
          <p:cNvSpPr txBox="1"/>
          <p:nvPr/>
        </p:nvSpPr>
        <p:spPr>
          <a:xfrm>
            <a:off x="612648" y="1536192"/>
            <a:ext cx="3081528" cy="48463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9949B"/>
              </a:buClr>
              <a:buSzPts val="1240"/>
              <a:buFont typeface="Arial"/>
              <a:buNone/>
            </a:pPr>
            <a:r>
              <a:rPr b="1" i="0" lang="en-US" sz="1240" u="none" cap="none" strike="noStrike">
                <a:solidFill>
                  <a:srgbClr val="89949B"/>
                </a:solidFill>
                <a:latin typeface="Arial"/>
                <a:ea typeface="Arial"/>
                <a:cs typeface="Arial"/>
                <a:sym typeface="Arial"/>
              </a:rPr>
              <a:t>1. Select record + 8-second window</a:t>
            </a:r>
            <a:endParaRPr b="0" i="0" sz="1240" u="none" cap="none" strike="noStrike">
              <a:solidFill>
                <a:schemeClr val="dk1"/>
              </a:solidFill>
              <a:latin typeface="Arial"/>
              <a:ea typeface="Arial"/>
              <a:cs typeface="Arial"/>
              <a:sym typeface="Arial"/>
            </a:endParaRPr>
          </a:p>
        </p:txBody>
      </p:sp>
      <p:sp>
        <p:nvSpPr>
          <p:cNvPr id="182" name="Google Shape;182;p9"/>
          <p:cNvSpPr/>
          <p:nvPr/>
        </p:nvSpPr>
        <p:spPr>
          <a:xfrm>
            <a:off x="4462272" y="1490472"/>
            <a:ext cx="3246120" cy="576072"/>
          </a:xfrm>
          <a:prstGeom prst="roundRect">
            <a:avLst>
              <a:gd fmla="val 15873" name="adj"/>
            </a:avLst>
          </a:prstGeom>
          <a:solidFill>
            <a:srgbClr val="F0F1EE"/>
          </a:solidFill>
          <a:ln cap="flat" cmpd="sng" w="14600">
            <a:solidFill>
              <a:srgbClr val="DD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9"/>
          <p:cNvSpPr txBox="1"/>
          <p:nvPr/>
        </p:nvSpPr>
        <p:spPr>
          <a:xfrm>
            <a:off x="4544568" y="1536192"/>
            <a:ext cx="3081528" cy="48463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9949B"/>
              </a:buClr>
              <a:buSzPts val="1240"/>
              <a:buFont typeface="Arial"/>
              <a:buNone/>
            </a:pPr>
            <a:r>
              <a:rPr b="1" i="0" lang="en-US" sz="1240" u="none" cap="none" strike="noStrike">
                <a:solidFill>
                  <a:srgbClr val="89949B"/>
                </a:solidFill>
                <a:latin typeface="Arial"/>
                <a:ea typeface="Arial"/>
                <a:cs typeface="Arial"/>
                <a:sym typeface="Arial"/>
              </a:rPr>
              <a:t>2. Extract ECG Lead II + PPG Pleth</a:t>
            </a:r>
            <a:endParaRPr b="0" i="0" sz="1240" u="none" cap="none" strike="noStrike">
              <a:solidFill>
                <a:schemeClr val="dk1"/>
              </a:solidFill>
              <a:latin typeface="Arial"/>
              <a:ea typeface="Arial"/>
              <a:cs typeface="Arial"/>
              <a:sym typeface="Arial"/>
            </a:endParaRPr>
          </a:p>
        </p:txBody>
      </p:sp>
      <p:sp>
        <p:nvSpPr>
          <p:cNvPr id="184" name="Google Shape;184;p9"/>
          <p:cNvSpPr/>
          <p:nvPr/>
        </p:nvSpPr>
        <p:spPr>
          <a:xfrm>
            <a:off x="8394192" y="1490472"/>
            <a:ext cx="3246120" cy="576072"/>
          </a:xfrm>
          <a:prstGeom prst="roundRect">
            <a:avLst>
              <a:gd fmla="val 15873" name="adj"/>
            </a:avLst>
          </a:prstGeom>
          <a:solidFill>
            <a:srgbClr val="F0F1EE"/>
          </a:solidFill>
          <a:ln cap="flat" cmpd="sng" w="14600">
            <a:solidFill>
              <a:srgbClr val="DD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9"/>
          <p:cNvSpPr txBox="1"/>
          <p:nvPr/>
        </p:nvSpPr>
        <p:spPr>
          <a:xfrm>
            <a:off x="8476488" y="1536192"/>
            <a:ext cx="3081528" cy="48463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9949B"/>
              </a:buClr>
              <a:buSzPts val="1240"/>
              <a:buFont typeface="Arial"/>
              <a:buNone/>
            </a:pPr>
            <a:r>
              <a:rPr b="1" i="0" lang="en-US" sz="1240" u="none" cap="none" strike="noStrike">
                <a:solidFill>
                  <a:srgbClr val="89949B"/>
                </a:solidFill>
                <a:latin typeface="Arial"/>
                <a:ea typeface="Arial"/>
                <a:cs typeface="Arial"/>
                <a:sym typeface="Arial"/>
              </a:rPr>
              <a:t>3. Plot raw signals + basic checks</a:t>
            </a:r>
            <a:endParaRPr b="0" i="0" sz="1240" u="none" cap="none" strike="noStrike">
              <a:solidFill>
                <a:schemeClr val="dk1"/>
              </a:solidFill>
              <a:latin typeface="Arial"/>
              <a:ea typeface="Arial"/>
              <a:cs typeface="Arial"/>
              <a:sym typeface="Arial"/>
            </a:endParaRPr>
          </a:p>
        </p:txBody>
      </p:sp>
      <p:cxnSp>
        <p:nvCxnSpPr>
          <p:cNvPr id="186" name="Google Shape;186;p9"/>
          <p:cNvCxnSpPr/>
          <p:nvPr/>
        </p:nvCxnSpPr>
        <p:spPr>
          <a:xfrm>
            <a:off x="3776472" y="1773936"/>
            <a:ext cx="630936" cy="0"/>
          </a:xfrm>
          <a:prstGeom prst="straightConnector1">
            <a:avLst/>
          </a:prstGeom>
          <a:noFill/>
          <a:ln cap="flat" cmpd="sng" w="20300">
            <a:solidFill>
              <a:srgbClr val="DDE4E7"/>
            </a:solidFill>
            <a:prstDash val="solid"/>
            <a:round/>
            <a:headEnd len="sm" w="sm" type="none"/>
            <a:tailEnd len="med" w="med" type="triangle"/>
          </a:ln>
        </p:spPr>
      </p:cxnSp>
      <p:cxnSp>
        <p:nvCxnSpPr>
          <p:cNvPr id="187" name="Google Shape;187;p9"/>
          <p:cNvCxnSpPr/>
          <p:nvPr/>
        </p:nvCxnSpPr>
        <p:spPr>
          <a:xfrm>
            <a:off x="7708392" y="1773936"/>
            <a:ext cx="630936" cy="0"/>
          </a:xfrm>
          <a:prstGeom prst="straightConnector1">
            <a:avLst/>
          </a:prstGeom>
          <a:noFill/>
          <a:ln cap="flat" cmpd="sng" w="20300">
            <a:solidFill>
              <a:srgbClr val="DDE4E7"/>
            </a:solidFill>
            <a:prstDash val="solid"/>
            <a:round/>
            <a:headEnd len="sm" w="sm" type="none"/>
            <a:tailEnd len="med" w="med" type="triangle"/>
          </a:ln>
        </p:spPr>
      </p:cxnSp>
      <p:sp>
        <p:nvSpPr>
          <p:cNvPr id="188" name="Google Shape;188;p9"/>
          <p:cNvSpPr txBox="1"/>
          <p:nvPr/>
        </p:nvSpPr>
        <p:spPr>
          <a:xfrm>
            <a:off x="1828800" y="2267712"/>
            <a:ext cx="8503920" cy="25603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61717D"/>
              </a:buClr>
              <a:buSzPts val="1120"/>
              <a:buFont typeface="Arial"/>
              <a:buNone/>
            </a:pPr>
            <a:r>
              <a:rPr b="0" i="1" lang="en-US" sz="1120" u="none" cap="none" strike="noStrike">
                <a:solidFill>
                  <a:srgbClr val="61717D"/>
                </a:solidFill>
                <a:latin typeface="Arial"/>
                <a:ea typeface="Arial"/>
                <a:cs typeface="Arial"/>
                <a:sym typeface="Arial"/>
              </a:rPr>
              <a:t>Then the work splits into three connected analyses</a:t>
            </a:r>
            <a:endParaRPr b="0" i="0" sz="1120" u="none" cap="none" strike="noStrike">
              <a:solidFill>
                <a:schemeClr val="dk1"/>
              </a:solidFill>
              <a:latin typeface="Arial"/>
              <a:ea typeface="Arial"/>
              <a:cs typeface="Arial"/>
              <a:sym typeface="Arial"/>
            </a:endParaRPr>
          </a:p>
        </p:txBody>
      </p:sp>
      <p:sp>
        <p:nvSpPr>
          <p:cNvPr id="189" name="Google Shape;189;p9"/>
          <p:cNvSpPr/>
          <p:nvPr/>
        </p:nvSpPr>
        <p:spPr>
          <a:xfrm>
            <a:off x="530352" y="2633472"/>
            <a:ext cx="3429000" cy="713232"/>
          </a:xfrm>
          <a:prstGeom prst="roundRect">
            <a:avLst>
              <a:gd fmla="val 12821" name="adj"/>
            </a:avLst>
          </a:prstGeom>
          <a:solidFill>
            <a:srgbClr val="E8F2EF"/>
          </a:solidFill>
          <a:ln cap="flat" cmpd="sng" w="14600">
            <a:solidFill>
              <a:srgbClr val="4E92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9"/>
          <p:cNvSpPr txBox="1"/>
          <p:nvPr/>
        </p:nvSpPr>
        <p:spPr>
          <a:xfrm>
            <a:off x="612648" y="2679192"/>
            <a:ext cx="3264408" cy="6217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03447"/>
              </a:buClr>
              <a:buSzPts val="1210"/>
              <a:buFont typeface="Arial"/>
              <a:buNone/>
            </a:pPr>
            <a:r>
              <a:rPr b="1" i="0" lang="en-US" sz="1210" u="none" cap="none" strike="noStrike">
                <a:solidFill>
                  <a:srgbClr val="203447"/>
                </a:solidFill>
                <a:latin typeface="Arial"/>
                <a:ea typeface="Arial"/>
                <a:cs typeface="Arial"/>
                <a:sym typeface="Arial"/>
              </a:rPr>
              <a:t>DWT</a:t>
            </a:r>
            <a:endParaRPr b="0" i="0" sz="121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203447"/>
              </a:buClr>
              <a:buSzPts val="1210"/>
              <a:buFont typeface="Arial"/>
              <a:buNone/>
            </a:pPr>
            <a:r>
              <a:rPr b="1" i="0" lang="en-US" sz="1210" u="none" cap="none" strike="noStrike">
                <a:solidFill>
                  <a:srgbClr val="203447"/>
                </a:solidFill>
                <a:latin typeface="Arial"/>
                <a:ea typeface="Arial"/>
                <a:cs typeface="Arial"/>
                <a:sym typeface="Arial"/>
              </a:rPr>
              <a:t>Approximation + detail coefficients</a:t>
            </a:r>
            <a:endParaRPr b="0" i="0" sz="1210" u="none" cap="none" strike="noStrike">
              <a:solidFill>
                <a:schemeClr val="dk1"/>
              </a:solidFill>
              <a:latin typeface="Arial"/>
              <a:ea typeface="Arial"/>
              <a:cs typeface="Arial"/>
              <a:sym typeface="Arial"/>
            </a:endParaRPr>
          </a:p>
        </p:txBody>
      </p:sp>
      <p:sp>
        <p:nvSpPr>
          <p:cNvPr id="191" name="Google Shape;191;p9"/>
          <p:cNvSpPr/>
          <p:nvPr/>
        </p:nvSpPr>
        <p:spPr>
          <a:xfrm>
            <a:off x="4379976" y="2633472"/>
            <a:ext cx="3429000" cy="713232"/>
          </a:xfrm>
          <a:prstGeom prst="roundRect">
            <a:avLst>
              <a:gd fmla="val 12821" name="adj"/>
            </a:avLst>
          </a:prstGeom>
          <a:solidFill>
            <a:srgbClr val="E8F2EF"/>
          </a:solidFill>
          <a:ln cap="flat" cmpd="sng" w="14600">
            <a:solidFill>
              <a:srgbClr val="4E92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9"/>
          <p:cNvSpPr txBox="1"/>
          <p:nvPr/>
        </p:nvSpPr>
        <p:spPr>
          <a:xfrm>
            <a:off x="4462272" y="2679192"/>
            <a:ext cx="3264408" cy="6217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03447"/>
              </a:buClr>
              <a:buSzPts val="1210"/>
              <a:buFont typeface="Arial"/>
              <a:buNone/>
            </a:pPr>
            <a:r>
              <a:rPr b="1" i="0" lang="en-US" sz="1210" u="none" cap="none" strike="noStrike">
                <a:solidFill>
                  <a:srgbClr val="203447"/>
                </a:solidFill>
                <a:latin typeface="Arial"/>
                <a:ea typeface="Arial"/>
                <a:cs typeface="Arial"/>
                <a:sym typeface="Arial"/>
              </a:rPr>
              <a:t>CWT</a:t>
            </a:r>
            <a:endParaRPr b="0" i="0" sz="121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203447"/>
              </a:buClr>
              <a:buSzPts val="1210"/>
              <a:buFont typeface="Arial"/>
              <a:buNone/>
            </a:pPr>
            <a:r>
              <a:rPr b="1" i="0" lang="en-US" sz="1210" u="none" cap="none" strike="noStrike">
                <a:solidFill>
                  <a:srgbClr val="203447"/>
                </a:solidFill>
                <a:latin typeface="Arial"/>
                <a:ea typeface="Arial"/>
                <a:cs typeface="Arial"/>
                <a:sym typeface="Arial"/>
              </a:rPr>
              <a:t>Time–frequency scalograms</a:t>
            </a:r>
            <a:endParaRPr b="0" i="0" sz="1210" u="none" cap="none" strike="noStrike">
              <a:solidFill>
                <a:schemeClr val="dk1"/>
              </a:solidFill>
              <a:latin typeface="Arial"/>
              <a:ea typeface="Arial"/>
              <a:cs typeface="Arial"/>
              <a:sym typeface="Arial"/>
            </a:endParaRPr>
          </a:p>
        </p:txBody>
      </p:sp>
      <p:sp>
        <p:nvSpPr>
          <p:cNvPr id="193" name="Google Shape;193;p9"/>
          <p:cNvSpPr/>
          <p:nvPr/>
        </p:nvSpPr>
        <p:spPr>
          <a:xfrm>
            <a:off x="8229600" y="2633472"/>
            <a:ext cx="3429000" cy="713232"/>
          </a:xfrm>
          <a:prstGeom prst="roundRect">
            <a:avLst>
              <a:gd fmla="val 12821" name="adj"/>
            </a:avLst>
          </a:prstGeom>
          <a:solidFill>
            <a:srgbClr val="E8F2EF"/>
          </a:solidFill>
          <a:ln cap="flat" cmpd="sng" w="14600">
            <a:solidFill>
              <a:srgbClr val="4E92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9"/>
          <p:cNvSpPr txBox="1"/>
          <p:nvPr/>
        </p:nvSpPr>
        <p:spPr>
          <a:xfrm>
            <a:off x="8311896" y="2679192"/>
            <a:ext cx="3264408" cy="6217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03447"/>
              </a:buClr>
              <a:buSzPts val="1210"/>
              <a:buFont typeface="Arial"/>
              <a:buNone/>
            </a:pPr>
            <a:r>
              <a:rPr b="1" i="0" lang="en-US" sz="1210" u="none" cap="none" strike="noStrike">
                <a:solidFill>
                  <a:srgbClr val="203447"/>
                </a:solidFill>
                <a:latin typeface="Arial"/>
                <a:ea typeface="Arial"/>
                <a:cs typeface="Arial"/>
                <a:sym typeface="Arial"/>
              </a:rPr>
              <a:t>Denoising</a:t>
            </a:r>
            <a:endParaRPr b="0" i="0" sz="121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203447"/>
              </a:buClr>
              <a:buSzPts val="1210"/>
              <a:buFont typeface="Arial"/>
              <a:buNone/>
            </a:pPr>
            <a:r>
              <a:rPr b="1" i="0" lang="en-US" sz="1210" u="none" cap="none" strike="noStrike">
                <a:solidFill>
                  <a:srgbClr val="203447"/>
                </a:solidFill>
                <a:latin typeface="Arial"/>
                <a:ea typeface="Arial"/>
                <a:cs typeface="Arial"/>
                <a:sym typeface="Arial"/>
              </a:rPr>
              <a:t>Butterworth + wavelet thresholds</a:t>
            </a:r>
            <a:endParaRPr b="0" i="0" sz="1210" u="none" cap="none" strike="noStrike">
              <a:solidFill>
                <a:schemeClr val="dk1"/>
              </a:solidFill>
              <a:latin typeface="Arial"/>
              <a:ea typeface="Arial"/>
              <a:cs typeface="Arial"/>
              <a:sym typeface="Arial"/>
            </a:endParaRPr>
          </a:p>
        </p:txBody>
      </p:sp>
      <p:sp>
        <p:nvSpPr>
          <p:cNvPr id="195" name="Google Shape;195;p9"/>
          <p:cNvSpPr/>
          <p:nvPr/>
        </p:nvSpPr>
        <p:spPr>
          <a:xfrm>
            <a:off x="530352" y="3639312"/>
            <a:ext cx="3429000" cy="548640"/>
          </a:xfrm>
          <a:prstGeom prst="roundRect">
            <a:avLst>
              <a:gd fmla="val 16667" name="adj"/>
            </a:avLst>
          </a:prstGeom>
          <a:solidFill>
            <a:srgbClr val="E8F2EF"/>
          </a:solidFill>
          <a:ln cap="flat" cmpd="sng" w="14600">
            <a:solidFill>
              <a:srgbClr val="4E92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9"/>
          <p:cNvSpPr txBox="1"/>
          <p:nvPr/>
        </p:nvSpPr>
        <p:spPr>
          <a:xfrm>
            <a:off x="612648" y="3685032"/>
            <a:ext cx="3264408" cy="4572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03447"/>
              </a:buClr>
              <a:buSzPts val="1180"/>
              <a:buFont typeface="Arial"/>
              <a:buNone/>
            </a:pPr>
            <a:r>
              <a:rPr b="1" i="0" lang="en-US" sz="1180" u="none" cap="none" strike="noStrike">
                <a:solidFill>
                  <a:srgbClr val="203447"/>
                </a:solidFill>
                <a:latin typeface="Arial"/>
                <a:ea typeface="Arial"/>
                <a:cs typeface="Arial"/>
                <a:sym typeface="Arial"/>
              </a:rPr>
              <a:t>Energy distribution + entropy</a:t>
            </a:r>
            <a:endParaRPr b="0" i="0" sz="1180" u="none" cap="none" strike="noStrike">
              <a:solidFill>
                <a:schemeClr val="dk1"/>
              </a:solidFill>
              <a:latin typeface="Arial"/>
              <a:ea typeface="Arial"/>
              <a:cs typeface="Arial"/>
              <a:sym typeface="Arial"/>
            </a:endParaRPr>
          </a:p>
        </p:txBody>
      </p:sp>
      <p:sp>
        <p:nvSpPr>
          <p:cNvPr id="197" name="Google Shape;197;p9"/>
          <p:cNvSpPr/>
          <p:nvPr/>
        </p:nvSpPr>
        <p:spPr>
          <a:xfrm>
            <a:off x="4379976" y="3639312"/>
            <a:ext cx="3429000" cy="548640"/>
          </a:xfrm>
          <a:prstGeom prst="roundRect">
            <a:avLst>
              <a:gd fmla="val 16667" name="adj"/>
            </a:avLst>
          </a:prstGeom>
          <a:solidFill>
            <a:srgbClr val="E8F2EF"/>
          </a:solidFill>
          <a:ln cap="flat" cmpd="sng" w="14600">
            <a:solidFill>
              <a:srgbClr val="4E92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9"/>
          <p:cNvSpPr txBox="1"/>
          <p:nvPr/>
        </p:nvSpPr>
        <p:spPr>
          <a:xfrm>
            <a:off x="4462272" y="3685032"/>
            <a:ext cx="3264408" cy="4572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03447"/>
              </a:buClr>
              <a:buSzPts val="1180"/>
              <a:buFont typeface="Arial"/>
              <a:buNone/>
            </a:pPr>
            <a:r>
              <a:rPr b="1" i="0" lang="en-US" sz="1180" u="none" cap="none" strike="noStrike">
                <a:solidFill>
                  <a:srgbClr val="203447"/>
                </a:solidFill>
                <a:latin typeface="Arial"/>
                <a:ea typeface="Arial"/>
                <a:cs typeface="Arial"/>
                <a:sym typeface="Arial"/>
              </a:rPr>
              <a:t>Compare Morlet and Mexican Hat</a:t>
            </a:r>
            <a:endParaRPr b="0" i="0" sz="1180" u="none" cap="none" strike="noStrike">
              <a:solidFill>
                <a:schemeClr val="dk1"/>
              </a:solidFill>
              <a:latin typeface="Arial"/>
              <a:ea typeface="Arial"/>
              <a:cs typeface="Arial"/>
              <a:sym typeface="Arial"/>
            </a:endParaRPr>
          </a:p>
        </p:txBody>
      </p:sp>
      <p:sp>
        <p:nvSpPr>
          <p:cNvPr id="199" name="Google Shape;199;p9"/>
          <p:cNvSpPr/>
          <p:nvPr/>
        </p:nvSpPr>
        <p:spPr>
          <a:xfrm>
            <a:off x="8229600" y="3639312"/>
            <a:ext cx="3429000" cy="548640"/>
          </a:xfrm>
          <a:prstGeom prst="roundRect">
            <a:avLst>
              <a:gd fmla="val 16667" name="adj"/>
            </a:avLst>
          </a:prstGeom>
          <a:solidFill>
            <a:srgbClr val="E8F2EF"/>
          </a:solidFill>
          <a:ln cap="flat" cmpd="sng" w="14600">
            <a:solidFill>
              <a:srgbClr val="4E92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9"/>
          <p:cNvSpPr txBox="1"/>
          <p:nvPr/>
        </p:nvSpPr>
        <p:spPr>
          <a:xfrm>
            <a:off x="8311896" y="3685032"/>
            <a:ext cx="3264408" cy="4572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03447"/>
              </a:buClr>
              <a:buSzPts val="1180"/>
              <a:buFont typeface="Arial"/>
              <a:buNone/>
            </a:pPr>
            <a:r>
              <a:rPr b="1" i="0" lang="en-US" sz="1180" u="none" cap="none" strike="noStrike">
                <a:solidFill>
                  <a:srgbClr val="203447"/>
                </a:solidFill>
                <a:latin typeface="Arial"/>
                <a:ea typeface="Arial"/>
                <a:cs typeface="Arial"/>
                <a:sym typeface="Arial"/>
              </a:rPr>
              <a:t>Hard / soft / BayesShrink</a:t>
            </a:r>
            <a:endParaRPr b="0" i="0" sz="1180" u="none" cap="none" strike="noStrike">
              <a:solidFill>
                <a:schemeClr val="dk1"/>
              </a:solidFill>
              <a:latin typeface="Arial"/>
              <a:ea typeface="Arial"/>
              <a:cs typeface="Arial"/>
              <a:sym typeface="Arial"/>
            </a:endParaRPr>
          </a:p>
        </p:txBody>
      </p:sp>
      <p:cxnSp>
        <p:nvCxnSpPr>
          <p:cNvPr id="201" name="Google Shape;201;p9"/>
          <p:cNvCxnSpPr/>
          <p:nvPr/>
        </p:nvCxnSpPr>
        <p:spPr>
          <a:xfrm>
            <a:off x="2240280" y="3346704"/>
            <a:ext cx="0" cy="246888"/>
          </a:xfrm>
          <a:prstGeom prst="straightConnector1">
            <a:avLst/>
          </a:prstGeom>
          <a:noFill/>
          <a:ln cap="flat" cmpd="sng" w="16500">
            <a:solidFill>
              <a:srgbClr val="4E928B"/>
            </a:solidFill>
            <a:prstDash val="solid"/>
            <a:round/>
            <a:headEnd len="sm" w="sm" type="none"/>
            <a:tailEnd len="med" w="med" type="triangle"/>
          </a:ln>
        </p:spPr>
      </p:cxnSp>
      <p:cxnSp>
        <p:nvCxnSpPr>
          <p:cNvPr id="202" name="Google Shape;202;p9"/>
          <p:cNvCxnSpPr/>
          <p:nvPr/>
        </p:nvCxnSpPr>
        <p:spPr>
          <a:xfrm>
            <a:off x="6089904" y="3346704"/>
            <a:ext cx="0" cy="246888"/>
          </a:xfrm>
          <a:prstGeom prst="straightConnector1">
            <a:avLst/>
          </a:prstGeom>
          <a:noFill/>
          <a:ln cap="flat" cmpd="sng" w="16500">
            <a:solidFill>
              <a:srgbClr val="4E928B"/>
            </a:solidFill>
            <a:prstDash val="solid"/>
            <a:round/>
            <a:headEnd len="sm" w="sm" type="none"/>
            <a:tailEnd len="med" w="med" type="triangle"/>
          </a:ln>
        </p:spPr>
      </p:cxnSp>
      <p:cxnSp>
        <p:nvCxnSpPr>
          <p:cNvPr id="203" name="Google Shape;203;p9"/>
          <p:cNvCxnSpPr/>
          <p:nvPr/>
        </p:nvCxnSpPr>
        <p:spPr>
          <a:xfrm>
            <a:off x="9939528" y="3346704"/>
            <a:ext cx="0" cy="246888"/>
          </a:xfrm>
          <a:prstGeom prst="straightConnector1">
            <a:avLst/>
          </a:prstGeom>
          <a:noFill/>
          <a:ln cap="flat" cmpd="sng" w="16500">
            <a:solidFill>
              <a:srgbClr val="4E928B"/>
            </a:solidFill>
            <a:prstDash val="solid"/>
            <a:round/>
            <a:headEnd len="sm" w="sm" type="none"/>
            <a:tailEnd len="med" w="med" type="triangle"/>
          </a:ln>
        </p:spPr>
      </p:cxnSp>
      <p:sp>
        <p:nvSpPr>
          <p:cNvPr id="204" name="Google Shape;204;p9"/>
          <p:cNvSpPr/>
          <p:nvPr/>
        </p:nvSpPr>
        <p:spPr>
          <a:xfrm>
            <a:off x="530352" y="4553712"/>
            <a:ext cx="3429000" cy="621792"/>
          </a:xfrm>
          <a:prstGeom prst="roundRect">
            <a:avLst>
              <a:gd fmla="val 14706" name="adj"/>
            </a:avLst>
          </a:prstGeom>
          <a:solidFill>
            <a:srgbClr val="F0F1EE"/>
          </a:solidFill>
          <a:ln cap="flat" cmpd="sng" w="14600">
            <a:solidFill>
              <a:srgbClr val="DD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9"/>
          <p:cNvSpPr txBox="1"/>
          <p:nvPr/>
        </p:nvSpPr>
        <p:spPr>
          <a:xfrm>
            <a:off x="612648" y="4599432"/>
            <a:ext cx="3264408" cy="5303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9949B"/>
              </a:buClr>
              <a:buSzPts val="1180"/>
              <a:buFont typeface="Arial"/>
              <a:buNone/>
            </a:pPr>
            <a:r>
              <a:rPr b="1" i="0" lang="en-US" sz="1180" u="none" cap="none" strike="noStrike">
                <a:solidFill>
                  <a:srgbClr val="89949B"/>
                </a:solidFill>
                <a:latin typeface="Arial"/>
                <a:ea typeface="Arial"/>
                <a:cs typeface="Arial"/>
                <a:sym typeface="Arial"/>
              </a:rPr>
              <a:t>Reconstruct and align signal length</a:t>
            </a:r>
            <a:endParaRPr b="0" i="0" sz="1180" u="none" cap="none" strike="noStrike">
              <a:solidFill>
                <a:schemeClr val="dk1"/>
              </a:solidFill>
              <a:latin typeface="Arial"/>
              <a:ea typeface="Arial"/>
              <a:cs typeface="Arial"/>
              <a:sym typeface="Arial"/>
            </a:endParaRPr>
          </a:p>
        </p:txBody>
      </p:sp>
      <p:sp>
        <p:nvSpPr>
          <p:cNvPr id="206" name="Google Shape;206;p9"/>
          <p:cNvSpPr/>
          <p:nvPr/>
        </p:nvSpPr>
        <p:spPr>
          <a:xfrm>
            <a:off x="4379976" y="4553712"/>
            <a:ext cx="3429000" cy="621792"/>
          </a:xfrm>
          <a:prstGeom prst="roundRect">
            <a:avLst>
              <a:gd fmla="val 14706" name="adj"/>
            </a:avLst>
          </a:prstGeom>
          <a:solidFill>
            <a:srgbClr val="F0F1EE"/>
          </a:solidFill>
          <a:ln cap="flat" cmpd="sng" w="14600">
            <a:solidFill>
              <a:srgbClr val="DD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9"/>
          <p:cNvSpPr txBox="1"/>
          <p:nvPr/>
        </p:nvSpPr>
        <p:spPr>
          <a:xfrm>
            <a:off x="4462272" y="4599432"/>
            <a:ext cx="3264408" cy="5303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9949B"/>
              </a:buClr>
              <a:buSzPts val="1100"/>
              <a:buFont typeface="Arial"/>
              <a:buNone/>
            </a:pPr>
            <a:r>
              <a:rPr b="1" i="0" lang="en-US" sz="1100" u="none" cap="none" strike="noStrike">
                <a:solidFill>
                  <a:srgbClr val="89949B"/>
                </a:solidFill>
                <a:latin typeface="Arial"/>
                <a:ea typeface="Arial"/>
                <a:cs typeface="Arial"/>
                <a:sym typeface="Arial"/>
              </a:rPr>
              <a:t>Evaluate: RMSE, MAE, SNR, PRD, correlation, peaks</a:t>
            </a:r>
            <a:endParaRPr b="0" i="0" sz="1100" u="none" cap="none" strike="noStrike">
              <a:solidFill>
                <a:schemeClr val="dk1"/>
              </a:solidFill>
              <a:latin typeface="Arial"/>
              <a:ea typeface="Arial"/>
              <a:cs typeface="Arial"/>
              <a:sym typeface="Arial"/>
            </a:endParaRPr>
          </a:p>
        </p:txBody>
      </p:sp>
      <p:sp>
        <p:nvSpPr>
          <p:cNvPr id="208" name="Google Shape;208;p9"/>
          <p:cNvSpPr/>
          <p:nvPr/>
        </p:nvSpPr>
        <p:spPr>
          <a:xfrm>
            <a:off x="8229600" y="4553712"/>
            <a:ext cx="3429000" cy="621792"/>
          </a:xfrm>
          <a:prstGeom prst="roundRect">
            <a:avLst>
              <a:gd fmla="val 14706" name="adj"/>
            </a:avLst>
          </a:prstGeom>
          <a:solidFill>
            <a:srgbClr val="F0F1EE"/>
          </a:solidFill>
          <a:ln cap="flat" cmpd="sng" w="14600">
            <a:solidFill>
              <a:srgbClr val="DD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9"/>
          <p:cNvSpPr txBox="1"/>
          <p:nvPr/>
        </p:nvSpPr>
        <p:spPr>
          <a:xfrm>
            <a:off x="8311896" y="4599432"/>
            <a:ext cx="3264408" cy="5303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9949B"/>
              </a:buClr>
              <a:buSzPts val="1150"/>
              <a:buFont typeface="Arial"/>
              <a:buNone/>
            </a:pPr>
            <a:r>
              <a:rPr b="1" i="0" lang="en-US" sz="1150" u="none" cap="none" strike="noStrike">
                <a:solidFill>
                  <a:srgbClr val="89949B"/>
                </a:solidFill>
                <a:latin typeface="Arial"/>
                <a:ea typeface="Arial"/>
                <a:cs typeface="Arial"/>
                <a:sym typeface="Arial"/>
              </a:rPr>
              <a:t>Repeat selected steps across 10 records</a:t>
            </a:r>
            <a:endParaRPr b="0" i="0" sz="1150" u="none" cap="none" strike="noStrike">
              <a:solidFill>
                <a:schemeClr val="dk1"/>
              </a:solidFill>
              <a:latin typeface="Arial"/>
              <a:ea typeface="Arial"/>
              <a:cs typeface="Arial"/>
              <a:sym typeface="Arial"/>
            </a:endParaRPr>
          </a:p>
        </p:txBody>
      </p:sp>
      <p:cxnSp>
        <p:nvCxnSpPr>
          <p:cNvPr id="210" name="Google Shape;210;p9"/>
          <p:cNvCxnSpPr/>
          <p:nvPr/>
        </p:nvCxnSpPr>
        <p:spPr>
          <a:xfrm>
            <a:off x="9939528" y="4206240"/>
            <a:ext cx="0" cy="292608"/>
          </a:xfrm>
          <a:prstGeom prst="straightConnector1">
            <a:avLst/>
          </a:prstGeom>
          <a:noFill/>
          <a:ln cap="flat" cmpd="sng" w="15225">
            <a:solidFill>
              <a:srgbClr val="DDE4E7"/>
            </a:solidFill>
            <a:prstDash val="solid"/>
            <a:round/>
            <a:headEnd len="sm" w="sm" type="none"/>
            <a:tailEnd len="med" w="med" type="triangle"/>
          </a:ln>
        </p:spPr>
      </p:cxnSp>
      <p:cxnSp>
        <p:nvCxnSpPr>
          <p:cNvPr id="211" name="Google Shape;211;p9"/>
          <p:cNvCxnSpPr/>
          <p:nvPr/>
        </p:nvCxnSpPr>
        <p:spPr>
          <a:xfrm>
            <a:off x="3977640" y="4864608"/>
            <a:ext cx="338328" cy="0"/>
          </a:xfrm>
          <a:prstGeom prst="straightConnector1">
            <a:avLst/>
          </a:prstGeom>
          <a:noFill/>
          <a:ln cap="flat" cmpd="sng" w="17775">
            <a:solidFill>
              <a:srgbClr val="DDE4E7"/>
            </a:solidFill>
            <a:prstDash val="solid"/>
            <a:round/>
            <a:headEnd len="sm" w="sm" type="none"/>
            <a:tailEnd len="med" w="med" type="triangle"/>
          </a:ln>
        </p:spPr>
      </p:cxnSp>
      <p:cxnSp>
        <p:nvCxnSpPr>
          <p:cNvPr id="212" name="Google Shape;212;p9"/>
          <p:cNvCxnSpPr/>
          <p:nvPr/>
        </p:nvCxnSpPr>
        <p:spPr>
          <a:xfrm>
            <a:off x="7818120" y="4864608"/>
            <a:ext cx="347472" cy="0"/>
          </a:xfrm>
          <a:prstGeom prst="straightConnector1">
            <a:avLst/>
          </a:prstGeom>
          <a:noFill/>
          <a:ln cap="flat" cmpd="sng" w="17775">
            <a:solidFill>
              <a:srgbClr val="DDE4E7"/>
            </a:solidFill>
            <a:prstDash val="solid"/>
            <a:round/>
            <a:headEnd len="sm" w="sm" type="none"/>
            <a:tailEnd len="med" w="med" type="triangle"/>
          </a:ln>
        </p:spPr>
      </p:cxnSp>
      <p:sp>
        <p:nvSpPr>
          <p:cNvPr id="213" name="Google Shape;213;p9"/>
          <p:cNvSpPr/>
          <p:nvPr/>
        </p:nvSpPr>
        <p:spPr>
          <a:xfrm>
            <a:off x="3383280" y="5449824"/>
            <a:ext cx="5394960" cy="521208"/>
          </a:xfrm>
          <a:prstGeom prst="roundRect">
            <a:avLst>
              <a:gd fmla="val 17544" name="adj"/>
            </a:avLst>
          </a:prstGeom>
          <a:solidFill>
            <a:srgbClr val="F0F1EE"/>
          </a:solidFill>
          <a:ln cap="flat" cmpd="sng" w="14600">
            <a:solidFill>
              <a:srgbClr val="DD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9"/>
          <p:cNvSpPr txBox="1"/>
          <p:nvPr/>
        </p:nvSpPr>
        <p:spPr>
          <a:xfrm>
            <a:off x="3465576" y="5495544"/>
            <a:ext cx="5230368" cy="42976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9949B"/>
              </a:buClr>
              <a:buSzPts val="1200"/>
              <a:buFont typeface="Arial"/>
              <a:buNone/>
            </a:pPr>
            <a:r>
              <a:rPr b="1" i="0" lang="en-US" sz="1200" u="none" cap="none" strike="noStrike">
                <a:solidFill>
                  <a:srgbClr val="89949B"/>
                </a:solidFill>
                <a:latin typeface="Arial"/>
                <a:ea typeface="Arial"/>
                <a:cs typeface="Arial"/>
                <a:sym typeface="Arial"/>
              </a:rPr>
              <a:t>Compare records and investigate unusual signal behaviour</a:t>
            </a:r>
            <a:endParaRPr b="0" i="0" sz="1200" u="none" cap="none" strike="noStrike">
              <a:solidFill>
                <a:schemeClr val="dk1"/>
              </a:solidFill>
              <a:latin typeface="Arial"/>
              <a:ea typeface="Arial"/>
              <a:cs typeface="Arial"/>
              <a:sym typeface="Arial"/>
            </a:endParaRPr>
          </a:p>
        </p:txBody>
      </p:sp>
      <p:cxnSp>
        <p:nvCxnSpPr>
          <p:cNvPr id="215" name="Google Shape;215;p9"/>
          <p:cNvCxnSpPr/>
          <p:nvPr/>
        </p:nvCxnSpPr>
        <p:spPr>
          <a:xfrm flipH="1">
            <a:off x="8668512" y="5175504"/>
            <a:ext cx="1271016" cy="237744"/>
          </a:xfrm>
          <a:prstGeom prst="straightConnector1">
            <a:avLst/>
          </a:prstGeom>
          <a:noFill/>
          <a:ln cap="flat" cmpd="sng" w="15875">
            <a:solidFill>
              <a:srgbClr val="DDE4E7"/>
            </a:solidFill>
            <a:prstDash val="solid"/>
            <a:round/>
            <a:headEnd len="sm" w="sm" type="none"/>
            <a:tailEnd len="med" w="med" type="triangle"/>
          </a:ln>
        </p:spPr>
      </p:cxnSp>
      <p:sp>
        <p:nvSpPr>
          <p:cNvPr id="216" name="Google Shape;216;p9"/>
          <p:cNvSpPr txBox="1"/>
          <p:nvPr/>
        </p:nvSpPr>
        <p:spPr>
          <a:xfrm>
            <a:off x="694944" y="6053328"/>
            <a:ext cx="10881360" cy="29260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4E928B"/>
              </a:buClr>
              <a:buSzPts val="1140"/>
              <a:buFont typeface="Arial"/>
              <a:buNone/>
            </a:pPr>
            <a:r>
              <a:rPr b="1" i="0" lang="en-US" sz="1140" u="none" cap="none" strike="noStrike">
                <a:solidFill>
                  <a:srgbClr val="4E928B"/>
                </a:solidFill>
                <a:latin typeface="Arial"/>
                <a:ea typeface="Arial"/>
                <a:cs typeface="Arial"/>
                <a:sym typeface="Arial"/>
              </a:rPr>
              <a:t>DWT = coefficients across scales   •   CWT = activity over time and frequency   •   Denoising = modify and reconstruct</a:t>
            </a:r>
            <a:endParaRPr b="0" i="0" sz="1140" u="none" cap="none" strike="noStrike">
              <a:solidFill>
                <a:schemeClr val="dk1"/>
              </a:solidFill>
              <a:latin typeface="Arial"/>
              <a:ea typeface="Arial"/>
              <a:cs typeface="Arial"/>
              <a:sym typeface="Arial"/>
            </a:endParaRPr>
          </a:p>
        </p:txBody>
      </p:sp>
      <p:sp>
        <p:nvSpPr>
          <p:cNvPr id="217" name="Google Shape;217;p9"/>
          <p:cNvSpPr txBox="1"/>
          <p:nvPr>
            <p:ph idx="4294967295" type="sldNum"/>
          </p:nvPr>
        </p:nvSpPr>
        <p:spPr>
          <a:xfrm>
            <a:off x="11338560" y="653796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800" u="none" cap="none" strike="noStrike">
                <a:solidFill>
                  <a:srgbClr val="7A858D"/>
                </a:solidFill>
                <a:latin typeface="Arial"/>
                <a:ea typeface="Arial"/>
                <a:cs typeface="Arial"/>
                <a:sym typeface="Arial"/>
              </a:rPr>
              <a:t>‹#›</a:t>
            </a:fld>
            <a:endParaRPr b="0" i="0" sz="800" u="none" cap="none" strike="noStrike">
              <a:solidFill>
                <a:srgbClr val="7A858D"/>
              </a:solidFill>
              <a:latin typeface="Arial"/>
              <a:ea typeface="Arial"/>
              <a:cs typeface="Arial"/>
              <a:sym typeface="Arial"/>
            </a:endParaRP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222" name="Shape 222"/>
        <p:cNvGrpSpPr/>
        <p:nvPr/>
      </p:nvGrpSpPr>
      <p:grpSpPr>
        <a:xfrm>
          <a:off x="0" y="0"/>
          <a:ext cx="0" cy="0"/>
          <a:chOff x="0" y="0"/>
          <a:chExt cx="0" cy="0"/>
        </a:xfrm>
      </p:grpSpPr>
      <p:sp>
        <p:nvSpPr>
          <p:cNvPr id="223" name="Google Shape;223;p10"/>
          <p:cNvSpPr/>
          <p:nvPr/>
        </p:nvSpPr>
        <p:spPr>
          <a:xfrm>
            <a:off x="9646920" y="274320"/>
            <a:ext cx="2084832" cy="310896"/>
          </a:xfrm>
          <a:prstGeom prst="roundRect">
            <a:avLst>
              <a:gd fmla="val 29412" name="adj"/>
            </a:avLst>
          </a:prstGeom>
          <a:solidFill>
            <a:srgbClr val="EAF2F5"/>
          </a:solidFill>
          <a:ln cap="flat" cmpd="sng" w="9525">
            <a:solidFill>
              <a:srgbClr val="EAF2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0"/>
          <p:cNvSpPr txBox="1"/>
          <p:nvPr/>
        </p:nvSpPr>
        <p:spPr>
          <a:xfrm>
            <a:off x="9710928" y="310896"/>
            <a:ext cx="1956816" cy="21945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397DA3"/>
              </a:buClr>
              <a:buSzPts val="850"/>
              <a:buFont typeface="Arial"/>
              <a:buNone/>
            </a:pPr>
            <a:r>
              <a:rPr b="1" i="0" lang="en-US" sz="850" u="none" cap="none" strike="noStrike">
                <a:solidFill>
                  <a:srgbClr val="397DA3"/>
                </a:solidFill>
                <a:latin typeface="Arial"/>
                <a:ea typeface="Arial"/>
                <a:cs typeface="Arial"/>
                <a:sym typeface="Arial"/>
              </a:rPr>
              <a:t>WORKFLOW ZOOM</a:t>
            </a:r>
            <a:endParaRPr b="0" i="0" sz="850" u="none" cap="none" strike="noStrike">
              <a:solidFill>
                <a:schemeClr val="dk1"/>
              </a:solidFill>
              <a:latin typeface="Arial"/>
              <a:ea typeface="Arial"/>
              <a:cs typeface="Arial"/>
              <a:sym typeface="Arial"/>
            </a:endParaRPr>
          </a:p>
        </p:txBody>
      </p:sp>
      <p:sp>
        <p:nvSpPr>
          <p:cNvPr id="225" name="Google Shape;225;p10"/>
          <p:cNvSpPr txBox="1"/>
          <p:nvPr/>
        </p:nvSpPr>
        <p:spPr>
          <a:xfrm>
            <a:off x="438912" y="292608"/>
            <a:ext cx="896112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2700"/>
              <a:buFont typeface="Play"/>
              <a:buNone/>
            </a:pPr>
            <a:r>
              <a:rPr b="1" i="0" lang="en-US" sz="2700" u="none" cap="none" strike="noStrike">
                <a:solidFill>
                  <a:srgbClr val="203447"/>
                </a:solidFill>
                <a:latin typeface="Play"/>
                <a:ea typeface="Play"/>
                <a:cs typeface="Play"/>
                <a:sym typeface="Play"/>
              </a:rPr>
              <a:t>Road map, part 3: evaluate, then scale up</a:t>
            </a:r>
            <a:endParaRPr b="0" i="0" sz="2700" u="none" cap="none" strike="noStrike">
              <a:solidFill>
                <a:schemeClr val="dk1"/>
              </a:solidFill>
              <a:latin typeface="Arial"/>
              <a:ea typeface="Arial"/>
              <a:cs typeface="Arial"/>
              <a:sym typeface="Arial"/>
            </a:endParaRPr>
          </a:p>
        </p:txBody>
      </p:sp>
      <p:sp>
        <p:nvSpPr>
          <p:cNvPr id="226" name="Google Shape;226;p10"/>
          <p:cNvSpPr txBox="1"/>
          <p:nvPr/>
        </p:nvSpPr>
        <p:spPr>
          <a:xfrm>
            <a:off x="457200" y="804672"/>
            <a:ext cx="11064240" cy="32918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1717D"/>
              </a:buClr>
              <a:buSzPts val="1250"/>
              <a:buFont typeface="Arial"/>
              <a:buNone/>
            </a:pPr>
            <a:r>
              <a:rPr b="0" i="0" lang="en-US" sz="1250" u="none" cap="none" strike="noStrike">
                <a:solidFill>
                  <a:srgbClr val="61717D"/>
                </a:solidFill>
                <a:latin typeface="Arial"/>
                <a:ea typeface="Arial"/>
                <a:cs typeface="Arial"/>
                <a:sym typeface="Arial"/>
              </a:rPr>
              <a:t>A result is useful only if we can explain how it was measured</a:t>
            </a:r>
            <a:endParaRPr b="0" i="0" sz="1250" u="none" cap="none" strike="noStrike">
              <a:solidFill>
                <a:schemeClr val="dk1"/>
              </a:solidFill>
              <a:latin typeface="Arial"/>
              <a:ea typeface="Arial"/>
              <a:cs typeface="Arial"/>
              <a:sym typeface="Arial"/>
            </a:endParaRPr>
          </a:p>
        </p:txBody>
      </p:sp>
      <p:cxnSp>
        <p:nvCxnSpPr>
          <p:cNvPr id="227" name="Google Shape;227;p10"/>
          <p:cNvCxnSpPr/>
          <p:nvPr/>
        </p:nvCxnSpPr>
        <p:spPr>
          <a:xfrm>
            <a:off x="438912" y="1197864"/>
            <a:ext cx="11292840" cy="0"/>
          </a:xfrm>
          <a:prstGeom prst="straightConnector1">
            <a:avLst/>
          </a:prstGeom>
          <a:noFill/>
          <a:ln cap="flat" cmpd="sng" w="22850">
            <a:solidFill>
              <a:srgbClr val="4E928B"/>
            </a:solidFill>
            <a:prstDash val="solid"/>
            <a:round/>
            <a:headEnd len="sm" w="sm" type="none"/>
            <a:tailEnd len="sm" w="sm" type="none"/>
          </a:ln>
        </p:spPr>
      </p:cxnSp>
      <p:sp>
        <p:nvSpPr>
          <p:cNvPr id="228" name="Google Shape;228;p10"/>
          <p:cNvSpPr/>
          <p:nvPr/>
        </p:nvSpPr>
        <p:spPr>
          <a:xfrm>
            <a:off x="530352" y="1490472"/>
            <a:ext cx="3246120" cy="576072"/>
          </a:xfrm>
          <a:prstGeom prst="roundRect">
            <a:avLst>
              <a:gd fmla="val 15873" name="adj"/>
            </a:avLst>
          </a:prstGeom>
          <a:solidFill>
            <a:srgbClr val="F0F1EE"/>
          </a:solidFill>
          <a:ln cap="flat" cmpd="sng" w="14600">
            <a:solidFill>
              <a:srgbClr val="DD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0"/>
          <p:cNvSpPr txBox="1"/>
          <p:nvPr/>
        </p:nvSpPr>
        <p:spPr>
          <a:xfrm>
            <a:off x="612648" y="1536192"/>
            <a:ext cx="3081528" cy="48463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9949B"/>
              </a:buClr>
              <a:buSzPts val="1240"/>
              <a:buFont typeface="Arial"/>
              <a:buNone/>
            </a:pPr>
            <a:r>
              <a:rPr b="1" i="0" lang="en-US" sz="1240" u="none" cap="none" strike="noStrike">
                <a:solidFill>
                  <a:srgbClr val="89949B"/>
                </a:solidFill>
                <a:latin typeface="Arial"/>
                <a:ea typeface="Arial"/>
                <a:cs typeface="Arial"/>
                <a:sym typeface="Arial"/>
              </a:rPr>
              <a:t>1. Select record + 8-second window</a:t>
            </a:r>
            <a:endParaRPr b="0" i="0" sz="1240" u="none" cap="none" strike="noStrike">
              <a:solidFill>
                <a:schemeClr val="dk1"/>
              </a:solidFill>
              <a:latin typeface="Arial"/>
              <a:ea typeface="Arial"/>
              <a:cs typeface="Arial"/>
              <a:sym typeface="Arial"/>
            </a:endParaRPr>
          </a:p>
        </p:txBody>
      </p:sp>
      <p:sp>
        <p:nvSpPr>
          <p:cNvPr id="230" name="Google Shape;230;p10"/>
          <p:cNvSpPr/>
          <p:nvPr/>
        </p:nvSpPr>
        <p:spPr>
          <a:xfrm>
            <a:off x="4462272" y="1490472"/>
            <a:ext cx="3246120" cy="576072"/>
          </a:xfrm>
          <a:prstGeom prst="roundRect">
            <a:avLst>
              <a:gd fmla="val 15873" name="adj"/>
            </a:avLst>
          </a:prstGeom>
          <a:solidFill>
            <a:srgbClr val="F0F1EE"/>
          </a:solidFill>
          <a:ln cap="flat" cmpd="sng" w="14600">
            <a:solidFill>
              <a:srgbClr val="DD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0"/>
          <p:cNvSpPr txBox="1"/>
          <p:nvPr/>
        </p:nvSpPr>
        <p:spPr>
          <a:xfrm>
            <a:off x="4544568" y="1536192"/>
            <a:ext cx="3081528" cy="48463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9949B"/>
              </a:buClr>
              <a:buSzPts val="1240"/>
              <a:buFont typeface="Arial"/>
              <a:buNone/>
            </a:pPr>
            <a:r>
              <a:rPr b="1" i="0" lang="en-US" sz="1240" u="none" cap="none" strike="noStrike">
                <a:solidFill>
                  <a:srgbClr val="89949B"/>
                </a:solidFill>
                <a:latin typeface="Arial"/>
                <a:ea typeface="Arial"/>
                <a:cs typeface="Arial"/>
                <a:sym typeface="Arial"/>
              </a:rPr>
              <a:t>2. Extract ECG Lead II + PPG Pleth</a:t>
            </a:r>
            <a:endParaRPr b="0" i="0" sz="1240" u="none" cap="none" strike="noStrike">
              <a:solidFill>
                <a:schemeClr val="dk1"/>
              </a:solidFill>
              <a:latin typeface="Arial"/>
              <a:ea typeface="Arial"/>
              <a:cs typeface="Arial"/>
              <a:sym typeface="Arial"/>
            </a:endParaRPr>
          </a:p>
        </p:txBody>
      </p:sp>
      <p:sp>
        <p:nvSpPr>
          <p:cNvPr id="232" name="Google Shape;232;p10"/>
          <p:cNvSpPr/>
          <p:nvPr/>
        </p:nvSpPr>
        <p:spPr>
          <a:xfrm>
            <a:off x="8394192" y="1490472"/>
            <a:ext cx="3246120" cy="576072"/>
          </a:xfrm>
          <a:prstGeom prst="roundRect">
            <a:avLst>
              <a:gd fmla="val 15873" name="adj"/>
            </a:avLst>
          </a:prstGeom>
          <a:solidFill>
            <a:srgbClr val="F0F1EE"/>
          </a:solidFill>
          <a:ln cap="flat" cmpd="sng" w="14600">
            <a:solidFill>
              <a:srgbClr val="DD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0"/>
          <p:cNvSpPr txBox="1"/>
          <p:nvPr/>
        </p:nvSpPr>
        <p:spPr>
          <a:xfrm>
            <a:off x="8476488" y="1536192"/>
            <a:ext cx="3081528" cy="48463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9949B"/>
              </a:buClr>
              <a:buSzPts val="1240"/>
              <a:buFont typeface="Arial"/>
              <a:buNone/>
            </a:pPr>
            <a:r>
              <a:rPr b="1" i="0" lang="en-US" sz="1240" u="none" cap="none" strike="noStrike">
                <a:solidFill>
                  <a:srgbClr val="89949B"/>
                </a:solidFill>
                <a:latin typeface="Arial"/>
                <a:ea typeface="Arial"/>
                <a:cs typeface="Arial"/>
                <a:sym typeface="Arial"/>
              </a:rPr>
              <a:t>3. Plot raw signals + basic checks</a:t>
            </a:r>
            <a:endParaRPr b="0" i="0" sz="1240" u="none" cap="none" strike="noStrike">
              <a:solidFill>
                <a:schemeClr val="dk1"/>
              </a:solidFill>
              <a:latin typeface="Arial"/>
              <a:ea typeface="Arial"/>
              <a:cs typeface="Arial"/>
              <a:sym typeface="Arial"/>
            </a:endParaRPr>
          </a:p>
        </p:txBody>
      </p:sp>
      <p:cxnSp>
        <p:nvCxnSpPr>
          <p:cNvPr id="234" name="Google Shape;234;p10"/>
          <p:cNvCxnSpPr/>
          <p:nvPr/>
        </p:nvCxnSpPr>
        <p:spPr>
          <a:xfrm>
            <a:off x="3776472" y="1773936"/>
            <a:ext cx="630936" cy="0"/>
          </a:xfrm>
          <a:prstGeom prst="straightConnector1">
            <a:avLst/>
          </a:prstGeom>
          <a:noFill/>
          <a:ln cap="flat" cmpd="sng" w="20300">
            <a:solidFill>
              <a:srgbClr val="DDE4E7"/>
            </a:solidFill>
            <a:prstDash val="solid"/>
            <a:round/>
            <a:headEnd len="sm" w="sm" type="none"/>
            <a:tailEnd len="med" w="med" type="triangle"/>
          </a:ln>
        </p:spPr>
      </p:cxnSp>
      <p:cxnSp>
        <p:nvCxnSpPr>
          <p:cNvPr id="235" name="Google Shape;235;p10"/>
          <p:cNvCxnSpPr/>
          <p:nvPr/>
        </p:nvCxnSpPr>
        <p:spPr>
          <a:xfrm>
            <a:off x="7708392" y="1773936"/>
            <a:ext cx="630936" cy="0"/>
          </a:xfrm>
          <a:prstGeom prst="straightConnector1">
            <a:avLst/>
          </a:prstGeom>
          <a:noFill/>
          <a:ln cap="flat" cmpd="sng" w="20300">
            <a:solidFill>
              <a:srgbClr val="DDE4E7"/>
            </a:solidFill>
            <a:prstDash val="solid"/>
            <a:round/>
            <a:headEnd len="sm" w="sm" type="none"/>
            <a:tailEnd len="med" w="med" type="triangle"/>
          </a:ln>
        </p:spPr>
      </p:cxnSp>
      <p:sp>
        <p:nvSpPr>
          <p:cNvPr id="236" name="Google Shape;236;p10"/>
          <p:cNvSpPr txBox="1"/>
          <p:nvPr/>
        </p:nvSpPr>
        <p:spPr>
          <a:xfrm>
            <a:off x="1828800" y="2267712"/>
            <a:ext cx="8503920" cy="25603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61717D"/>
              </a:buClr>
              <a:buSzPts val="1120"/>
              <a:buFont typeface="Arial"/>
              <a:buNone/>
            </a:pPr>
            <a:r>
              <a:rPr b="0" i="1" lang="en-US" sz="1120" u="none" cap="none" strike="noStrike">
                <a:solidFill>
                  <a:srgbClr val="61717D"/>
                </a:solidFill>
                <a:latin typeface="Arial"/>
                <a:ea typeface="Arial"/>
                <a:cs typeface="Arial"/>
                <a:sym typeface="Arial"/>
              </a:rPr>
              <a:t>Then the work splits into three connected analyses</a:t>
            </a:r>
            <a:endParaRPr b="0" i="0" sz="1120" u="none" cap="none" strike="noStrike">
              <a:solidFill>
                <a:schemeClr val="dk1"/>
              </a:solidFill>
              <a:latin typeface="Arial"/>
              <a:ea typeface="Arial"/>
              <a:cs typeface="Arial"/>
              <a:sym typeface="Arial"/>
            </a:endParaRPr>
          </a:p>
        </p:txBody>
      </p:sp>
      <p:sp>
        <p:nvSpPr>
          <p:cNvPr id="237" name="Google Shape;237;p10"/>
          <p:cNvSpPr/>
          <p:nvPr/>
        </p:nvSpPr>
        <p:spPr>
          <a:xfrm>
            <a:off x="530352" y="2633472"/>
            <a:ext cx="3429000" cy="713232"/>
          </a:xfrm>
          <a:prstGeom prst="roundRect">
            <a:avLst>
              <a:gd fmla="val 12821" name="adj"/>
            </a:avLst>
          </a:prstGeom>
          <a:solidFill>
            <a:srgbClr val="F0F1EE"/>
          </a:solidFill>
          <a:ln cap="flat" cmpd="sng" w="14600">
            <a:solidFill>
              <a:srgbClr val="DD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0"/>
          <p:cNvSpPr txBox="1"/>
          <p:nvPr/>
        </p:nvSpPr>
        <p:spPr>
          <a:xfrm>
            <a:off x="612648" y="2679192"/>
            <a:ext cx="3264408" cy="6217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9949B"/>
              </a:buClr>
              <a:buSzPts val="1210"/>
              <a:buFont typeface="Arial"/>
              <a:buNone/>
            </a:pPr>
            <a:r>
              <a:rPr b="1" i="0" lang="en-US" sz="1210" u="none" cap="none" strike="noStrike">
                <a:solidFill>
                  <a:srgbClr val="89949B"/>
                </a:solidFill>
                <a:latin typeface="Arial"/>
                <a:ea typeface="Arial"/>
                <a:cs typeface="Arial"/>
                <a:sym typeface="Arial"/>
              </a:rPr>
              <a:t>DWT</a:t>
            </a:r>
            <a:endParaRPr b="0" i="0" sz="121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89949B"/>
              </a:buClr>
              <a:buSzPts val="1210"/>
              <a:buFont typeface="Arial"/>
              <a:buNone/>
            </a:pPr>
            <a:r>
              <a:rPr b="1" i="0" lang="en-US" sz="1210" u="none" cap="none" strike="noStrike">
                <a:solidFill>
                  <a:srgbClr val="89949B"/>
                </a:solidFill>
                <a:latin typeface="Arial"/>
                <a:ea typeface="Arial"/>
                <a:cs typeface="Arial"/>
                <a:sym typeface="Arial"/>
              </a:rPr>
              <a:t>Approximation + detail coefficients</a:t>
            </a:r>
            <a:endParaRPr b="0" i="0" sz="1210" u="none" cap="none" strike="noStrike">
              <a:solidFill>
                <a:schemeClr val="dk1"/>
              </a:solidFill>
              <a:latin typeface="Arial"/>
              <a:ea typeface="Arial"/>
              <a:cs typeface="Arial"/>
              <a:sym typeface="Arial"/>
            </a:endParaRPr>
          </a:p>
        </p:txBody>
      </p:sp>
      <p:sp>
        <p:nvSpPr>
          <p:cNvPr id="239" name="Google Shape;239;p10"/>
          <p:cNvSpPr/>
          <p:nvPr/>
        </p:nvSpPr>
        <p:spPr>
          <a:xfrm>
            <a:off x="4379976" y="2633472"/>
            <a:ext cx="3429000" cy="713232"/>
          </a:xfrm>
          <a:prstGeom prst="roundRect">
            <a:avLst>
              <a:gd fmla="val 12821" name="adj"/>
            </a:avLst>
          </a:prstGeom>
          <a:solidFill>
            <a:srgbClr val="F0F1EE"/>
          </a:solidFill>
          <a:ln cap="flat" cmpd="sng" w="14600">
            <a:solidFill>
              <a:srgbClr val="DD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0"/>
          <p:cNvSpPr txBox="1"/>
          <p:nvPr/>
        </p:nvSpPr>
        <p:spPr>
          <a:xfrm>
            <a:off x="4462272" y="2679192"/>
            <a:ext cx="3264408" cy="6217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9949B"/>
              </a:buClr>
              <a:buSzPts val="1210"/>
              <a:buFont typeface="Arial"/>
              <a:buNone/>
            </a:pPr>
            <a:r>
              <a:rPr b="1" i="0" lang="en-US" sz="1210" u="none" cap="none" strike="noStrike">
                <a:solidFill>
                  <a:srgbClr val="89949B"/>
                </a:solidFill>
                <a:latin typeface="Arial"/>
                <a:ea typeface="Arial"/>
                <a:cs typeface="Arial"/>
                <a:sym typeface="Arial"/>
              </a:rPr>
              <a:t>CWT</a:t>
            </a:r>
            <a:endParaRPr b="0" i="0" sz="121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89949B"/>
              </a:buClr>
              <a:buSzPts val="1210"/>
              <a:buFont typeface="Arial"/>
              <a:buNone/>
            </a:pPr>
            <a:r>
              <a:rPr b="1" i="0" lang="en-US" sz="1210" u="none" cap="none" strike="noStrike">
                <a:solidFill>
                  <a:srgbClr val="89949B"/>
                </a:solidFill>
                <a:latin typeface="Arial"/>
                <a:ea typeface="Arial"/>
                <a:cs typeface="Arial"/>
                <a:sym typeface="Arial"/>
              </a:rPr>
              <a:t>Time–frequency scalograms</a:t>
            </a:r>
            <a:endParaRPr b="0" i="0" sz="1210" u="none" cap="none" strike="noStrike">
              <a:solidFill>
                <a:schemeClr val="dk1"/>
              </a:solidFill>
              <a:latin typeface="Arial"/>
              <a:ea typeface="Arial"/>
              <a:cs typeface="Arial"/>
              <a:sym typeface="Arial"/>
            </a:endParaRPr>
          </a:p>
        </p:txBody>
      </p:sp>
      <p:sp>
        <p:nvSpPr>
          <p:cNvPr id="241" name="Google Shape;241;p10"/>
          <p:cNvSpPr/>
          <p:nvPr/>
        </p:nvSpPr>
        <p:spPr>
          <a:xfrm>
            <a:off x="8229600" y="2633472"/>
            <a:ext cx="3429000" cy="713232"/>
          </a:xfrm>
          <a:prstGeom prst="roundRect">
            <a:avLst>
              <a:gd fmla="val 12821" name="adj"/>
            </a:avLst>
          </a:prstGeom>
          <a:solidFill>
            <a:srgbClr val="F0F1EE"/>
          </a:solidFill>
          <a:ln cap="flat" cmpd="sng" w="14600">
            <a:solidFill>
              <a:srgbClr val="DD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0"/>
          <p:cNvSpPr txBox="1"/>
          <p:nvPr/>
        </p:nvSpPr>
        <p:spPr>
          <a:xfrm>
            <a:off x="8311896" y="2679192"/>
            <a:ext cx="3264408" cy="6217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9949B"/>
              </a:buClr>
              <a:buSzPts val="1210"/>
              <a:buFont typeface="Arial"/>
              <a:buNone/>
            </a:pPr>
            <a:r>
              <a:rPr b="1" i="0" lang="en-US" sz="1210" u="none" cap="none" strike="noStrike">
                <a:solidFill>
                  <a:srgbClr val="89949B"/>
                </a:solidFill>
                <a:latin typeface="Arial"/>
                <a:ea typeface="Arial"/>
                <a:cs typeface="Arial"/>
                <a:sym typeface="Arial"/>
              </a:rPr>
              <a:t>Denoising</a:t>
            </a:r>
            <a:endParaRPr b="0" i="0" sz="121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89949B"/>
              </a:buClr>
              <a:buSzPts val="1210"/>
              <a:buFont typeface="Arial"/>
              <a:buNone/>
            </a:pPr>
            <a:r>
              <a:rPr b="1" i="0" lang="en-US" sz="1210" u="none" cap="none" strike="noStrike">
                <a:solidFill>
                  <a:srgbClr val="89949B"/>
                </a:solidFill>
                <a:latin typeface="Arial"/>
                <a:ea typeface="Arial"/>
                <a:cs typeface="Arial"/>
                <a:sym typeface="Arial"/>
              </a:rPr>
              <a:t>Butterworth + wavelet thresholds</a:t>
            </a:r>
            <a:endParaRPr b="0" i="0" sz="1210" u="none" cap="none" strike="noStrike">
              <a:solidFill>
                <a:schemeClr val="dk1"/>
              </a:solidFill>
              <a:latin typeface="Arial"/>
              <a:ea typeface="Arial"/>
              <a:cs typeface="Arial"/>
              <a:sym typeface="Arial"/>
            </a:endParaRPr>
          </a:p>
        </p:txBody>
      </p:sp>
      <p:sp>
        <p:nvSpPr>
          <p:cNvPr id="243" name="Google Shape;243;p10"/>
          <p:cNvSpPr/>
          <p:nvPr/>
        </p:nvSpPr>
        <p:spPr>
          <a:xfrm>
            <a:off x="530352" y="3639312"/>
            <a:ext cx="3429000" cy="548640"/>
          </a:xfrm>
          <a:prstGeom prst="roundRect">
            <a:avLst>
              <a:gd fmla="val 16667" name="adj"/>
            </a:avLst>
          </a:prstGeom>
          <a:solidFill>
            <a:srgbClr val="F0F1EE"/>
          </a:solidFill>
          <a:ln cap="flat" cmpd="sng" w="14600">
            <a:solidFill>
              <a:srgbClr val="DD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0"/>
          <p:cNvSpPr txBox="1"/>
          <p:nvPr/>
        </p:nvSpPr>
        <p:spPr>
          <a:xfrm>
            <a:off x="612648" y="3685032"/>
            <a:ext cx="3264408" cy="4572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9949B"/>
              </a:buClr>
              <a:buSzPts val="1180"/>
              <a:buFont typeface="Arial"/>
              <a:buNone/>
            </a:pPr>
            <a:r>
              <a:rPr b="1" i="0" lang="en-US" sz="1180" u="none" cap="none" strike="noStrike">
                <a:solidFill>
                  <a:srgbClr val="89949B"/>
                </a:solidFill>
                <a:latin typeface="Arial"/>
                <a:ea typeface="Arial"/>
                <a:cs typeface="Arial"/>
                <a:sym typeface="Arial"/>
              </a:rPr>
              <a:t>Energy distribution + entropy</a:t>
            </a:r>
            <a:endParaRPr b="0" i="0" sz="1180" u="none" cap="none" strike="noStrike">
              <a:solidFill>
                <a:schemeClr val="dk1"/>
              </a:solidFill>
              <a:latin typeface="Arial"/>
              <a:ea typeface="Arial"/>
              <a:cs typeface="Arial"/>
              <a:sym typeface="Arial"/>
            </a:endParaRPr>
          </a:p>
        </p:txBody>
      </p:sp>
      <p:sp>
        <p:nvSpPr>
          <p:cNvPr id="245" name="Google Shape;245;p10"/>
          <p:cNvSpPr/>
          <p:nvPr/>
        </p:nvSpPr>
        <p:spPr>
          <a:xfrm>
            <a:off x="4379976" y="3639312"/>
            <a:ext cx="3429000" cy="548640"/>
          </a:xfrm>
          <a:prstGeom prst="roundRect">
            <a:avLst>
              <a:gd fmla="val 16667" name="adj"/>
            </a:avLst>
          </a:prstGeom>
          <a:solidFill>
            <a:srgbClr val="F0F1EE"/>
          </a:solidFill>
          <a:ln cap="flat" cmpd="sng" w="14600">
            <a:solidFill>
              <a:srgbClr val="DD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0"/>
          <p:cNvSpPr txBox="1"/>
          <p:nvPr/>
        </p:nvSpPr>
        <p:spPr>
          <a:xfrm>
            <a:off x="4462272" y="3685032"/>
            <a:ext cx="3264408" cy="4572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9949B"/>
              </a:buClr>
              <a:buSzPts val="1180"/>
              <a:buFont typeface="Arial"/>
              <a:buNone/>
            </a:pPr>
            <a:r>
              <a:rPr b="1" i="0" lang="en-US" sz="1180" u="none" cap="none" strike="noStrike">
                <a:solidFill>
                  <a:srgbClr val="89949B"/>
                </a:solidFill>
                <a:latin typeface="Arial"/>
                <a:ea typeface="Arial"/>
                <a:cs typeface="Arial"/>
                <a:sym typeface="Arial"/>
              </a:rPr>
              <a:t>Compare Morlet and Mexican Hat</a:t>
            </a:r>
            <a:endParaRPr b="0" i="0" sz="1180" u="none" cap="none" strike="noStrike">
              <a:solidFill>
                <a:schemeClr val="dk1"/>
              </a:solidFill>
              <a:latin typeface="Arial"/>
              <a:ea typeface="Arial"/>
              <a:cs typeface="Arial"/>
              <a:sym typeface="Arial"/>
            </a:endParaRPr>
          </a:p>
        </p:txBody>
      </p:sp>
      <p:sp>
        <p:nvSpPr>
          <p:cNvPr id="247" name="Google Shape;247;p10"/>
          <p:cNvSpPr/>
          <p:nvPr/>
        </p:nvSpPr>
        <p:spPr>
          <a:xfrm>
            <a:off x="8229600" y="3639312"/>
            <a:ext cx="3429000" cy="548640"/>
          </a:xfrm>
          <a:prstGeom prst="roundRect">
            <a:avLst>
              <a:gd fmla="val 16667" name="adj"/>
            </a:avLst>
          </a:prstGeom>
          <a:solidFill>
            <a:srgbClr val="F0F1EE"/>
          </a:solidFill>
          <a:ln cap="flat" cmpd="sng" w="14600">
            <a:solidFill>
              <a:srgbClr val="DD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0"/>
          <p:cNvSpPr txBox="1"/>
          <p:nvPr/>
        </p:nvSpPr>
        <p:spPr>
          <a:xfrm>
            <a:off x="8311896" y="3685032"/>
            <a:ext cx="3264408" cy="4572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9949B"/>
              </a:buClr>
              <a:buSzPts val="1180"/>
              <a:buFont typeface="Arial"/>
              <a:buNone/>
            </a:pPr>
            <a:r>
              <a:rPr b="1" i="0" lang="en-US" sz="1180" u="none" cap="none" strike="noStrike">
                <a:solidFill>
                  <a:srgbClr val="89949B"/>
                </a:solidFill>
                <a:latin typeface="Arial"/>
                <a:ea typeface="Arial"/>
                <a:cs typeface="Arial"/>
                <a:sym typeface="Arial"/>
              </a:rPr>
              <a:t>Hard / soft / BayesShrink</a:t>
            </a:r>
            <a:endParaRPr b="0" i="0" sz="1180" u="none" cap="none" strike="noStrike">
              <a:solidFill>
                <a:schemeClr val="dk1"/>
              </a:solidFill>
              <a:latin typeface="Arial"/>
              <a:ea typeface="Arial"/>
              <a:cs typeface="Arial"/>
              <a:sym typeface="Arial"/>
            </a:endParaRPr>
          </a:p>
        </p:txBody>
      </p:sp>
      <p:cxnSp>
        <p:nvCxnSpPr>
          <p:cNvPr id="249" name="Google Shape;249;p10"/>
          <p:cNvCxnSpPr/>
          <p:nvPr/>
        </p:nvCxnSpPr>
        <p:spPr>
          <a:xfrm>
            <a:off x="2240280" y="3346704"/>
            <a:ext cx="0" cy="246888"/>
          </a:xfrm>
          <a:prstGeom prst="straightConnector1">
            <a:avLst/>
          </a:prstGeom>
          <a:noFill/>
          <a:ln cap="flat" cmpd="sng" w="16500">
            <a:solidFill>
              <a:srgbClr val="DDE4E7"/>
            </a:solidFill>
            <a:prstDash val="solid"/>
            <a:round/>
            <a:headEnd len="sm" w="sm" type="none"/>
            <a:tailEnd len="med" w="med" type="triangle"/>
          </a:ln>
        </p:spPr>
      </p:cxnSp>
      <p:cxnSp>
        <p:nvCxnSpPr>
          <p:cNvPr id="250" name="Google Shape;250;p10"/>
          <p:cNvCxnSpPr/>
          <p:nvPr/>
        </p:nvCxnSpPr>
        <p:spPr>
          <a:xfrm>
            <a:off x="6089904" y="3346704"/>
            <a:ext cx="0" cy="246888"/>
          </a:xfrm>
          <a:prstGeom prst="straightConnector1">
            <a:avLst/>
          </a:prstGeom>
          <a:noFill/>
          <a:ln cap="flat" cmpd="sng" w="16500">
            <a:solidFill>
              <a:srgbClr val="DDE4E7"/>
            </a:solidFill>
            <a:prstDash val="solid"/>
            <a:round/>
            <a:headEnd len="sm" w="sm" type="none"/>
            <a:tailEnd len="med" w="med" type="triangle"/>
          </a:ln>
        </p:spPr>
      </p:cxnSp>
      <p:cxnSp>
        <p:nvCxnSpPr>
          <p:cNvPr id="251" name="Google Shape;251;p10"/>
          <p:cNvCxnSpPr/>
          <p:nvPr/>
        </p:nvCxnSpPr>
        <p:spPr>
          <a:xfrm>
            <a:off x="9939528" y="3346704"/>
            <a:ext cx="0" cy="246888"/>
          </a:xfrm>
          <a:prstGeom prst="straightConnector1">
            <a:avLst/>
          </a:prstGeom>
          <a:noFill/>
          <a:ln cap="flat" cmpd="sng" w="16500">
            <a:solidFill>
              <a:srgbClr val="DDE4E7"/>
            </a:solidFill>
            <a:prstDash val="solid"/>
            <a:round/>
            <a:headEnd len="sm" w="sm" type="none"/>
            <a:tailEnd len="med" w="med" type="triangle"/>
          </a:ln>
        </p:spPr>
      </p:cxnSp>
      <p:sp>
        <p:nvSpPr>
          <p:cNvPr id="252" name="Google Shape;252;p10"/>
          <p:cNvSpPr/>
          <p:nvPr/>
        </p:nvSpPr>
        <p:spPr>
          <a:xfrm>
            <a:off x="530352" y="4553712"/>
            <a:ext cx="3429000" cy="621792"/>
          </a:xfrm>
          <a:prstGeom prst="roundRect">
            <a:avLst>
              <a:gd fmla="val 14706" name="adj"/>
            </a:avLst>
          </a:prstGeom>
          <a:solidFill>
            <a:srgbClr val="F8EEE3"/>
          </a:solidFill>
          <a:ln cap="flat" cmpd="sng" w="14600">
            <a:solidFill>
              <a:srgbClr val="D58A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0"/>
          <p:cNvSpPr txBox="1"/>
          <p:nvPr/>
        </p:nvSpPr>
        <p:spPr>
          <a:xfrm>
            <a:off x="612648" y="4599432"/>
            <a:ext cx="3264408" cy="5303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03447"/>
              </a:buClr>
              <a:buSzPts val="1180"/>
              <a:buFont typeface="Arial"/>
              <a:buNone/>
            </a:pPr>
            <a:r>
              <a:rPr b="1" i="0" lang="en-US" sz="1180" u="none" cap="none" strike="noStrike">
                <a:solidFill>
                  <a:srgbClr val="203447"/>
                </a:solidFill>
                <a:latin typeface="Arial"/>
                <a:ea typeface="Arial"/>
                <a:cs typeface="Arial"/>
                <a:sym typeface="Arial"/>
              </a:rPr>
              <a:t>Reconstruct and align signal length</a:t>
            </a:r>
            <a:endParaRPr b="0" i="0" sz="1180" u="none" cap="none" strike="noStrike">
              <a:solidFill>
                <a:schemeClr val="dk1"/>
              </a:solidFill>
              <a:latin typeface="Arial"/>
              <a:ea typeface="Arial"/>
              <a:cs typeface="Arial"/>
              <a:sym typeface="Arial"/>
            </a:endParaRPr>
          </a:p>
        </p:txBody>
      </p:sp>
      <p:sp>
        <p:nvSpPr>
          <p:cNvPr id="254" name="Google Shape;254;p10"/>
          <p:cNvSpPr/>
          <p:nvPr/>
        </p:nvSpPr>
        <p:spPr>
          <a:xfrm>
            <a:off x="4379976" y="4553712"/>
            <a:ext cx="3429000" cy="621792"/>
          </a:xfrm>
          <a:prstGeom prst="roundRect">
            <a:avLst>
              <a:gd fmla="val 14706" name="adj"/>
            </a:avLst>
          </a:prstGeom>
          <a:solidFill>
            <a:srgbClr val="F8EEE3"/>
          </a:solidFill>
          <a:ln cap="flat" cmpd="sng" w="14600">
            <a:solidFill>
              <a:srgbClr val="D58A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0"/>
          <p:cNvSpPr txBox="1"/>
          <p:nvPr/>
        </p:nvSpPr>
        <p:spPr>
          <a:xfrm>
            <a:off x="4462272" y="4599432"/>
            <a:ext cx="3264408" cy="5303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03447"/>
              </a:buClr>
              <a:buSzPts val="1100"/>
              <a:buFont typeface="Arial"/>
              <a:buNone/>
            </a:pPr>
            <a:r>
              <a:rPr b="1" i="0" lang="en-US" sz="1100" u="none" cap="none" strike="noStrike">
                <a:solidFill>
                  <a:srgbClr val="203447"/>
                </a:solidFill>
                <a:latin typeface="Arial"/>
                <a:ea typeface="Arial"/>
                <a:cs typeface="Arial"/>
                <a:sym typeface="Arial"/>
              </a:rPr>
              <a:t>Evaluate: RMSE, MAE, SNR, PRD, correlation, peaks</a:t>
            </a:r>
            <a:endParaRPr b="0" i="0" sz="1100" u="none" cap="none" strike="noStrike">
              <a:solidFill>
                <a:schemeClr val="dk1"/>
              </a:solidFill>
              <a:latin typeface="Arial"/>
              <a:ea typeface="Arial"/>
              <a:cs typeface="Arial"/>
              <a:sym typeface="Arial"/>
            </a:endParaRPr>
          </a:p>
        </p:txBody>
      </p:sp>
      <p:sp>
        <p:nvSpPr>
          <p:cNvPr id="256" name="Google Shape;256;p10"/>
          <p:cNvSpPr/>
          <p:nvPr/>
        </p:nvSpPr>
        <p:spPr>
          <a:xfrm>
            <a:off x="8229600" y="4553712"/>
            <a:ext cx="3429000" cy="621792"/>
          </a:xfrm>
          <a:prstGeom prst="roundRect">
            <a:avLst>
              <a:gd fmla="val 14706" name="adj"/>
            </a:avLst>
          </a:prstGeom>
          <a:solidFill>
            <a:srgbClr val="F8EEE3"/>
          </a:solidFill>
          <a:ln cap="flat" cmpd="sng" w="14600">
            <a:solidFill>
              <a:srgbClr val="D58A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0"/>
          <p:cNvSpPr txBox="1"/>
          <p:nvPr/>
        </p:nvSpPr>
        <p:spPr>
          <a:xfrm>
            <a:off x="8311896" y="4599432"/>
            <a:ext cx="3264408" cy="53035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03447"/>
              </a:buClr>
              <a:buSzPts val="1150"/>
              <a:buFont typeface="Arial"/>
              <a:buNone/>
            </a:pPr>
            <a:r>
              <a:rPr b="1" i="0" lang="en-US" sz="1150" u="none" cap="none" strike="noStrike">
                <a:solidFill>
                  <a:srgbClr val="203447"/>
                </a:solidFill>
                <a:latin typeface="Arial"/>
                <a:ea typeface="Arial"/>
                <a:cs typeface="Arial"/>
                <a:sym typeface="Arial"/>
              </a:rPr>
              <a:t>Repeat selected steps across 10 records</a:t>
            </a:r>
            <a:endParaRPr b="0" i="0" sz="1150" u="none" cap="none" strike="noStrike">
              <a:solidFill>
                <a:schemeClr val="dk1"/>
              </a:solidFill>
              <a:latin typeface="Arial"/>
              <a:ea typeface="Arial"/>
              <a:cs typeface="Arial"/>
              <a:sym typeface="Arial"/>
            </a:endParaRPr>
          </a:p>
        </p:txBody>
      </p:sp>
      <p:cxnSp>
        <p:nvCxnSpPr>
          <p:cNvPr id="258" name="Google Shape;258;p10"/>
          <p:cNvCxnSpPr/>
          <p:nvPr/>
        </p:nvCxnSpPr>
        <p:spPr>
          <a:xfrm>
            <a:off x="9939528" y="4206240"/>
            <a:ext cx="0" cy="292608"/>
          </a:xfrm>
          <a:prstGeom prst="straightConnector1">
            <a:avLst/>
          </a:prstGeom>
          <a:noFill/>
          <a:ln cap="flat" cmpd="sng" w="15225">
            <a:solidFill>
              <a:srgbClr val="D58A4B"/>
            </a:solidFill>
            <a:prstDash val="solid"/>
            <a:round/>
            <a:headEnd len="sm" w="sm" type="none"/>
            <a:tailEnd len="med" w="med" type="triangle"/>
          </a:ln>
        </p:spPr>
      </p:cxnSp>
      <p:cxnSp>
        <p:nvCxnSpPr>
          <p:cNvPr id="259" name="Google Shape;259;p10"/>
          <p:cNvCxnSpPr/>
          <p:nvPr/>
        </p:nvCxnSpPr>
        <p:spPr>
          <a:xfrm>
            <a:off x="3977640" y="4864608"/>
            <a:ext cx="338328" cy="0"/>
          </a:xfrm>
          <a:prstGeom prst="straightConnector1">
            <a:avLst/>
          </a:prstGeom>
          <a:noFill/>
          <a:ln cap="flat" cmpd="sng" w="17775">
            <a:solidFill>
              <a:srgbClr val="D58A4B"/>
            </a:solidFill>
            <a:prstDash val="solid"/>
            <a:round/>
            <a:headEnd len="sm" w="sm" type="none"/>
            <a:tailEnd len="med" w="med" type="triangle"/>
          </a:ln>
        </p:spPr>
      </p:cxnSp>
      <p:cxnSp>
        <p:nvCxnSpPr>
          <p:cNvPr id="260" name="Google Shape;260;p10"/>
          <p:cNvCxnSpPr/>
          <p:nvPr/>
        </p:nvCxnSpPr>
        <p:spPr>
          <a:xfrm>
            <a:off x="7818120" y="4864608"/>
            <a:ext cx="347472" cy="0"/>
          </a:xfrm>
          <a:prstGeom prst="straightConnector1">
            <a:avLst/>
          </a:prstGeom>
          <a:noFill/>
          <a:ln cap="flat" cmpd="sng" w="17775">
            <a:solidFill>
              <a:srgbClr val="D58A4B"/>
            </a:solidFill>
            <a:prstDash val="solid"/>
            <a:round/>
            <a:headEnd len="sm" w="sm" type="none"/>
            <a:tailEnd len="med" w="med" type="triangle"/>
          </a:ln>
        </p:spPr>
      </p:cxnSp>
      <p:sp>
        <p:nvSpPr>
          <p:cNvPr id="261" name="Google Shape;261;p10"/>
          <p:cNvSpPr/>
          <p:nvPr/>
        </p:nvSpPr>
        <p:spPr>
          <a:xfrm>
            <a:off x="3383280" y="5449824"/>
            <a:ext cx="5394960" cy="521208"/>
          </a:xfrm>
          <a:prstGeom prst="roundRect">
            <a:avLst>
              <a:gd fmla="val 17544" name="adj"/>
            </a:avLst>
          </a:prstGeom>
          <a:solidFill>
            <a:srgbClr val="F8EEE3"/>
          </a:solidFill>
          <a:ln cap="flat" cmpd="sng" w="14600">
            <a:solidFill>
              <a:srgbClr val="D58A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0"/>
          <p:cNvSpPr txBox="1"/>
          <p:nvPr/>
        </p:nvSpPr>
        <p:spPr>
          <a:xfrm>
            <a:off x="3465576" y="5495544"/>
            <a:ext cx="5230368" cy="42976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03447"/>
              </a:buClr>
              <a:buSzPts val="1200"/>
              <a:buFont typeface="Arial"/>
              <a:buNone/>
            </a:pPr>
            <a:r>
              <a:rPr b="1" i="0" lang="en-US" sz="1200" u="none" cap="none" strike="noStrike">
                <a:solidFill>
                  <a:srgbClr val="203447"/>
                </a:solidFill>
                <a:latin typeface="Arial"/>
                <a:ea typeface="Arial"/>
                <a:cs typeface="Arial"/>
                <a:sym typeface="Arial"/>
              </a:rPr>
              <a:t>Compare records and investigate unusual signal behaviour</a:t>
            </a:r>
            <a:endParaRPr b="0" i="0" sz="1200" u="none" cap="none" strike="noStrike">
              <a:solidFill>
                <a:schemeClr val="dk1"/>
              </a:solidFill>
              <a:latin typeface="Arial"/>
              <a:ea typeface="Arial"/>
              <a:cs typeface="Arial"/>
              <a:sym typeface="Arial"/>
            </a:endParaRPr>
          </a:p>
        </p:txBody>
      </p:sp>
      <p:cxnSp>
        <p:nvCxnSpPr>
          <p:cNvPr id="263" name="Google Shape;263;p10"/>
          <p:cNvCxnSpPr/>
          <p:nvPr/>
        </p:nvCxnSpPr>
        <p:spPr>
          <a:xfrm flipH="1">
            <a:off x="8668512" y="5175504"/>
            <a:ext cx="1271016" cy="237744"/>
          </a:xfrm>
          <a:prstGeom prst="straightConnector1">
            <a:avLst/>
          </a:prstGeom>
          <a:noFill/>
          <a:ln cap="flat" cmpd="sng" w="15875">
            <a:solidFill>
              <a:srgbClr val="D58A4B"/>
            </a:solidFill>
            <a:prstDash val="solid"/>
            <a:round/>
            <a:headEnd len="sm" w="sm" type="none"/>
            <a:tailEnd len="med" w="med" type="triangle"/>
          </a:ln>
        </p:spPr>
      </p:cxnSp>
      <p:sp>
        <p:nvSpPr>
          <p:cNvPr id="264" name="Google Shape;264;p10"/>
          <p:cNvSpPr txBox="1"/>
          <p:nvPr/>
        </p:nvSpPr>
        <p:spPr>
          <a:xfrm>
            <a:off x="749808" y="6053328"/>
            <a:ext cx="10744200" cy="29260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D58A4B"/>
              </a:buClr>
              <a:buSzPts val="1140"/>
              <a:buFont typeface="Arial"/>
              <a:buNone/>
            </a:pPr>
            <a:r>
              <a:rPr b="1" i="0" lang="en-US" sz="1140" u="none" cap="none" strike="noStrike">
                <a:solidFill>
                  <a:srgbClr val="D58A4B"/>
                </a:solidFill>
                <a:latin typeface="Arial"/>
                <a:ea typeface="Arial"/>
                <a:cs typeface="Arial"/>
                <a:sym typeface="Arial"/>
              </a:rPr>
              <a:t>Metrics + peak checks + record-by-record inspection = a stronger conclusion than a smooth-looking line alone</a:t>
            </a:r>
            <a:endParaRPr b="0" i="0" sz="1140" u="none" cap="none" strike="noStrike">
              <a:solidFill>
                <a:schemeClr val="dk1"/>
              </a:solidFill>
              <a:latin typeface="Arial"/>
              <a:ea typeface="Arial"/>
              <a:cs typeface="Arial"/>
              <a:sym typeface="Arial"/>
            </a:endParaRPr>
          </a:p>
        </p:txBody>
      </p:sp>
      <p:sp>
        <p:nvSpPr>
          <p:cNvPr id="265" name="Google Shape;265;p10"/>
          <p:cNvSpPr txBox="1"/>
          <p:nvPr>
            <p:ph idx="4294967295" type="sldNum"/>
          </p:nvPr>
        </p:nvSpPr>
        <p:spPr>
          <a:xfrm>
            <a:off x="11338560" y="653796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800" u="none" cap="none" strike="noStrike">
                <a:solidFill>
                  <a:srgbClr val="7A858D"/>
                </a:solidFill>
                <a:latin typeface="Arial"/>
                <a:ea typeface="Arial"/>
                <a:cs typeface="Arial"/>
                <a:sym typeface="Arial"/>
              </a:rPr>
              <a:t>‹#›</a:t>
            </a:fld>
            <a:endParaRPr b="0" i="0" sz="800" u="none" cap="none" strike="noStrike">
              <a:solidFill>
                <a:srgbClr val="7A858D"/>
              </a:solidFill>
              <a:latin typeface="Arial"/>
              <a:ea typeface="Arial"/>
              <a:cs typeface="Arial"/>
              <a:sym typeface="Arial"/>
            </a:endParaRP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270" name="Shape 270"/>
        <p:cNvGrpSpPr/>
        <p:nvPr/>
      </p:nvGrpSpPr>
      <p:grpSpPr>
        <a:xfrm>
          <a:off x="0" y="0"/>
          <a:ext cx="0" cy="0"/>
          <a:chOff x="0" y="0"/>
          <a:chExt cx="0" cy="0"/>
        </a:xfrm>
      </p:grpSpPr>
      <p:sp>
        <p:nvSpPr>
          <p:cNvPr id="271" name="Google Shape;271;p11"/>
          <p:cNvSpPr/>
          <p:nvPr/>
        </p:nvSpPr>
        <p:spPr>
          <a:xfrm>
            <a:off x="9646920" y="274320"/>
            <a:ext cx="2084832" cy="310896"/>
          </a:xfrm>
          <a:prstGeom prst="roundRect">
            <a:avLst>
              <a:gd fmla="val 29412" name="adj"/>
            </a:avLst>
          </a:prstGeom>
          <a:solidFill>
            <a:srgbClr val="EAF2F5"/>
          </a:solidFill>
          <a:ln cap="flat" cmpd="sng" w="9525">
            <a:solidFill>
              <a:srgbClr val="EAF2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1"/>
          <p:cNvSpPr txBox="1"/>
          <p:nvPr/>
        </p:nvSpPr>
        <p:spPr>
          <a:xfrm>
            <a:off x="9710928" y="310896"/>
            <a:ext cx="1956816" cy="21945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397DA3"/>
              </a:buClr>
              <a:buSzPts val="850"/>
              <a:buFont typeface="Arial"/>
              <a:buNone/>
            </a:pPr>
            <a:r>
              <a:rPr b="1" i="0" lang="en-US" sz="850" u="none" cap="none" strike="noStrike">
                <a:solidFill>
                  <a:srgbClr val="397DA3"/>
                </a:solidFill>
                <a:latin typeface="Arial"/>
                <a:ea typeface="Arial"/>
                <a:cs typeface="Arial"/>
                <a:sym typeface="Arial"/>
              </a:rPr>
              <a:t>SINGLE RECORD</a:t>
            </a:r>
            <a:endParaRPr b="0" i="0" sz="850" u="none" cap="none" strike="noStrike">
              <a:solidFill>
                <a:schemeClr val="dk1"/>
              </a:solidFill>
              <a:latin typeface="Arial"/>
              <a:ea typeface="Arial"/>
              <a:cs typeface="Arial"/>
              <a:sym typeface="Arial"/>
            </a:endParaRPr>
          </a:p>
        </p:txBody>
      </p:sp>
      <p:sp>
        <p:nvSpPr>
          <p:cNvPr id="273" name="Google Shape;273;p11"/>
          <p:cNvSpPr txBox="1"/>
          <p:nvPr/>
        </p:nvSpPr>
        <p:spPr>
          <a:xfrm>
            <a:off x="438912" y="292608"/>
            <a:ext cx="896112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2700"/>
              <a:buFont typeface="Play"/>
              <a:buNone/>
            </a:pPr>
            <a:r>
              <a:rPr b="1" i="0" lang="en-US" sz="2700" u="none" cap="none" strike="noStrike">
                <a:solidFill>
                  <a:srgbClr val="203447"/>
                </a:solidFill>
                <a:latin typeface="Play"/>
                <a:ea typeface="Play"/>
                <a:cs typeface="Play"/>
                <a:sym typeface="Play"/>
              </a:rPr>
              <a:t>DWT: splitting the signal into approximation and detail</a:t>
            </a:r>
            <a:endParaRPr b="0" i="0" sz="2700" u="none" cap="none" strike="noStrike">
              <a:solidFill>
                <a:schemeClr val="dk1"/>
              </a:solidFill>
              <a:latin typeface="Arial"/>
              <a:ea typeface="Arial"/>
              <a:cs typeface="Arial"/>
              <a:sym typeface="Arial"/>
            </a:endParaRPr>
          </a:p>
        </p:txBody>
      </p:sp>
      <p:sp>
        <p:nvSpPr>
          <p:cNvPr id="274" name="Google Shape;274;p11"/>
          <p:cNvSpPr txBox="1"/>
          <p:nvPr/>
        </p:nvSpPr>
        <p:spPr>
          <a:xfrm>
            <a:off x="457200" y="804672"/>
            <a:ext cx="11064240" cy="32918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1717D"/>
              </a:buClr>
              <a:buSzPts val="1250"/>
              <a:buFont typeface="Arial"/>
              <a:buNone/>
            </a:pPr>
            <a:r>
              <a:rPr b="0" i="0" lang="en-US" sz="1250" u="none" cap="none" strike="noStrike">
                <a:solidFill>
                  <a:srgbClr val="61717D"/>
                </a:solidFill>
                <a:latin typeface="Arial"/>
                <a:ea typeface="Arial"/>
                <a:cs typeface="Arial"/>
                <a:sym typeface="Arial"/>
              </a:rPr>
              <a:t>We used the Haar wavelet first because its calculation is easy to understand</a:t>
            </a:r>
            <a:endParaRPr b="0" i="0" sz="1250" u="none" cap="none" strike="noStrike">
              <a:solidFill>
                <a:schemeClr val="dk1"/>
              </a:solidFill>
              <a:latin typeface="Arial"/>
              <a:ea typeface="Arial"/>
              <a:cs typeface="Arial"/>
              <a:sym typeface="Arial"/>
            </a:endParaRPr>
          </a:p>
        </p:txBody>
      </p:sp>
      <p:cxnSp>
        <p:nvCxnSpPr>
          <p:cNvPr id="275" name="Google Shape;275;p11"/>
          <p:cNvCxnSpPr/>
          <p:nvPr/>
        </p:nvCxnSpPr>
        <p:spPr>
          <a:xfrm>
            <a:off x="438912" y="1197864"/>
            <a:ext cx="11292840" cy="0"/>
          </a:xfrm>
          <a:prstGeom prst="straightConnector1">
            <a:avLst/>
          </a:prstGeom>
          <a:noFill/>
          <a:ln cap="flat" cmpd="sng" w="22850">
            <a:solidFill>
              <a:srgbClr val="4E928B"/>
            </a:solidFill>
            <a:prstDash val="solid"/>
            <a:round/>
            <a:headEnd len="sm" w="sm" type="none"/>
            <a:tailEnd len="sm" w="sm" type="none"/>
          </a:ln>
        </p:spPr>
      </p:cxnSp>
      <p:sp>
        <p:nvSpPr>
          <p:cNvPr id="276" name="Google Shape;276;p11"/>
          <p:cNvSpPr/>
          <p:nvPr/>
        </p:nvSpPr>
        <p:spPr>
          <a:xfrm>
            <a:off x="475488" y="1389888"/>
            <a:ext cx="6492240" cy="4526280"/>
          </a:xfrm>
          <a:prstGeom prst="roundRect">
            <a:avLst>
              <a:gd fmla="val 1616" name="adj"/>
            </a:avLst>
          </a:prstGeom>
          <a:solidFill>
            <a:srgbClr val="FFFFFF"/>
          </a:solidFill>
          <a:ln cap="flat" cmpd="sng" w="10150">
            <a:solidFill>
              <a:srgbClr val="DD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nt/data/image(3).png" id="277" name="Google Shape;277;p11"/>
          <p:cNvPicPr preferRelativeResize="0"/>
          <p:nvPr/>
        </p:nvPicPr>
        <p:blipFill rotWithShape="1">
          <a:blip r:embed="rId3">
            <a:alphaModFix/>
          </a:blip>
          <a:srcRect b="0" l="0" r="0" t="0"/>
          <a:stretch/>
        </p:blipFill>
        <p:spPr>
          <a:xfrm>
            <a:off x="530352" y="1802636"/>
            <a:ext cx="6382512" cy="3700784"/>
          </a:xfrm>
          <a:prstGeom prst="rect">
            <a:avLst/>
          </a:prstGeom>
          <a:noFill/>
          <a:ln>
            <a:noFill/>
          </a:ln>
        </p:spPr>
      </p:pic>
      <p:sp>
        <p:nvSpPr>
          <p:cNvPr id="278" name="Google Shape;278;p11"/>
          <p:cNvSpPr txBox="1"/>
          <p:nvPr/>
        </p:nvSpPr>
        <p:spPr>
          <a:xfrm>
            <a:off x="7269480" y="1618488"/>
            <a:ext cx="4206240" cy="32004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97DA3"/>
              </a:buClr>
              <a:buSzPts val="1550"/>
              <a:buFont typeface="Arial"/>
              <a:buNone/>
            </a:pPr>
            <a:r>
              <a:rPr b="1" i="0" lang="en-US" sz="1550" u="none" cap="none" strike="noStrike">
                <a:solidFill>
                  <a:srgbClr val="397DA3"/>
                </a:solidFill>
                <a:latin typeface="Arial"/>
                <a:ea typeface="Arial"/>
                <a:cs typeface="Arial"/>
                <a:sym typeface="Arial"/>
              </a:rPr>
              <a:t>For a pair of samples x₁ and x₂:</a:t>
            </a:r>
            <a:endParaRPr b="0" i="0" sz="1550" u="none" cap="none" strike="noStrike">
              <a:solidFill>
                <a:schemeClr val="dk1"/>
              </a:solidFill>
              <a:latin typeface="Arial"/>
              <a:ea typeface="Arial"/>
              <a:cs typeface="Arial"/>
              <a:sym typeface="Arial"/>
            </a:endParaRPr>
          </a:p>
        </p:txBody>
      </p:sp>
      <p:sp>
        <p:nvSpPr>
          <p:cNvPr id="279" name="Google Shape;279;p11"/>
          <p:cNvSpPr/>
          <p:nvPr/>
        </p:nvSpPr>
        <p:spPr>
          <a:xfrm>
            <a:off x="7333488" y="2103120"/>
            <a:ext cx="4114800" cy="566928"/>
          </a:xfrm>
          <a:prstGeom prst="roundRect">
            <a:avLst>
              <a:gd fmla="val 12903" name="adj"/>
            </a:avLst>
          </a:prstGeom>
          <a:solidFill>
            <a:srgbClr val="EAF2F5"/>
          </a:solidFill>
          <a:ln cap="flat" cmpd="sng" w="12700">
            <a:solidFill>
              <a:srgbClr val="397DA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1"/>
          <p:cNvSpPr txBox="1"/>
          <p:nvPr/>
        </p:nvSpPr>
        <p:spPr>
          <a:xfrm>
            <a:off x="7443216" y="2157984"/>
            <a:ext cx="3895344" cy="4572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397DA3"/>
              </a:buClr>
              <a:buSzPts val="2000"/>
              <a:buFont typeface="Cambria Math"/>
              <a:buNone/>
            </a:pPr>
            <a:r>
              <a:rPr b="1" i="0" lang="en-US" sz="2000" u="none" cap="none" strike="noStrike">
                <a:solidFill>
                  <a:srgbClr val="397DA3"/>
                </a:solidFill>
                <a:latin typeface="Cambria Math"/>
                <a:ea typeface="Cambria Math"/>
                <a:cs typeface="Cambria Math"/>
                <a:sym typeface="Cambria Math"/>
              </a:rPr>
              <a:t>A = (x₁ + x₂) / √2</a:t>
            </a:r>
            <a:endParaRPr b="0" i="0" sz="2000" u="none" cap="none" strike="noStrike">
              <a:solidFill>
                <a:schemeClr val="dk1"/>
              </a:solidFill>
              <a:latin typeface="Arial"/>
              <a:ea typeface="Arial"/>
              <a:cs typeface="Arial"/>
              <a:sym typeface="Arial"/>
            </a:endParaRPr>
          </a:p>
        </p:txBody>
      </p:sp>
      <p:sp>
        <p:nvSpPr>
          <p:cNvPr id="281" name="Google Shape;281;p11"/>
          <p:cNvSpPr/>
          <p:nvPr/>
        </p:nvSpPr>
        <p:spPr>
          <a:xfrm>
            <a:off x="7333488" y="2880360"/>
            <a:ext cx="4114800" cy="566928"/>
          </a:xfrm>
          <a:prstGeom prst="roundRect">
            <a:avLst>
              <a:gd fmla="val 12903" name="adj"/>
            </a:avLst>
          </a:prstGeom>
          <a:solidFill>
            <a:srgbClr val="E8F2EF"/>
          </a:solidFill>
          <a:ln cap="flat" cmpd="sng" w="12700">
            <a:solidFill>
              <a:srgbClr val="4E92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1"/>
          <p:cNvSpPr txBox="1"/>
          <p:nvPr/>
        </p:nvSpPr>
        <p:spPr>
          <a:xfrm>
            <a:off x="7443216" y="2935224"/>
            <a:ext cx="3895344" cy="4572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4E928B"/>
              </a:buClr>
              <a:buSzPts val="2000"/>
              <a:buFont typeface="Cambria Math"/>
              <a:buNone/>
            </a:pPr>
            <a:r>
              <a:rPr b="1" i="0" lang="en-US" sz="2000" u="none" cap="none" strike="noStrike">
                <a:solidFill>
                  <a:srgbClr val="4E928B"/>
                </a:solidFill>
                <a:latin typeface="Cambria Math"/>
                <a:ea typeface="Cambria Math"/>
                <a:cs typeface="Cambria Math"/>
                <a:sym typeface="Cambria Math"/>
              </a:rPr>
              <a:t>D = (x₁ − x₂) / √2</a:t>
            </a:r>
            <a:endParaRPr b="0" i="0" sz="2000" u="none" cap="none" strike="noStrike">
              <a:solidFill>
                <a:schemeClr val="dk1"/>
              </a:solidFill>
              <a:latin typeface="Arial"/>
              <a:ea typeface="Arial"/>
              <a:cs typeface="Arial"/>
              <a:sym typeface="Arial"/>
            </a:endParaRPr>
          </a:p>
        </p:txBody>
      </p:sp>
      <p:sp>
        <p:nvSpPr>
          <p:cNvPr id="283" name="Google Shape;283;p11"/>
          <p:cNvSpPr/>
          <p:nvPr/>
        </p:nvSpPr>
        <p:spPr>
          <a:xfrm>
            <a:off x="7351776" y="3913632"/>
            <a:ext cx="91440" cy="91440"/>
          </a:xfrm>
          <a:prstGeom prst="ellipse">
            <a:avLst/>
          </a:prstGeom>
          <a:solidFill>
            <a:srgbClr val="D58A4B"/>
          </a:solidFill>
          <a:ln cap="flat" cmpd="sng" w="9525">
            <a:solidFill>
              <a:srgbClr val="D58A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1"/>
          <p:cNvSpPr txBox="1"/>
          <p:nvPr/>
        </p:nvSpPr>
        <p:spPr>
          <a:xfrm>
            <a:off x="7543800" y="3794760"/>
            <a:ext cx="3950208" cy="5029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1320"/>
              <a:buFont typeface="Arial"/>
              <a:buNone/>
            </a:pPr>
            <a:r>
              <a:rPr b="0" i="0" lang="en-US" sz="1320" u="none" cap="none" strike="noStrike">
                <a:solidFill>
                  <a:srgbClr val="203447"/>
                </a:solidFill>
                <a:latin typeface="Arial"/>
                <a:ea typeface="Arial"/>
                <a:cs typeface="Arial"/>
                <a:sym typeface="Arial"/>
              </a:rPr>
              <a:t>Approximation (A): combined, coarser information</a:t>
            </a:r>
            <a:endParaRPr b="0" i="0" sz="1320" u="none" cap="none" strike="noStrike">
              <a:solidFill>
                <a:schemeClr val="dk1"/>
              </a:solidFill>
              <a:latin typeface="Arial"/>
              <a:ea typeface="Arial"/>
              <a:cs typeface="Arial"/>
              <a:sym typeface="Arial"/>
            </a:endParaRPr>
          </a:p>
        </p:txBody>
      </p:sp>
      <p:sp>
        <p:nvSpPr>
          <p:cNvPr id="285" name="Google Shape;285;p11"/>
          <p:cNvSpPr/>
          <p:nvPr/>
        </p:nvSpPr>
        <p:spPr>
          <a:xfrm>
            <a:off x="7351776" y="4471416"/>
            <a:ext cx="91440" cy="91440"/>
          </a:xfrm>
          <a:prstGeom prst="ellipse">
            <a:avLst/>
          </a:prstGeom>
          <a:solidFill>
            <a:srgbClr val="D58A4B"/>
          </a:solidFill>
          <a:ln cap="flat" cmpd="sng" w="9525">
            <a:solidFill>
              <a:srgbClr val="D58A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1"/>
          <p:cNvSpPr txBox="1"/>
          <p:nvPr/>
        </p:nvSpPr>
        <p:spPr>
          <a:xfrm>
            <a:off x="7543800" y="4352544"/>
            <a:ext cx="3950208" cy="5029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1320"/>
              <a:buFont typeface="Arial"/>
              <a:buNone/>
            </a:pPr>
            <a:r>
              <a:rPr b="0" i="0" lang="en-US" sz="1320" u="none" cap="none" strike="noStrike">
                <a:solidFill>
                  <a:srgbClr val="203447"/>
                </a:solidFill>
                <a:latin typeface="Arial"/>
                <a:ea typeface="Arial"/>
                <a:cs typeface="Arial"/>
                <a:sym typeface="Arial"/>
              </a:rPr>
              <a:t>Detail (D): difference between paired samples</a:t>
            </a:r>
            <a:endParaRPr b="0" i="0" sz="1320" u="none" cap="none" strike="noStrike">
              <a:solidFill>
                <a:schemeClr val="dk1"/>
              </a:solidFill>
              <a:latin typeface="Arial"/>
              <a:ea typeface="Arial"/>
              <a:cs typeface="Arial"/>
              <a:sym typeface="Arial"/>
            </a:endParaRPr>
          </a:p>
        </p:txBody>
      </p:sp>
      <p:sp>
        <p:nvSpPr>
          <p:cNvPr id="287" name="Google Shape;287;p11"/>
          <p:cNvSpPr/>
          <p:nvPr/>
        </p:nvSpPr>
        <p:spPr>
          <a:xfrm>
            <a:off x="7351776" y="5029200"/>
            <a:ext cx="91440" cy="91440"/>
          </a:xfrm>
          <a:prstGeom prst="ellipse">
            <a:avLst/>
          </a:prstGeom>
          <a:solidFill>
            <a:srgbClr val="D58A4B"/>
          </a:solidFill>
          <a:ln cap="flat" cmpd="sng" w="9525">
            <a:solidFill>
              <a:srgbClr val="D58A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1"/>
          <p:cNvSpPr txBox="1"/>
          <p:nvPr/>
        </p:nvSpPr>
        <p:spPr>
          <a:xfrm>
            <a:off x="7543800" y="4910328"/>
            <a:ext cx="3950208" cy="5029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1320"/>
              <a:buFont typeface="Arial"/>
              <a:buNone/>
            </a:pPr>
            <a:r>
              <a:rPr b="0" i="0" lang="en-US" sz="1320" u="none" cap="none" strike="noStrike">
                <a:solidFill>
                  <a:srgbClr val="203447"/>
                </a:solidFill>
                <a:latin typeface="Arial"/>
                <a:ea typeface="Arial"/>
                <a:cs typeface="Arial"/>
                <a:sym typeface="Arial"/>
              </a:rPr>
              <a:t>Each level decomposes the approximation again</a:t>
            </a:r>
            <a:endParaRPr b="0" i="0" sz="1320" u="none" cap="none" strike="noStrike">
              <a:solidFill>
                <a:schemeClr val="dk1"/>
              </a:solidFill>
              <a:latin typeface="Arial"/>
              <a:ea typeface="Arial"/>
              <a:cs typeface="Arial"/>
              <a:sym typeface="Arial"/>
            </a:endParaRPr>
          </a:p>
        </p:txBody>
      </p:sp>
      <p:sp>
        <p:nvSpPr>
          <p:cNvPr id="289" name="Google Shape;289;p11"/>
          <p:cNvSpPr txBox="1"/>
          <p:nvPr/>
        </p:nvSpPr>
        <p:spPr>
          <a:xfrm>
            <a:off x="7315200" y="5623560"/>
            <a:ext cx="4206240" cy="34747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1717D"/>
              </a:buClr>
              <a:buSzPts val="1200"/>
              <a:buFont typeface="Arial"/>
              <a:buNone/>
            </a:pPr>
            <a:r>
              <a:rPr b="1" i="0" lang="en-US" sz="1200" u="none" cap="none" strike="noStrike">
                <a:solidFill>
                  <a:srgbClr val="61717D"/>
                </a:solidFill>
                <a:latin typeface="Arial"/>
                <a:ea typeface="Arial"/>
                <a:cs typeface="Arial"/>
                <a:sym typeface="Arial"/>
              </a:rPr>
              <a:t>For a 3-level DWT, the final pieces are A3, D3, D2 and D1.</a:t>
            </a:r>
            <a:endParaRPr b="0" i="0" sz="1200" u="none" cap="none" strike="noStrike">
              <a:solidFill>
                <a:schemeClr val="dk1"/>
              </a:solidFill>
              <a:latin typeface="Arial"/>
              <a:ea typeface="Arial"/>
              <a:cs typeface="Arial"/>
              <a:sym typeface="Arial"/>
            </a:endParaRPr>
          </a:p>
        </p:txBody>
      </p:sp>
      <p:sp>
        <p:nvSpPr>
          <p:cNvPr id="290" name="Google Shape;290;p11"/>
          <p:cNvSpPr txBox="1"/>
          <p:nvPr>
            <p:ph idx="4294967295" type="sldNum"/>
          </p:nvPr>
        </p:nvSpPr>
        <p:spPr>
          <a:xfrm>
            <a:off x="11338560" y="653796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800" u="none" cap="none" strike="noStrike">
                <a:solidFill>
                  <a:srgbClr val="7A858D"/>
                </a:solidFill>
                <a:latin typeface="Arial"/>
                <a:ea typeface="Arial"/>
                <a:cs typeface="Arial"/>
                <a:sym typeface="Arial"/>
              </a:rPr>
              <a:t>‹#›</a:t>
            </a:fld>
            <a:endParaRPr b="0" i="0" sz="800" u="none" cap="none" strike="noStrike">
              <a:solidFill>
                <a:srgbClr val="7A858D"/>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295" name="Shape 295"/>
        <p:cNvGrpSpPr/>
        <p:nvPr/>
      </p:nvGrpSpPr>
      <p:grpSpPr>
        <a:xfrm>
          <a:off x="0" y="0"/>
          <a:ext cx="0" cy="0"/>
          <a:chOff x="0" y="0"/>
          <a:chExt cx="0" cy="0"/>
        </a:xfrm>
      </p:grpSpPr>
      <p:sp>
        <p:nvSpPr>
          <p:cNvPr id="296" name="Google Shape;296;p12"/>
          <p:cNvSpPr/>
          <p:nvPr/>
        </p:nvSpPr>
        <p:spPr>
          <a:xfrm>
            <a:off x="9646920" y="274320"/>
            <a:ext cx="2084832" cy="310896"/>
          </a:xfrm>
          <a:prstGeom prst="roundRect">
            <a:avLst>
              <a:gd fmla="val 29412" name="adj"/>
            </a:avLst>
          </a:prstGeom>
          <a:solidFill>
            <a:srgbClr val="EAF2F5"/>
          </a:solidFill>
          <a:ln cap="flat" cmpd="sng" w="9525">
            <a:solidFill>
              <a:srgbClr val="EAF2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2"/>
          <p:cNvSpPr txBox="1"/>
          <p:nvPr/>
        </p:nvSpPr>
        <p:spPr>
          <a:xfrm>
            <a:off x="9710928" y="310896"/>
            <a:ext cx="1956816" cy="21945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397DA3"/>
              </a:buClr>
              <a:buSzPts val="850"/>
              <a:buFont typeface="Arial"/>
              <a:buNone/>
            </a:pPr>
            <a:r>
              <a:rPr b="1" i="0" lang="en-US" sz="850" u="none" cap="none" strike="noStrike">
                <a:solidFill>
                  <a:srgbClr val="397DA3"/>
                </a:solidFill>
                <a:latin typeface="Arial"/>
                <a:ea typeface="Arial"/>
                <a:cs typeface="Arial"/>
                <a:sym typeface="Arial"/>
              </a:rPr>
              <a:t>DWT</a:t>
            </a:r>
            <a:endParaRPr b="0" i="0" sz="850" u="none" cap="none" strike="noStrike">
              <a:solidFill>
                <a:schemeClr val="dk1"/>
              </a:solidFill>
              <a:latin typeface="Arial"/>
              <a:ea typeface="Arial"/>
              <a:cs typeface="Arial"/>
              <a:sym typeface="Arial"/>
            </a:endParaRPr>
          </a:p>
        </p:txBody>
      </p:sp>
      <p:sp>
        <p:nvSpPr>
          <p:cNvPr id="298" name="Google Shape;298;p12"/>
          <p:cNvSpPr txBox="1"/>
          <p:nvPr/>
        </p:nvSpPr>
        <p:spPr>
          <a:xfrm>
            <a:off x="438912" y="292608"/>
            <a:ext cx="896112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2700"/>
              <a:buFont typeface="Play"/>
              <a:buNone/>
            </a:pPr>
            <a:r>
              <a:rPr b="1" i="0" lang="en-US" sz="2700" u="none" cap="none" strike="noStrike">
                <a:solidFill>
                  <a:srgbClr val="203447"/>
                </a:solidFill>
                <a:latin typeface="Play"/>
                <a:ea typeface="Play"/>
                <a:cs typeface="Play"/>
                <a:sym typeface="Play"/>
              </a:rPr>
              <a:t>What do D1, D2 and D3 actually show?</a:t>
            </a:r>
            <a:endParaRPr b="0" i="0" sz="2700" u="none" cap="none" strike="noStrike">
              <a:solidFill>
                <a:schemeClr val="dk1"/>
              </a:solidFill>
              <a:latin typeface="Arial"/>
              <a:ea typeface="Arial"/>
              <a:cs typeface="Arial"/>
              <a:sym typeface="Arial"/>
            </a:endParaRPr>
          </a:p>
        </p:txBody>
      </p:sp>
      <p:sp>
        <p:nvSpPr>
          <p:cNvPr id="299" name="Google Shape;299;p12"/>
          <p:cNvSpPr txBox="1"/>
          <p:nvPr/>
        </p:nvSpPr>
        <p:spPr>
          <a:xfrm>
            <a:off x="457200" y="804672"/>
            <a:ext cx="11064240" cy="32918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1717D"/>
              </a:buClr>
              <a:buSzPts val="1250"/>
              <a:buFont typeface="Arial"/>
              <a:buNone/>
            </a:pPr>
            <a:r>
              <a:rPr b="0" i="0" lang="en-US" sz="1250" u="none" cap="none" strike="noStrike">
                <a:solidFill>
                  <a:srgbClr val="61717D"/>
                </a:solidFill>
                <a:latin typeface="Arial"/>
                <a:ea typeface="Arial"/>
                <a:cs typeface="Arial"/>
                <a:sym typeface="Arial"/>
              </a:rPr>
              <a:t>The detail coefficients are different resolutions of the waveform changes</a:t>
            </a:r>
            <a:endParaRPr b="0" i="0" sz="1250" u="none" cap="none" strike="noStrike">
              <a:solidFill>
                <a:schemeClr val="dk1"/>
              </a:solidFill>
              <a:latin typeface="Arial"/>
              <a:ea typeface="Arial"/>
              <a:cs typeface="Arial"/>
              <a:sym typeface="Arial"/>
            </a:endParaRPr>
          </a:p>
        </p:txBody>
      </p:sp>
      <p:cxnSp>
        <p:nvCxnSpPr>
          <p:cNvPr id="300" name="Google Shape;300;p12"/>
          <p:cNvCxnSpPr/>
          <p:nvPr/>
        </p:nvCxnSpPr>
        <p:spPr>
          <a:xfrm>
            <a:off x="438912" y="1197864"/>
            <a:ext cx="11292840" cy="0"/>
          </a:xfrm>
          <a:prstGeom prst="straightConnector1">
            <a:avLst/>
          </a:prstGeom>
          <a:noFill/>
          <a:ln cap="flat" cmpd="sng" w="22850">
            <a:solidFill>
              <a:srgbClr val="4E928B"/>
            </a:solidFill>
            <a:prstDash val="solid"/>
            <a:round/>
            <a:headEnd len="sm" w="sm" type="none"/>
            <a:tailEnd len="sm" w="sm" type="none"/>
          </a:ln>
        </p:spPr>
      </p:cxnSp>
      <p:sp>
        <p:nvSpPr>
          <p:cNvPr id="301" name="Google Shape;301;p12"/>
          <p:cNvSpPr/>
          <p:nvPr/>
        </p:nvSpPr>
        <p:spPr>
          <a:xfrm>
            <a:off x="530352" y="1389888"/>
            <a:ext cx="7315200" cy="4553712"/>
          </a:xfrm>
          <a:prstGeom prst="roundRect">
            <a:avLst>
              <a:gd fmla="val 1606" name="adj"/>
            </a:avLst>
          </a:prstGeom>
          <a:solidFill>
            <a:srgbClr val="FFFFFF"/>
          </a:solidFill>
          <a:ln cap="flat" cmpd="sng" w="10150">
            <a:solidFill>
              <a:srgbClr val="DD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nt/data/image(2).png" id="302" name="Google Shape;302;p12"/>
          <p:cNvPicPr preferRelativeResize="0"/>
          <p:nvPr/>
        </p:nvPicPr>
        <p:blipFill rotWithShape="1">
          <a:blip r:embed="rId3">
            <a:alphaModFix/>
          </a:blip>
          <a:srcRect b="0" l="0" r="0" t="0"/>
          <a:stretch/>
        </p:blipFill>
        <p:spPr>
          <a:xfrm>
            <a:off x="576072" y="1572461"/>
            <a:ext cx="7223760" cy="4188567"/>
          </a:xfrm>
          <a:prstGeom prst="rect">
            <a:avLst/>
          </a:prstGeom>
          <a:noFill/>
          <a:ln>
            <a:noFill/>
          </a:ln>
        </p:spPr>
      </p:pic>
      <p:sp>
        <p:nvSpPr>
          <p:cNvPr id="303" name="Google Shape;303;p12"/>
          <p:cNvSpPr/>
          <p:nvPr/>
        </p:nvSpPr>
        <p:spPr>
          <a:xfrm>
            <a:off x="8138160" y="1572768"/>
            <a:ext cx="3520440" cy="1051560"/>
          </a:xfrm>
          <a:prstGeom prst="roundRect">
            <a:avLst>
              <a:gd fmla="val 8696" name="adj"/>
            </a:avLst>
          </a:prstGeom>
          <a:solidFill>
            <a:srgbClr val="EAF2F5"/>
          </a:solidFill>
          <a:ln cap="flat" cmpd="sng" w="12700">
            <a:solidFill>
              <a:srgbClr val="397DA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2"/>
          <p:cNvSpPr txBox="1"/>
          <p:nvPr/>
        </p:nvSpPr>
        <p:spPr>
          <a:xfrm>
            <a:off x="8284464" y="1673352"/>
            <a:ext cx="3227832"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97DA3"/>
              </a:buClr>
              <a:buSzPts val="1500"/>
              <a:buFont typeface="Arial"/>
              <a:buNone/>
            </a:pPr>
            <a:r>
              <a:rPr b="1" i="0" lang="en-US" sz="1500" u="none" cap="none" strike="noStrike">
                <a:solidFill>
                  <a:srgbClr val="397DA3"/>
                </a:solidFill>
                <a:latin typeface="Arial"/>
                <a:ea typeface="Arial"/>
                <a:cs typeface="Arial"/>
                <a:sym typeface="Arial"/>
              </a:rPr>
              <a:t>D1 — finest detail</a:t>
            </a:r>
            <a:endParaRPr b="0" i="0" sz="1500" u="none" cap="none" strike="noStrike">
              <a:solidFill>
                <a:schemeClr val="dk1"/>
              </a:solidFill>
              <a:latin typeface="Arial"/>
              <a:ea typeface="Arial"/>
              <a:cs typeface="Arial"/>
              <a:sym typeface="Arial"/>
            </a:endParaRPr>
          </a:p>
        </p:txBody>
      </p:sp>
      <p:sp>
        <p:nvSpPr>
          <p:cNvPr id="305" name="Google Shape;305;p12"/>
          <p:cNvSpPr txBox="1"/>
          <p:nvPr/>
        </p:nvSpPr>
        <p:spPr>
          <a:xfrm>
            <a:off x="8284464" y="2011680"/>
            <a:ext cx="3227832" cy="521208"/>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203447"/>
              </a:buClr>
              <a:buSzPts val="1220"/>
              <a:buFont typeface="Arial"/>
              <a:buNone/>
            </a:pPr>
            <a:r>
              <a:rPr b="0" i="0" lang="en-US" sz="1220" u="none" cap="none" strike="noStrike">
                <a:solidFill>
                  <a:srgbClr val="203447"/>
                </a:solidFill>
                <a:latin typeface="Arial"/>
                <a:ea typeface="Arial"/>
                <a:cs typeface="Arial"/>
                <a:sym typeface="Arial"/>
              </a:rPr>
              <a:t>Fastest changes and fine-scale variation.</a:t>
            </a:r>
            <a:endParaRPr b="0" i="0" sz="1220" u="none" cap="none" strike="noStrike">
              <a:solidFill>
                <a:schemeClr val="dk1"/>
              </a:solidFill>
              <a:latin typeface="Arial"/>
              <a:ea typeface="Arial"/>
              <a:cs typeface="Arial"/>
              <a:sym typeface="Arial"/>
            </a:endParaRPr>
          </a:p>
        </p:txBody>
      </p:sp>
      <p:sp>
        <p:nvSpPr>
          <p:cNvPr id="306" name="Google Shape;306;p12"/>
          <p:cNvSpPr/>
          <p:nvPr/>
        </p:nvSpPr>
        <p:spPr>
          <a:xfrm>
            <a:off x="8138160" y="2761488"/>
            <a:ext cx="3520440" cy="1051560"/>
          </a:xfrm>
          <a:prstGeom prst="roundRect">
            <a:avLst>
              <a:gd fmla="val 8696" name="adj"/>
            </a:avLst>
          </a:prstGeom>
          <a:solidFill>
            <a:srgbClr val="E8F2EF"/>
          </a:solidFill>
          <a:ln cap="flat" cmpd="sng" w="12700">
            <a:solidFill>
              <a:srgbClr val="4E92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2"/>
          <p:cNvSpPr txBox="1"/>
          <p:nvPr/>
        </p:nvSpPr>
        <p:spPr>
          <a:xfrm>
            <a:off x="8284464" y="2862072"/>
            <a:ext cx="3227832"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4E928B"/>
              </a:buClr>
              <a:buSzPts val="1500"/>
              <a:buFont typeface="Arial"/>
              <a:buNone/>
            </a:pPr>
            <a:r>
              <a:rPr b="1" i="0" lang="en-US" sz="1500" u="none" cap="none" strike="noStrike">
                <a:solidFill>
                  <a:srgbClr val="4E928B"/>
                </a:solidFill>
                <a:latin typeface="Arial"/>
                <a:ea typeface="Arial"/>
                <a:cs typeface="Arial"/>
                <a:sym typeface="Arial"/>
              </a:rPr>
              <a:t>D2 and D3</a:t>
            </a:r>
            <a:endParaRPr b="0" i="0" sz="1500" u="none" cap="none" strike="noStrike">
              <a:solidFill>
                <a:schemeClr val="dk1"/>
              </a:solidFill>
              <a:latin typeface="Arial"/>
              <a:ea typeface="Arial"/>
              <a:cs typeface="Arial"/>
              <a:sym typeface="Arial"/>
            </a:endParaRPr>
          </a:p>
        </p:txBody>
      </p:sp>
      <p:sp>
        <p:nvSpPr>
          <p:cNvPr id="308" name="Google Shape;308;p12"/>
          <p:cNvSpPr txBox="1"/>
          <p:nvPr/>
        </p:nvSpPr>
        <p:spPr>
          <a:xfrm>
            <a:off x="8284464" y="3200400"/>
            <a:ext cx="3227832" cy="521208"/>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203447"/>
              </a:buClr>
              <a:buSzPts val="1220"/>
              <a:buFont typeface="Arial"/>
              <a:buNone/>
            </a:pPr>
            <a:r>
              <a:rPr b="0" i="0" lang="en-US" sz="1220" u="none" cap="none" strike="noStrike">
                <a:solidFill>
                  <a:srgbClr val="203447"/>
                </a:solidFill>
                <a:latin typeface="Arial"/>
                <a:ea typeface="Arial"/>
                <a:cs typeface="Arial"/>
                <a:sym typeface="Arial"/>
              </a:rPr>
              <a:t>Progressively coarser detail patterns.</a:t>
            </a:r>
            <a:endParaRPr b="0" i="0" sz="1220" u="none" cap="none" strike="noStrike">
              <a:solidFill>
                <a:schemeClr val="dk1"/>
              </a:solidFill>
              <a:latin typeface="Arial"/>
              <a:ea typeface="Arial"/>
              <a:cs typeface="Arial"/>
              <a:sym typeface="Arial"/>
            </a:endParaRPr>
          </a:p>
        </p:txBody>
      </p:sp>
      <p:sp>
        <p:nvSpPr>
          <p:cNvPr id="309" name="Google Shape;309;p12"/>
          <p:cNvSpPr/>
          <p:nvPr/>
        </p:nvSpPr>
        <p:spPr>
          <a:xfrm>
            <a:off x="8138160" y="3950208"/>
            <a:ext cx="3520440" cy="1325880"/>
          </a:xfrm>
          <a:prstGeom prst="roundRect">
            <a:avLst>
              <a:gd fmla="val 6897" name="adj"/>
            </a:avLst>
          </a:prstGeom>
          <a:solidFill>
            <a:srgbClr val="F8EEE3"/>
          </a:solidFill>
          <a:ln cap="flat" cmpd="sng" w="12700">
            <a:solidFill>
              <a:srgbClr val="D58A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2"/>
          <p:cNvSpPr txBox="1"/>
          <p:nvPr/>
        </p:nvSpPr>
        <p:spPr>
          <a:xfrm>
            <a:off x="8284464" y="4050792"/>
            <a:ext cx="3227832"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D58A4B"/>
              </a:buClr>
              <a:buSzPts val="1500"/>
              <a:buFont typeface="Arial"/>
              <a:buNone/>
            </a:pPr>
            <a:r>
              <a:rPr b="1" i="0" lang="en-US" sz="1500" u="none" cap="none" strike="noStrike">
                <a:solidFill>
                  <a:srgbClr val="D58A4B"/>
                </a:solidFill>
                <a:latin typeface="Arial"/>
                <a:ea typeface="Arial"/>
                <a:cs typeface="Arial"/>
                <a:sym typeface="Arial"/>
              </a:rPr>
              <a:t>Important caveat</a:t>
            </a:r>
            <a:endParaRPr b="0" i="0" sz="1500" u="none" cap="none" strike="noStrike">
              <a:solidFill>
                <a:schemeClr val="dk1"/>
              </a:solidFill>
              <a:latin typeface="Arial"/>
              <a:ea typeface="Arial"/>
              <a:cs typeface="Arial"/>
              <a:sym typeface="Arial"/>
            </a:endParaRPr>
          </a:p>
        </p:txBody>
      </p:sp>
      <p:sp>
        <p:nvSpPr>
          <p:cNvPr id="311" name="Google Shape;311;p12"/>
          <p:cNvSpPr txBox="1"/>
          <p:nvPr/>
        </p:nvSpPr>
        <p:spPr>
          <a:xfrm>
            <a:off x="8284464" y="4389120"/>
            <a:ext cx="3227832" cy="795528"/>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203447"/>
              </a:buClr>
              <a:buSzPts val="1220"/>
              <a:buFont typeface="Arial"/>
              <a:buNone/>
            </a:pPr>
            <a:r>
              <a:rPr b="0" i="0" lang="en-US" sz="1220" u="none" cap="none" strike="noStrike">
                <a:solidFill>
                  <a:srgbClr val="203447"/>
                </a:solidFill>
                <a:latin typeface="Arial"/>
                <a:ea typeface="Arial"/>
                <a:cs typeface="Arial"/>
                <a:sym typeface="Arial"/>
              </a:rPr>
              <a:t>Sharp physiological features can also appear in details. Detail does not automatically mean noise.</a:t>
            </a:r>
            <a:endParaRPr b="0" i="0" sz="1220" u="none" cap="none" strike="noStrike">
              <a:solidFill>
                <a:schemeClr val="dk1"/>
              </a:solidFill>
              <a:latin typeface="Arial"/>
              <a:ea typeface="Arial"/>
              <a:cs typeface="Arial"/>
              <a:sym typeface="Arial"/>
            </a:endParaRPr>
          </a:p>
        </p:txBody>
      </p:sp>
      <p:sp>
        <p:nvSpPr>
          <p:cNvPr id="312" name="Google Shape;312;p12"/>
          <p:cNvSpPr txBox="1"/>
          <p:nvPr>
            <p:ph idx="4294967295" type="sldNum"/>
          </p:nvPr>
        </p:nvSpPr>
        <p:spPr>
          <a:xfrm>
            <a:off x="11338560" y="653796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800" u="none" cap="none" strike="noStrike">
                <a:solidFill>
                  <a:srgbClr val="7A858D"/>
                </a:solidFill>
                <a:latin typeface="Arial"/>
                <a:ea typeface="Arial"/>
                <a:cs typeface="Arial"/>
                <a:sym typeface="Arial"/>
              </a:rPr>
              <a:t>‹#›</a:t>
            </a:fld>
            <a:endParaRPr b="0" i="0" sz="800" u="none" cap="none" strike="noStrike">
              <a:solidFill>
                <a:srgbClr val="7A858D"/>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317" name="Shape 317"/>
        <p:cNvGrpSpPr/>
        <p:nvPr/>
      </p:nvGrpSpPr>
      <p:grpSpPr>
        <a:xfrm>
          <a:off x="0" y="0"/>
          <a:ext cx="0" cy="0"/>
          <a:chOff x="0" y="0"/>
          <a:chExt cx="0" cy="0"/>
        </a:xfrm>
      </p:grpSpPr>
      <p:sp>
        <p:nvSpPr>
          <p:cNvPr id="318" name="Google Shape;318;p13"/>
          <p:cNvSpPr/>
          <p:nvPr/>
        </p:nvSpPr>
        <p:spPr>
          <a:xfrm>
            <a:off x="9646920" y="274320"/>
            <a:ext cx="2084832" cy="310896"/>
          </a:xfrm>
          <a:prstGeom prst="roundRect">
            <a:avLst>
              <a:gd fmla="val 29412" name="adj"/>
            </a:avLst>
          </a:prstGeom>
          <a:solidFill>
            <a:srgbClr val="EAF2F5"/>
          </a:solidFill>
          <a:ln cap="flat" cmpd="sng" w="9525">
            <a:solidFill>
              <a:srgbClr val="EAF2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3"/>
          <p:cNvSpPr txBox="1"/>
          <p:nvPr/>
        </p:nvSpPr>
        <p:spPr>
          <a:xfrm>
            <a:off x="9710928" y="310896"/>
            <a:ext cx="1956816" cy="21945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397DA3"/>
              </a:buClr>
              <a:buSzPts val="850"/>
              <a:buFont typeface="Arial"/>
              <a:buNone/>
            </a:pPr>
            <a:r>
              <a:rPr b="1" i="0" lang="en-US" sz="850" u="none" cap="none" strike="noStrike">
                <a:solidFill>
                  <a:srgbClr val="397DA3"/>
                </a:solidFill>
                <a:latin typeface="Arial"/>
                <a:ea typeface="Arial"/>
                <a:cs typeface="Arial"/>
                <a:sym typeface="Arial"/>
              </a:rPr>
              <a:t>DWT</a:t>
            </a:r>
            <a:endParaRPr b="0" i="0" sz="850" u="none" cap="none" strike="noStrike">
              <a:solidFill>
                <a:schemeClr val="dk1"/>
              </a:solidFill>
              <a:latin typeface="Arial"/>
              <a:ea typeface="Arial"/>
              <a:cs typeface="Arial"/>
              <a:sym typeface="Arial"/>
            </a:endParaRPr>
          </a:p>
        </p:txBody>
      </p:sp>
      <p:sp>
        <p:nvSpPr>
          <p:cNvPr id="320" name="Google Shape;320;p13"/>
          <p:cNvSpPr txBox="1"/>
          <p:nvPr/>
        </p:nvSpPr>
        <p:spPr>
          <a:xfrm>
            <a:off x="438912" y="292608"/>
            <a:ext cx="896112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2700"/>
              <a:buFont typeface="Play"/>
              <a:buNone/>
            </a:pPr>
            <a:r>
              <a:rPr b="1" i="0" lang="en-US" sz="2700" u="none" cap="none" strike="noStrike">
                <a:solidFill>
                  <a:srgbClr val="203447"/>
                </a:solidFill>
                <a:latin typeface="Play"/>
                <a:ea typeface="Play"/>
                <a:cs typeface="Play"/>
                <a:sym typeface="Play"/>
              </a:rPr>
              <a:t>Different wavelet families, different coefficient patterns</a:t>
            </a:r>
            <a:endParaRPr b="0" i="0" sz="2700" u="none" cap="none" strike="noStrike">
              <a:solidFill>
                <a:schemeClr val="dk1"/>
              </a:solidFill>
              <a:latin typeface="Arial"/>
              <a:ea typeface="Arial"/>
              <a:cs typeface="Arial"/>
              <a:sym typeface="Arial"/>
            </a:endParaRPr>
          </a:p>
        </p:txBody>
      </p:sp>
      <p:sp>
        <p:nvSpPr>
          <p:cNvPr id="321" name="Google Shape;321;p13"/>
          <p:cNvSpPr txBox="1"/>
          <p:nvPr/>
        </p:nvSpPr>
        <p:spPr>
          <a:xfrm>
            <a:off x="457200" y="804672"/>
            <a:ext cx="11064240" cy="32918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1717D"/>
              </a:buClr>
              <a:buSzPts val="1250"/>
              <a:buFont typeface="Arial"/>
              <a:buNone/>
            </a:pPr>
            <a:r>
              <a:rPr b="0" i="0" lang="en-US" sz="1250" u="none" cap="none" strike="noStrike">
                <a:solidFill>
                  <a:srgbClr val="61717D"/>
                </a:solidFill>
                <a:latin typeface="Arial"/>
                <a:ea typeface="Arial"/>
                <a:cs typeface="Arial"/>
                <a:sym typeface="Arial"/>
              </a:rPr>
              <a:t>We compared the representation, not just the names</a:t>
            </a:r>
            <a:endParaRPr b="0" i="0" sz="1250" u="none" cap="none" strike="noStrike">
              <a:solidFill>
                <a:schemeClr val="dk1"/>
              </a:solidFill>
              <a:latin typeface="Arial"/>
              <a:ea typeface="Arial"/>
              <a:cs typeface="Arial"/>
              <a:sym typeface="Arial"/>
            </a:endParaRPr>
          </a:p>
        </p:txBody>
      </p:sp>
      <p:cxnSp>
        <p:nvCxnSpPr>
          <p:cNvPr id="322" name="Google Shape;322;p13"/>
          <p:cNvCxnSpPr/>
          <p:nvPr/>
        </p:nvCxnSpPr>
        <p:spPr>
          <a:xfrm>
            <a:off x="438912" y="1197864"/>
            <a:ext cx="11292840" cy="0"/>
          </a:xfrm>
          <a:prstGeom prst="straightConnector1">
            <a:avLst/>
          </a:prstGeom>
          <a:noFill/>
          <a:ln cap="flat" cmpd="sng" w="22850">
            <a:solidFill>
              <a:srgbClr val="4E928B"/>
            </a:solidFill>
            <a:prstDash val="solid"/>
            <a:round/>
            <a:headEnd len="sm" w="sm" type="none"/>
            <a:tailEnd len="sm" w="sm" type="none"/>
          </a:ln>
        </p:spPr>
      </p:cxnSp>
      <p:sp>
        <p:nvSpPr>
          <p:cNvPr id="323" name="Google Shape;323;p13"/>
          <p:cNvSpPr/>
          <p:nvPr/>
        </p:nvSpPr>
        <p:spPr>
          <a:xfrm>
            <a:off x="438912" y="1389888"/>
            <a:ext cx="7452360" cy="4553712"/>
          </a:xfrm>
          <a:prstGeom prst="roundRect">
            <a:avLst>
              <a:gd fmla="val 1606" name="adj"/>
            </a:avLst>
          </a:prstGeom>
          <a:solidFill>
            <a:srgbClr val="FFFFFF"/>
          </a:solidFill>
          <a:ln cap="flat" cmpd="sng" w="10150">
            <a:solidFill>
              <a:srgbClr val="DD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nt/data/image(4).png" id="324" name="Google Shape;324;p13"/>
          <p:cNvPicPr preferRelativeResize="0"/>
          <p:nvPr/>
        </p:nvPicPr>
        <p:blipFill rotWithShape="1">
          <a:blip r:embed="rId3">
            <a:alphaModFix/>
          </a:blip>
          <a:srcRect b="0" l="0" r="0" t="0"/>
          <a:stretch/>
        </p:blipFill>
        <p:spPr>
          <a:xfrm>
            <a:off x="1181888" y="1435608"/>
            <a:ext cx="5966409" cy="4462272"/>
          </a:xfrm>
          <a:prstGeom prst="rect">
            <a:avLst/>
          </a:prstGeom>
          <a:noFill/>
          <a:ln>
            <a:noFill/>
          </a:ln>
        </p:spPr>
      </p:pic>
      <p:sp>
        <p:nvSpPr>
          <p:cNvPr id="325" name="Google Shape;325;p13"/>
          <p:cNvSpPr txBox="1"/>
          <p:nvPr/>
        </p:nvSpPr>
        <p:spPr>
          <a:xfrm>
            <a:off x="8156448" y="1554480"/>
            <a:ext cx="3383280" cy="38404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1530"/>
              <a:buFont typeface="Arial"/>
              <a:buNone/>
            </a:pPr>
            <a:r>
              <a:rPr b="1" i="0" lang="en-US" sz="1530" u="none" cap="none" strike="noStrike">
                <a:solidFill>
                  <a:srgbClr val="203447"/>
                </a:solidFill>
                <a:latin typeface="Arial"/>
                <a:ea typeface="Arial"/>
                <a:cs typeface="Arial"/>
                <a:sym typeface="Arial"/>
              </a:rPr>
              <a:t>Coefficient-energy values from this run</a:t>
            </a:r>
            <a:endParaRPr b="0" i="0" sz="1530" u="none" cap="none" strike="noStrike">
              <a:solidFill>
                <a:schemeClr val="dk1"/>
              </a:solidFill>
              <a:latin typeface="Arial"/>
              <a:ea typeface="Arial"/>
              <a:cs typeface="Arial"/>
              <a:sym typeface="Arial"/>
            </a:endParaRPr>
          </a:p>
        </p:txBody>
      </p:sp>
      <p:sp>
        <p:nvSpPr>
          <p:cNvPr id="326" name="Google Shape;326;p13"/>
          <p:cNvSpPr txBox="1"/>
          <p:nvPr/>
        </p:nvSpPr>
        <p:spPr>
          <a:xfrm>
            <a:off x="8193024" y="2103120"/>
            <a:ext cx="1554480"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1400"/>
              <a:buFont typeface="Arial"/>
              <a:buNone/>
            </a:pPr>
            <a:r>
              <a:rPr b="1" i="0" lang="en-US" sz="1400" u="none" cap="none" strike="noStrike">
                <a:solidFill>
                  <a:srgbClr val="203447"/>
                </a:solidFill>
                <a:latin typeface="Arial"/>
                <a:ea typeface="Arial"/>
                <a:cs typeface="Arial"/>
                <a:sym typeface="Arial"/>
              </a:rPr>
              <a:t>Haar</a:t>
            </a:r>
            <a:endParaRPr b="0" i="0" sz="1400" u="none" cap="none" strike="noStrike">
              <a:solidFill>
                <a:schemeClr val="dk1"/>
              </a:solidFill>
              <a:latin typeface="Arial"/>
              <a:ea typeface="Arial"/>
              <a:cs typeface="Arial"/>
              <a:sym typeface="Arial"/>
            </a:endParaRPr>
          </a:p>
        </p:txBody>
      </p:sp>
      <p:sp>
        <p:nvSpPr>
          <p:cNvPr id="327" name="Google Shape;327;p13"/>
          <p:cNvSpPr txBox="1"/>
          <p:nvPr/>
        </p:nvSpPr>
        <p:spPr>
          <a:xfrm>
            <a:off x="10012680" y="2103120"/>
            <a:ext cx="1097280" cy="274320"/>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397DA3"/>
              </a:buClr>
              <a:buSzPts val="1500"/>
              <a:buFont typeface="Arial"/>
              <a:buNone/>
            </a:pPr>
            <a:r>
              <a:rPr b="1" i="0" lang="en-US" sz="1500" u="none" cap="none" strike="noStrike">
                <a:solidFill>
                  <a:srgbClr val="397DA3"/>
                </a:solidFill>
                <a:latin typeface="Arial"/>
                <a:ea typeface="Arial"/>
                <a:cs typeface="Arial"/>
                <a:sym typeface="Arial"/>
              </a:rPr>
              <a:t>0.8166</a:t>
            </a:r>
            <a:endParaRPr b="0" i="0" sz="1500" u="none" cap="none" strike="noStrike">
              <a:solidFill>
                <a:schemeClr val="dk1"/>
              </a:solidFill>
              <a:latin typeface="Arial"/>
              <a:ea typeface="Arial"/>
              <a:cs typeface="Arial"/>
              <a:sym typeface="Arial"/>
            </a:endParaRPr>
          </a:p>
        </p:txBody>
      </p:sp>
      <p:cxnSp>
        <p:nvCxnSpPr>
          <p:cNvPr id="328" name="Google Shape;328;p13"/>
          <p:cNvCxnSpPr/>
          <p:nvPr/>
        </p:nvCxnSpPr>
        <p:spPr>
          <a:xfrm>
            <a:off x="8193024" y="2459736"/>
            <a:ext cx="2862072" cy="0"/>
          </a:xfrm>
          <a:prstGeom prst="straightConnector1">
            <a:avLst/>
          </a:prstGeom>
          <a:noFill/>
          <a:ln cap="flat" cmpd="sng" w="10150">
            <a:solidFill>
              <a:srgbClr val="DDE4E7"/>
            </a:solidFill>
            <a:prstDash val="solid"/>
            <a:round/>
            <a:headEnd len="sm" w="sm" type="none"/>
            <a:tailEnd len="sm" w="sm" type="none"/>
          </a:ln>
        </p:spPr>
      </p:cxnSp>
      <p:sp>
        <p:nvSpPr>
          <p:cNvPr id="329" name="Google Shape;329;p13"/>
          <p:cNvSpPr txBox="1"/>
          <p:nvPr/>
        </p:nvSpPr>
        <p:spPr>
          <a:xfrm>
            <a:off x="8193024" y="2724912"/>
            <a:ext cx="1554480"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1400"/>
              <a:buFont typeface="Arial"/>
              <a:buNone/>
            </a:pPr>
            <a:r>
              <a:rPr b="1" i="0" lang="en-US" sz="1400" u="none" cap="none" strike="noStrike">
                <a:solidFill>
                  <a:srgbClr val="203447"/>
                </a:solidFill>
                <a:latin typeface="Arial"/>
                <a:ea typeface="Arial"/>
                <a:cs typeface="Arial"/>
                <a:sym typeface="Arial"/>
              </a:rPr>
              <a:t>Daubechies</a:t>
            </a:r>
            <a:endParaRPr b="0" i="0" sz="1400" u="none" cap="none" strike="noStrike">
              <a:solidFill>
                <a:schemeClr val="dk1"/>
              </a:solidFill>
              <a:latin typeface="Arial"/>
              <a:ea typeface="Arial"/>
              <a:cs typeface="Arial"/>
              <a:sym typeface="Arial"/>
            </a:endParaRPr>
          </a:p>
        </p:txBody>
      </p:sp>
      <p:sp>
        <p:nvSpPr>
          <p:cNvPr id="330" name="Google Shape;330;p13"/>
          <p:cNvSpPr txBox="1"/>
          <p:nvPr/>
        </p:nvSpPr>
        <p:spPr>
          <a:xfrm>
            <a:off x="10012680" y="2724912"/>
            <a:ext cx="1097280" cy="274320"/>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4E928B"/>
              </a:buClr>
              <a:buSzPts val="1500"/>
              <a:buFont typeface="Arial"/>
              <a:buNone/>
            </a:pPr>
            <a:r>
              <a:rPr b="1" i="0" lang="en-US" sz="1500" u="none" cap="none" strike="noStrike">
                <a:solidFill>
                  <a:srgbClr val="4E928B"/>
                </a:solidFill>
                <a:latin typeface="Arial"/>
                <a:ea typeface="Arial"/>
                <a:cs typeface="Arial"/>
                <a:sym typeface="Arial"/>
              </a:rPr>
              <a:t>0.6550</a:t>
            </a:r>
            <a:endParaRPr b="0" i="0" sz="1500" u="none" cap="none" strike="noStrike">
              <a:solidFill>
                <a:schemeClr val="dk1"/>
              </a:solidFill>
              <a:latin typeface="Arial"/>
              <a:ea typeface="Arial"/>
              <a:cs typeface="Arial"/>
              <a:sym typeface="Arial"/>
            </a:endParaRPr>
          </a:p>
        </p:txBody>
      </p:sp>
      <p:cxnSp>
        <p:nvCxnSpPr>
          <p:cNvPr id="331" name="Google Shape;331;p13"/>
          <p:cNvCxnSpPr/>
          <p:nvPr/>
        </p:nvCxnSpPr>
        <p:spPr>
          <a:xfrm>
            <a:off x="8193024" y="3081528"/>
            <a:ext cx="2862072" cy="0"/>
          </a:xfrm>
          <a:prstGeom prst="straightConnector1">
            <a:avLst/>
          </a:prstGeom>
          <a:noFill/>
          <a:ln cap="flat" cmpd="sng" w="10150">
            <a:solidFill>
              <a:srgbClr val="DDE4E7"/>
            </a:solidFill>
            <a:prstDash val="solid"/>
            <a:round/>
            <a:headEnd len="sm" w="sm" type="none"/>
            <a:tailEnd len="sm" w="sm" type="none"/>
          </a:ln>
        </p:spPr>
      </p:cxnSp>
      <p:sp>
        <p:nvSpPr>
          <p:cNvPr id="332" name="Google Shape;332;p13"/>
          <p:cNvSpPr txBox="1"/>
          <p:nvPr/>
        </p:nvSpPr>
        <p:spPr>
          <a:xfrm>
            <a:off x="8193024" y="3346704"/>
            <a:ext cx="1554480"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1400"/>
              <a:buFont typeface="Arial"/>
              <a:buNone/>
            </a:pPr>
            <a:r>
              <a:rPr b="1" i="0" lang="en-US" sz="1400" u="none" cap="none" strike="noStrike">
                <a:solidFill>
                  <a:srgbClr val="203447"/>
                </a:solidFill>
                <a:latin typeface="Arial"/>
                <a:ea typeface="Arial"/>
                <a:cs typeface="Arial"/>
                <a:sym typeface="Arial"/>
              </a:rPr>
              <a:t>Symlet</a:t>
            </a:r>
            <a:endParaRPr b="0" i="0" sz="1400" u="none" cap="none" strike="noStrike">
              <a:solidFill>
                <a:schemeClr val="dk1"/>
              </a:solidFill>
              <a:latin typeface="Arial"/>
              <a:ea typeface="Arial"/>
              <a:cs typeface="Arial"/>
              <a:sym typeface="Arial"/>
            </a:endParaRPr>
          </a:p>
        </p:txBody>
      </p:sp>
      <p:sp>
        <p:nvSpPr>
          <p:cNvPr id="333" name="Google Shape;333;p13"/>
          <p:cNvSpPr txBox="1"/>
          <p:nvPr/>
        </p:nvSpPr>
        <p:spPr>
          <a:xfrm>
            <a:off x="10012680" y="3346704"/>
            <a:ext cx="1097280" cy="274320"/>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D58A4B"/>
              </a:buClr>
              <a:buSzPts val="1500"/>
              <a:buFont typeface="Arial"/>
              <a:buNone/>
            </a:pPr>
            <a:r>
              <a:rPr b="1" i="0" lang="en-US" sz="1500" u="none" cap="none" strike="noStrike">
                <a:solidFill>
                  <a:srgbClr val="D58A4B"/>
                </a:solidFill>
                <a:latin typeface="Arial"/>
                <a:ea typeface="Arial"/>
                <a:cs typeface="Arial"/>
                <a:sym typeface="Arial"/>
              </a:rPr>
              <a:t>0.6401</a:t>
            </a:r>
            <a:endParaRPr b="0" i="0" sz="1500" u="none" cap="none" strike="noStrike">
              <a:solidFill>
                <a:schemeClr val="dk1"/>
              </a:solidFill>
              <a:latin typeface="Arial"/>
              <a:ea typeface="Arial"/>
              <a:cs typeface="Arial"/>
              <a:sym typeface="Arial"/>
            </a:endParaRPr>
          </a:p>
        </p:txBody>
      </p:sp>
      <p:cxnSp>
        <p:nvCxnSpPr>
          <p:cNvPr id="334" name="Google Shape;334;p13"/>
          <p:cNvCxnSpPr/>
          <p:nvPr/>
        </p:nvCxnSpPr>
        <p:spPr>
          <a:xfrm>
            <a:off x="8193024" y="3703320"/>
            <a:ext cx="2862072" cy="0"/>
          </a:xfrm>
          <a:prstGeom prst="straightConnector1">
            <a:avLst/>
          </a:prstGeom>
          <a:noFill/>
          <a:ln cap="flat" cmpd="sng" w="10150">
            <a:solidFill>
              <a:srgbClr val="DDE4E7"/>
            </a:solidFill>
            <a:prstDash val="solid"/>
            <a:round/>
            <a:headEnd len="sm" w="sm" type="none"/>
            <a:tailEnd len="sm" w="sm" type="none"/>
          </a:ln>
        </p:spPr>
      </p:cxnSp>
      <p:sp>
        <p:nvSpPr>
          <p:cNvPr id="335" name="Google Shape;335;p13"/>
          <p:cNvSpPr txBox="1"/>
          <p:nvPr/>
        </p:nvSpPr>
        <p:spPr>
          <a:xfrm>
            <a:off x="8193024" y="3968496"/>
            <a:ext cx="1554480"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1400"/>
              <a:buFont typeface="Arial"/>
              <a:buNone/>
            </a:pPr>
            <a:r>
              <a:rPr b="1" i="0" lang="en-US" sz="1400" u="none" cap="none" strike="noStrike">
                <a:solidFill>
                  <a:srgbClr val="203447"/>
                </a:solidFill>
                <a:latin typeface="Arial"/>
                <a:ea typeface="Arial"/>
                <a:cs typeface="Arial"/>
                <a:sym typeface="Arial"/>
              </a:rPr>
              <a:t>Coiflet</a:t>
            </a:r>
            <a:endParaRPr b="0" i="0" sz="1400" u="none" cap="none" strike="noStrike">
              <a:solidFill>
                <a:schemeClr val="dk1"/>
              </a:solidFill>
              <a:latin typeface="Arial"/>
              <a:ea typeface="Arial"/>
              <a:cs typeface="Arial"/>
              <a:sym typeface="Arial"/>
            </a:endParaRPr>
          </a:p>
        </p:txBody>
      </p:sp>
      <p:sp>
        <p:nvSpPr>
          <p:cNvPr id="336" name="Google Shape;336;p13"/>
          <p:cNvSpPr txBox="1"/>
          <p:nvPr/>
        </p:nvSpPr>
        <p:spPr>
          <a:xfrm>
            <a:off x="10012680" y="3968496"/>
            <a:ext cx="1097280" cy="274320"/>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2D6C68"/>
              </a:buClr>
              <a:buSzPts val="1500"/>
              <a:buFont typeface="Arial"/>
              <a:buNone/>
            </a:pPr>
            <a:r>
              <a:rPr b="1" i="0" lang="en-US" sz="1500" u="none" cap="none" strike="noStrike">
                <a:solidFill>
                  <a:srgbClr val="2D6C68"/>
                </a:solidFill>
                <a:latin typeface="Arial"/>
                <a:ea typeface="Arial"/>
                <a:cs typeface="Arial"/>
                <a:sym typeface="Arial"/>
              </a:rPr>
              <a:t>0.6648</a:t>
            </a:r>
            <a:endParaRPr b="0" i="0" sz="1500" u="none" cap="none" strike="noStrike">
              <a:solidFill>
                <a:schemeClr val="dk1"/>
              </a:solidFill>
              <a:latin typeface="Arial"/>
              <a:ea typeface="Arial"/>
              <a:cs typeface="Arial"/>
              <a:sym typeface="Arial"/>
            </a:endParaRPr>
          </a:p>
        </p:txBody>
      </p:sp>
      <p:cxnSp>
        <p:nvCxnSpPr>
          <p:cNvPr id="337" name="Google Shape;337;p13"/>
          <p:cNvCxnSpPr/>
          <p:nvPr/>
        </p:nvCxnSpPr>
        <p:spPr>
          <a:xfrm>
            <a:off x="8193024" y="4325112"/>
            <a:ext cx="2862072" cy="0"/>
          </a:xfrm>
          <a:prstGeom prst="straightConnector1">
            <a:avLst/>
          </a:prstGeom>
          <a:noFill/>
          <a:ln cap="flat" cmpd="sng" w="10150">
            <a:solidFill>
              <a:srgbClr val="DDE4E7"/>
            </a:solidFill>
            <a:prstDash val="solid"/>
            <a:round/>
            <a:headEnd len="sm" w="sm" type="none"/>
            <a:tailEnd len="sm" w="sm" type="none"/>
          </a:ln>
        </p:spPr>
      </p:cxnSp>
      <p:sp>
        <p:nvSpPr>
          <p:cNvPr id="338" name="Google Shape;338;p13"/>
          <p:cNvSpPr txBox="1"/>
          <p:nvPr/>
        </p:nvSpPr>
        <p:spPr>
          <a:xfrm>
            <a:off x="8174736" y="4828032"/>
            <a:ext cx="3429000" cy="786384"/>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61717D"/>
              </a:buClr>
              <a:buSzPts val="1150"/>
              <a:buFont typeface="Arial"/>
              <a:buNone/>
            </a:pPr>
            <a:r>
              <a:rPr b="0" i="0" lang="en-US" sz="1150" u="none" cap="none" strike="noStrike">
                <a:solidFill>
                  <a:srgbClr val="61717D"/>
                </a:solidFill>
                <a:latin typeface="Arial"/>
                <a:ea typeface="Arial"/>
                <a:cs typeface="Arial"/>
                <a:sym typeface="Arial"/>
              </a:rPr>
              <a:t>These values depend on the transform and normalization used. They are not the same as relative-energy percentages.</a:t>
            </a:r>
            <a:endParaRPr b="0" i="0" sz="1150" u="none" cap="none" strike="noStrike">
              <a:solidFill>
                <a:schemeClr val="dk1"/>
              </a:solidFill>
              <a:latin typeface="Arial"/>
              <a:ea typeface="Arial"/>
              <a:cs typeface="Arial"/>
              <a:sym typeface="Arial"/>
            </a:endParaRPr>
          </a:p>
        </p:txBody>
      </p:sp>
      <p:sp>
        <p:nvSpPr>
          <p:cNvPr id="339" name="Google Shape;339;p13"/>
          <p:cNvSpPr txBox="1"/>
          <p:nvPr>
            <p:ph idx="4294967295" type="sldNum"/>
          </p:nvPr>
        </p:nvSpPr>
        <p:spPr>
          <a:xfrm>
            <a:off x="11338560" y="653796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800" u="none" cap="none" strike="noStrike">
                <a:solidFill>
                  <a:srgbClr val="7A858D"/>
                </a:solidFill>
                <a:latin typeface="Arial"/>
                <a:ea typeface="Arial"/>
                <a:cs typeface="Arial"/>
                <a:sym typeface="Arial"/>
              </a:rPr>
              <a:t>‹#›</a:t>
            </a:fld>
            <a:endParaRPr b="0" i="0" sz="800" u="none" cap="none" strike="noStrike">
              <a:solidFill>
                <a:srgbClr val="7A858D"/>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344" name="Shape 344"/>
        <p:cNvGrpSpPr/>
        <p:nvPr/>
      </p:nvGrpSpPr>
      <p:grpSpPr>
        <a:xfrm>
          <a:off x="0" y="0"/>
          <a:ext cx="0" cy="0"/>
          <a:chOff x="0" y="0"/>
          <a:chExt cx="0" cy="0"/>
        </a:xfrm>
      </p:grpSpPr>
      <p:sp>
        <p:nvSpPr>
          <p:cNvPr id="345" name="Google Shape;345;p14"/>
          <p:cNvSpPr/>
          <p:nvPr/>
        </p:nvSpPr>
        <p:spPr>
          <a:xfrm>
            <a:off x="9646920" y="274320"/>
            <a:ext cx="2084832" cy="310896"/>
          </a:xfrm>
          <a:prstGeom prst="roundRect">
            <a:avLst>
              <a:gd fmla="val 29412" name="adj"/>
            </a:avLst>
          </a:prstGeom>
          <a:solidFill>
            <a:srgbClr val="EAF2F5"/>
          </a:solidFill>
          <a:ln cap="flat" cmpd="sng" w="9525">
            <a:solidFill>
              <a:srgbClr val="EAF2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4"/>
          <p:cNvSpPr txBox="1"/>
          <p:nvPr/>
        </p:nvSpPr>
        <p:spPr>
          <a:xfrm>
            <a:off x="9710928" y="310896"/>
            <a:ext cx="1956816" cy="21945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397DA3"/>
              </a:buClr>
              <a:buSzPts val="850"/>
              <a:buFont typeface="Arial"/>
              <a:buNone/>
            </a:pPr>
            <a:r>
              <a:rPr b="1" i="0" lang="en-US" sz="850" u="none" cap="none" strike="noStrike">
                <a:solidFill>
                  <a:srgbClr val="397DA3"/>
                </a:solidFill>
                <a:latin typeface="Arial"/>
                <a:ea typeface="Arial"/>
                <a:cs typeface="Arial"/>
                <a:sym typeface="Arial"/>
              </a:rPr>
              <a:t>DWT FEATURES</a:t>
            </a:r>
            <a:endParaRPr b="0" i="0" sz="850" u="none" cap="none" strike="noStrike">
              <a:solidFill>
                <a:schemeClr val="dk1"/>
              </a:solidFill>
              <a:latin typeface="Arial"/>
              <a:ea typeface="Arial"/>
              <a:cs typeface="Arial"/>
              <a:sym typeface="Arial"/>
            </a:endParaRPr>
          </a:p>
        </p:txBody>
      </p:sp>
      <p:sp>
        <p:nvSpPr>
          <p:cNvPr id="347" name="Google Shape;347;p14"/>
          <p:cNvSpPr txBox="1"/>
          <p:nvPr/>
        </p:nvSpPr>
        <p:spPr>
          <a:xfrm>
            <a:off x="438912" y="292608"/>
            <a:ext cx="896112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2700"/>
              <a:buFont typeface="Play"/>
              <a:buNone/>
            </a:pPr>
            <a:r>
              <a:rPr b="1" i="0" lang="en-US" sz="2700" u="none" cap="none" strike="noStrike">
                <a:solidFill>
                  <a:srgbClr val="203447"/>
                </a:solidFill>
                <a:latin typeface="Play"/>
                <a:ea typeface="Play"/>
                <a:cs typeface="Play"/>
                <a:sym typeface="Play"/>
              </a:rPr>
              <a:t>Energy and entropy: what is in each scale?</a:t>
            </a:r>
            <a:endParaRPr b="0" i="0" sz="2700" u="none" cap="none" strike="noStrike">
              <a:solidFill>
                <a:schemeClr val="dk1"/>
              </a:solidFill>
              <a:latin typeface="Arial"/>
              <a:ea typeface="Arial"/>
              <a:cs typeface="Arial"/>
              <a:sym typeface="Arial"/>
            </a:endParaRPr>
          </a:p>
        </p:txBody>
      </p:sp>
      <p:sp>
        <p:nvSpPr>
          <p:cNvPr id="348" name="Google Shape;348;p14"/>
          <p:cNvSpPr txBox="1"/>
          <p:nvPr/>
        </p:nvSpPr>
        <p:spPr>
          <a:xfrm>
            <a:off x="457200" y="804672"/>
            <a:ext cx="11064240" cy="32918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1717D"/>
              </a:buClr>
              <a:buSzPts val="1250"/>
              <a:buFont typeface="Arial"/>
              <a:buNone/>
            </a:pPr>
            <a:r>
              <a:rPr b="0" i="0" lang="en-US" sz="1250" u="none" cap="none" strike="noStrike">
                <a:solidFill>
                  <a:srgbClr val="61717D"/>
                </a:solidFill>
                <a:latin typeface="Arial"/>
                <a:ea typeface="Arial"/>
                <a:cs typeface="Arial"/>
                <a:sym typeface="Arial"/>
              </a:rPr>
              <a:t>This is a compact summary of the single-record ECG analysis</a:t>
            </a:r>
            <a:endParaRPr b="0" i="0" sz="1250" u="none" cap="none" strike="noStrike">
              <a:solidFill>
                <a:schemeClr val="dk1"/>
              </a:solidFill>
              <a:latin typeface="Arial"/>
              <a:ea typeface="Arial"/>
              <a:cs typeface="Arial"/>
              <a:sym typeface="Arial"/>
            </a:endParaRPr>
          </a:p>
        </p:txBody>
      </p:sp>
      <p:cxnSp>
        <p:nvCxnSpPr>
          <p:cNvPr id="349" name="Google Shape;349;p14"/>
          <p:cNvCxnSpPr/>
          <p:nvPr/>
        </p:nvCxnSpPr>
        <p:spPr>
          <a:xfrm>
            <a:off x="438912" y="1197864"/>
            <a:ext cx="11292840" cy="0"/>
          </a:xfrm>
          <a:prstGeom prst="straightConnector1">
            <a:avLst/>
          </a:prstGeom>
          <a:noFill/>
          <a:ln cap="flat" cmpd="sng" w="22850">
            <a:solidFill>
              <a:srgbClr val="4E928B"/>
            </a:solidFill>
            <a:prstDash val="solid"/>
            <a:round/>
            <a:headEnd len="sm" w="sm" type="none"/>
            <a:tailEnd len="sm" w="sm" type="none"/>
          </a:ln>
        </p:spPr>
      </p:cxnSp>
      <p:sp>
        <p:nvSpPr>
          <p:cNvPr id="350" name="Google Shape;350;p14"/>
          <p:cNvSpPr/>
          <p:nvPr/>
        </p:nvSpPr>
        <p:spPr>
          <a:xfrm>
            <a:off x="438912" y="1426464"/>
            <a:ext cx="4846320" cy="4069080"/>
          </a:xfrm>
          <a:prstGeom prst="roundRect">
            <a:avLst>
              <a:gd fmla="val 1798" name="adj"/>
            </a:avLst>
          </a:prstGeom>
          <a:solidFill>
            <a:srgbClr val="FFFFFF"/>
          </a:solidFill>
          <a:ln cap="flat" cmpd="sng" w="10150">
            <a:solidFill>
              <a:srgbClr val="DD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nt/data/image(5).png" id="351" name="Google Shape;351;p14"/>
          <p:cNvPicPr preferRelativeResize="0"/>
          <p:nvPr/>
        </p:nvPicPr>
        <p:blipFill rotWithShape="1">
          <a:blip r:embed="rId3">
            <a:alphaModFix/>
          </a:blip>
          <a:srcRect b="0" l="0" r="0" t="0"/>
          <a:stretch/>
        </p:blipFill>
        <p:spPr>
          <a:xfrm>
            <a:off x="502920" y="1859785"/>
            <a:ext cx="4718304" cy="3202438"/>
          </a:xfrm>
          <a:prstGeom prst="rect">
            <a:avLst/>
          </a:prstGeom>
          <a:noFill/>
          <a:ln>
            <a:noFill/>
          </a:ln>
        </p:spPr>
      </p:pic>
      <p:sp>
        <p:nvSpPr>
          <p:cNvPr id="352" name="Google Shape;352;p14"/>
          <p:cNvSpPr txBox="1"/>
          <p:nvPr/>
        </p:nvSpPr>
        <p:spPr>
          <a:xfrm>
            <a:off x="5532120" y="1472184"/>
            <a:ext cx="2331720" cy="32004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97DA3"/>
              </a:buClr>
              <a:buSzPts val="1600"/>
              <a:buFont typeface="Arial"/>
              <a:buNone/>
            </a:pPr>
            <a:r>
              <a:rPr b="1" i="0" lang="en-US" sz="1600" u="none" cap="none" strike="noStrike">
                <a:solidFill>
                  <a:srgbClr val="397DA3"/>
                </a:solidFill>
                <a:latin typeface="Arial"/>
                <a:ea typeface="Arial"/>
                <a:cs typeface="Arial"/>
                <a:sym typeface="Arial"/>
              </a:rPr>
              <a:t>Relative wavelet energy</a:t>
            </a:r>
            <a:endParaRPr b="0" i="0" sz="1600" u="none" cap="none" strike="noStrike">
              <a:solidFill>
                <a:schemeClr val="dk1"/>
              </a:solidFill>
              <a:latin typeface="Arial"/>
              <a:ea typeface="Arial"/>
              <a:cs typeface="Arial"/>
              <a:sym typeface="Arial"/>
            </a:endParaRPr>
          </a:p>
        </p:txBody>
      </p:sp>
      <p:sp>
        <p:nvSpPr>
          <p:cNvPr id="353" name="Google Shape;353;p14"/>
          <p:cNvSpPr txBox="1"/>
          <p:nvPr/>
        </p:nvSpPr>
        <p:spPr>
          <a:xfrm>
            <a:off x="5577840" y="1883664"/>
            <a:ext cx="914400" cy="25603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1340"/>
              <a:buFont typeface="Arial"/>
              <a:buNone/>
            </a:pPr>
            <a:r>
              <a:rPr b="1" i="0" lang="en-US" sz="1340" u="none" cap="none" strike="noStrike">
                <a:solidFill>
                  <a:srgbClr val="203447"/>
                </a:solidFill>
                <a:latin typeface="Arial"/>
                <a:ea typeface="Arial"/>
                <a:cs typeface="Arial"/>
                <a:sym typeface="Arial"/>
              </a:rPr>
              <a:t>D1</a:t>
            </a:r>
            <a:endParaRPr b="0" i="0" sz="1340" u="none" cap="none" strike="noStrike">
              <a:solidFill>
                <a:schemeClr val="dk1"/>
              </a:solidFill>
              <a:latin typeface="Arial"/>
              <a:ea typeface="Arial"/>
              <a:cs typeface="Arial"/>
              <a:sym typeface="Arial"/>
            </a:endParaRPr>
          </a:p>
        </p:txBody>
      </p:sp>
      <p:sp>
        <p:nvSpPr>
          <p:cNvPr id="354" name="Google Shape;354;p14"/>
          <p:cNvSpPr txBox="1"/>
          <p:nvPr/>
        </p:nvSpPr>
        <p:spPr>
          <a:xfrm>
            <a:off x="6656832" y="1883664"/>
            <a:ext cx="1234440" cy="25603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4E928B"/>
              </a:buClr>
              <a:buSzPts val="1430"/>
              <a:buFont typeface="Arial"/>
              <a:buNone/>
            </a:pPr>
            <a:r>
              <a:rPr b="1" i="0" lang="en-US" sz="1430" u="none" cap="none" strike="noStrike">
                <a:solidFill>
                  <a:srgbClr val="4E928B"/>
                </a:solidFill>
                <a:latin typeface="Arial"/>
                <a:ea typeface="Arial"/>
                <a:cs typeface="Arial"/>
                <a:sym typeface="Arial"/>
              </a:rPr>
              <a:t>15.20%</a:t>
            </a:r>
            <a:endParaRPr b="0" i="0" sz="1430" u="none" cap="none" strike="noStrike">
              <a:solidFill>
                <a:schemeClr val="dk1"/>
              </a:solidFill>
              <a:latin typeface="Arial"/>
              <a:ea typeface="Arial"/>
              <a:cs typeface="Arial"/>
              <a:sym typeface="Arial"/>
            </a:endParaRPr>
          </a:p>
        </p:txBody>
      </p:sp>
      <p:sp>
        <p:nvSpPr>
          <p:cNvPr id="355" name="Google Shape;355;p14"/>
          <p:cNvSpPr txBox="1"/>
          <p:nvPr/>
        </p:nvSpPr>
        <p:spPr>
          <a:xfrm>
            <a:off x="5577840" y="2322576"/>
            <a:ext cx="914400" cy="25603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1340"/>
              <a:buFont typeface="Arial"/>
              <a:buNone/>
            </a:pPr>
            <a:r>
              <a:rPr b="1" i="0" lang="en-US" sz="1340" u="none" cap="none" strike="noStrike">
                <a:solidFill>
                  <a:srgbClr val="203447"/>
                </a:solidFill>
                <a:latin typeface="Arial"/>
                <a:ea typeface="Arial"/>
                <a:cs typeface="Arial"/>
                <a:sym typeface="Arial"/>
              </a:rPr>
              <a:t>D2</a:t>
            </a:r>
            <a:endParaRPr b="0" i="0" sz="1340" u="none" cap="none" strike="noStrike">
              <a:solidFill>
                <a:schemeClr val="dk1"/>
              </a:solidFill>
              <a:latin typeface="Arial"/>
              <a:ea typeface="Arial"/>
              <a:cs typeface="Arial"/>
              <a:sym typeface="Arial"/>
            </a:endParaRPr>
          </a:p>
        </p:txBody>
      </p:sp>
      <p:sp>
        <p:nvSpPr>
          <p:cNvPr id="356" name="Google Shape;356;p14"/>
          <p:cNvSpPr txBox="1"/>
          <p:nvPr/>
        </p:nvSpPr>
        <p:spPr>
          <a:xfrm>
            <a:off x="6656832" y="2322576"/>
            <a:ext cx="1234440" cy="25603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4E928B"/>
              </a:buClr>
              <a:buSzPts val="1430"/>
              <a:buFont typeface="Arial"/>
              <a:buNone/>
            </a:pPr>
            <a:r>
              <a:rPr b="1" i="0" lang="en-US" sz="1430" u="none" cap="none" strike="noStrike">
                <a:solidFill>
                  <a:srgbClr val="4E928B"/>
                </a:solidFill>
                <a:latin typeface="Arial"/>
                <a:ea typeface="Arial"/>
                <a:cs typeface="Arial"/>
                <a:sym typeface="Arial"/>
              </a:rPr>
              <a:t>16.46%</a:t>
            </a:r>
            <a:endParaRPr b="0" i="0" sz="1430" u="none" cap="none" strike="noStrike">
              <a:solidFill>
                <a:schemeClr val="dk1"/>
              </a:solidFill>
              <a:latin typeface="Arial"/>
              <a:ea typeface="Arial"/>
              <a:cs typeface="Arial"/>
              <a:sym typeface="Arial"/>
            </a:endParaRPr>
          </a:p>
        </p:txBody>
      </p:sp>
      <p:sp>
        <p:nvSpPr>
          <p:cNvPr id="357" name="Google Shape;357;p14"/>
          <p:cNvSpPr txBox="1"/>
          <p:nvPr/>
        </p:nvSpPr>
        <p:spPr>
          <a:xfrm>
            <a:off x="5577840" y="2761488"/>
            <a:ext cx="914400" cy="25603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1340"/>
              <a:buFont typeface="Arial"/>
              <a:buNone/>
            </a:pPr>
            <a:r>
              <a:rPr b="1" i="0" lang="en-US" sz="1340" u="none" cap="none" strike="noStrike">
                <a:solidFill>
                  <a:srgbClr val="203447"/>
                </a:solidFill>
                <a:latin typeface="Arial"/>
                <a:ea typeface="Arial"/>
                <a:cs typeface="Arial"/>
                <a:sym typeface="Arial"/>
              </a:rPr>
              <a:t>D3</a:t>
            </a:r>
            <a:endParaRPr b="0" i="0" sz="1340" u="none" cap="none" strike="noStrike">
              <a:solidFill>
                <a:schemeClr val="dk1"/>
              </a:solidFill>
              <a:latin typeface="Arial"/>
              <a:ea typeface="Arial"/>
              <a:cs typeface="Arial"/>
              <a:sym typeface="Arial"/>
            </a:endParaRPr>
          </a:p>
        </p:txBody>
      </p:sp>
      <p:sp>
        <p:nvSpPr>
          <p:cNvPr id="358" name="Google Shape;358;p14"/>
          <p:cNvSpPr txBox="1"/>
          <p:nvPr/>
        </p:nvSpPr>
        <p:spPr>
          <a:xfrm>
            <a:off x="6656832" y="2761488"/>
            <a:ext cx="1234440" cy="25603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4E928B"/>
              </a:buClr>
              <a:buSzPts val="1430"/>
              <a:buFont typeface="Arial"/>
              <a:buNone/>
            </a:pPr>
            <a:r>
              <a:rPr b="1" i="0" lang="en-US" sz="1430" u="none" cap="none" strike="noStrike">
                <a:solidFill>
                  <a:srgbClr val="4E928B"/>
                </a:solidFill>
                <a:latin typeface="Arial"/>
                <a:ea typeface="Arial"/>
                <a:cs typeface="Arial"/>
                <a:sym typeface="Arial"/>
              </a:rPr>
              <a:t>18.88%</a:t>
            </a:r>
            <a:endParaRPr b="0" i="0" sz="1430" u="none" cap="none" strike="noStrike">
              <a:solidFill>
                <a:schemeClr val="dk1"/>
              </a:solidFill>
              <a:latin typeface="Arial"/>
              <a:ea typeface="Arial"/>
              <a:cs typeface="Arial"/>
              <a:sym typeface="Arial"/>
            </a:endParaRPr>
          </a:p>
        </p:txBody>
      </p:sp>
      <p:sp>
        <p:nvSpPr>
          <p:cNvPr id="359" name="Google Shape;359;p14"/>
          <p:cNvSpPr txBox="1"/>
          <p:nvPr/>
        </p:nvSpPr>
        <p:spPr>
          <a:xfrm>
            <a:off x="5577840" y="3200400"/>
            <a:ext cx="914400" cy="25603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1340"/>
              <a:buFont typeface="Arial"/>
              <a:buNone/>
            </a:pPr>
            <a:r>
              <a:rPr b="1" i="0" lang="en-US" sz="1340" u="none" cap="none" strike="noStrike">
                <a:solidFill>
                  <a:srgbClr val="203447"/>
                </a:solidFill>
                <a:latin typeface="Arial"/>
                <a:ea typeface="Arial"/>
                <a:cs typeface="Arial"/>
                <a:sym typeface="Arial"/>
              </a:rPr>
              <a:t>A3</a:t>
            </a:r>
            <a:endParaRPr b="0" i="0" sz="1340" u="none" cap="none" strike="noStrike">
              <a:solidFill>
                <a:schemeClr val="dk1"/>
              </a:solidFill>
              <a:latin typeface="Arial"/>
              <a:ea typeface="Arial"/>
              <a:cs typeface="Arial"/>
              <a:sym typeface="Arial"/>
            </a:endParaRPr>
          </a:p>
        </p:txBody>
      </p:sp>
      <p:sp>
        <p:nvSpPr>
          <p:cNvPr id="360" name="Google Shape;360;p14"/>
          <p:cNvSpPr txBox="1"/>
          <p:nvPr/>
        </p:nvSpPr>
        <p:spPr>
          <a:xfrm>
            <a:off x="6656832" y="3200400"/>
            <a:ext cx="1234440" cy="25603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4E928B"/>
              </a:buClr>
              <a:buSzPts val="1430"/>
              <a:buFont typeface="Arial"/>
              <a:buNone/>
            </a:pPr>
            <a:r>
              <a:rPr b="1" i="0" lang="en-US" sz="1430" u="none" cap="none" strike="noStrike">
                <a:solidFill>
                  <a:srgbClr val="4E928B"/>
                </a:solidFill>
                <a:latin typeface="Arial"/>
                <a:ea typeface="Arial"/>
                <a:cs typeface="Arial"/>
                <a:sym typeface="Arial"/>
              </a:rPr>
              <a:t>49.47%</a:t>
            </a:r>
            <a:endParaRPr b="0" i="0" sz="1430" u="none" cap="none" strike="noStrike">
              <a:solidFill>
                <a:schemeClr val="dk1"/>
              </a:solidFill>
              <a:latin typeface="Arial"/>
              <a:ea typeface="Arial"/>
              <a:cs typeface="Arial"/>
              <a:sym typeface="Arial"/>
            </a:endParaRPr>
          </a:p>
        </p:txBody>
      </p:sp>
      <p:sp>
        <p:nvSpPr>
          <p:cNvPr id="361" name="Google Shape;361;p14"/>
          <p:cNvSpPr txBox="1"/>
          <p:nvPr/>
        </p:nvSpPr>
        <p:spPr>
          <a:xfrm>
            <a:off x="8183880" y="1472184"/>
            <a:ext cx="2651760" cy="32004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D58A4B"/>
              </a:buClr>
              <a:buSzPts val="1600"/>
              <a:buFont typeface="Arial"/>
              <a:buNone/>
            </a:pPr>
            <a:r>
              <a:rPr b="1" i="0" lang="en-US" sz="1600" u="none" cap="none" strike="noStrike">
                <a:solidFill>
                  <a:srgbClr val="D58A4B"/>
                </a:solidFill>
                <a:latin typeface="Arial"/>
                <a:ea typeface="Arial"/>
                <a:cs typeface="Arial"/>
                <a:sym typeface="Arial"/>
              </a:rPr>
              <a:t>Entropy values</a:t>
            </a:r>
            <a:endParaRPr b="0" i="0" sz="1600" u="none" cap="none" strike="noStrike">
              <a:solidFill>
                <a:schemeClr val="dk1"/>
              </a:solidFill>
              <a:latin typeface="Arial"/>
              <a:ea typeface="Arial"/>
              <a:cs typeface="Arial"/>
              <a:sym typeface="Arial"/>
            </a:endParaRPr>
          </a:p>
        </p:txBody>
      </p:sp>
      <p:sp>
        <p:nvSpPr>
          <p:cNvPr id="362" name="Google Shape;362;p14"/>
          <p:cNvSpPr txBox="1"/>
          <p:nvPr/>
        </p:nvSpPr>
        <p:spPr>
          <a:xfrm>
            <a:off x="8220456" y="1883664"/>
            <a:ext cx="822960" cy="25603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1340"/>
              <a:buFont typeface="Arial"/>
              <a:buNone/>
            </a:pPr>
            <a:r>
              <a:rPr b="1" i="0" lang="en-US" sz="1340" u="none" cap="none" strike="noStrike">
                <a:solidFill>
                  <a:srgbClr val="203447"/>
                </a:solidFill>
                <a:latin typeface="Arial"/>
                <a:ea typeface="Arial"/>
                <a:cs typeface="Arial"/>
                <a:sym typeface="Arial"/>
              </a:rPr>
              <a:t>D1</a:t>
            </a:r>
            <a:endParaRPr b="0" i="0" sz="1340" u="none" cap="none" strike="noStrike">
              <a:solidFill>
                <a:schemeClr val="dk1"/>
              </a:solidFill>
              <a:latin typeface="Arial"/>
              <a:ea typeface="Arial"/>
              <a:cs typeface="Arial"/>
              <a:sym typeface="Arial"/>
            </a:endParaRPr>
          </a:p>
        </p:txBody>
      </p:sp>
      <p:sp>
        <p:nvSpPr>
          <p:cNvPr id="363" name="Google Shape;363;p14"/>
          <p:cNvSpPr txBox="1"/>
          <p:nvPr/>
        </p:nvSpPr>
        <p:spPr>
          <a:xfrm>
            <a:off x="9235440" y="1883664"/>
            <a:ext cx="1280160" cy="25603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D58A4B"/>
              </a:buClr>
              <a:buSzPts val="1430"/>
              <a:buFont typeface="Arial"/>
              <a:buNone/>
            </a:pPr>
            <a:r>
              <a:rPr b="1" i="0" lang="en-US" sz="1430" u="none" cap="none" strike="noStrike">
                <a:solidFill>
                  <a:srgbClr val="D58A4B"/>
                </a:solidFill>
                <a:latin typeface="Arial"/>
                <a:ea typeface="Arial"/>
                <a:cs typeface="Arial"/>
                <a:sym typeface="Arial"/>
              </a:rPr>
              <a:t>4.8191</a:t>
            </a:r>
            <a:endParaRPr b="0" i="0" sz="1430" u="none" cap="none" strike="noStrike">
              <a:solidFill>
                <a:schemeClr val="dk1"/>
              </a:solidFill>
              <a:latin typeface="Arial"/>
              <a:ea typeface="Arial"/>
              <a:cs typeface="Arial"/>
              <a:sym typeface="Arial"/>
            </a:endParaRPr>
          </a:p>
        </p:txBody>
      </p:sp>
      <p:sp>
        <p:nvSpPr>
          <p:cNvPr id="364" name="Google Shape;364;p14"/>
          <p:cNvSpPr txBox="1"/>
          <p:nvPr/>
        </p:nvSpPr>
        <p:spPr>
          <a:xfrm>
            <a:off x="8220456" y="2322576"/>
            <a:ext cx="822960" cy="25603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1340"/>
              <a:buFont typeface="Arial"/>
              <a:buNone/>
            </a:pPr>
            <a:r>
              <a:rPr b="1" i="0" lang="en-US" sz="1340" u="none" cap="none" strike="noStrike">
                <a:solidFill>
                  <a:srgbClr val="203447"/>
                </a:solidFill>
                <a:latin typeface="Arial"/>
                <a:ea typeface="Arial"/>
                <a:cs typeface="Arial"/>
                <a:sym typeface="Arial"/>
              </a:rPr>
              <a:t>D2</a:t>
            </a:r>
            <a:endParaRPr b="0" i="0" sz="1340" u="none" cap="none" strike="noStrike">
              <a:solidFill>
                <a:schemeClr val="dk1"/>
              </a:solidFill>
              <a:latin typeface="Arial"/>
              <a:ea typeface="Arial"/>
              <a:cs typeface="Arial"/>
              <a:sym typeface="Arial"/>
            </a:endParaRPr>
          </a:p>
        </p:txBody>
      </p:sp>
      <p:sp>
        <p:nvSpPr>
          <p:cNvPr id="365" name="Google Shape;365;p14"/>
          <p:cNvSpPr txBox="1"/>
          <p:nvPr/>
        </p:nvSpPr>
        <p:spPr>
          <a:xfrm>
            <a:off x="9235440" y="2322576"/>
            <a:ext cx="1280160" cy="25603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D58A4B"/>
              </a:buClr>
              <a:buSzPts val="1430"/>
              <a:buFont typeface="Arial"/>
              <a:buNone/>
            </a:pPr>
            <a:r>
              <a:rPr b="1" i="0" lang="en-US" sz="1430" u="none" cap="none" strike="noStrike">
                <a:solidFill>
                  <a:srgbClr val="D58A4B"/>
                </a:solidFill>
                <a:latin typeface="Arial"/>
                <a:ea typeface="Arial"/>
                <a:cs typeface="Arial"/>
                <a:sym typeface="Arial"/>
              </a:rPr>
              <a:t>5.2790</a:t>
            </a:r>
            <a:endParaRPr b="0" i="0" sz="1430" u="none" cap="none" strike="noStrike">
              <a:solidFill>
                <a:schemeClr val="dk1"/>
              </a:solidFill>
              <a:latin typeface="Arial"/>
              <a:ea typeface="Arial"/>
              <a:cs typeface="Arial"/>
              <a:sym typeface="Arial"/>
            </a:endParaRPr>
          </a:p>
        </p:txBody>
      </p:sp>
      <p:sp>
        <p:nvSpPr>
          <p:cNvPr id="366" name="Google Shape;366;p14"/>
          <p:cNvSpPr txBox="1"/>
          <p:nvPr/>
        </p:nvSpPr>
        <p:spPr>
          <a:xfrm>
            <a:off x="8220456" y="2761488"/>
            <a:ext cx="822960" cy="25603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1340"/>
              <a:buFont typeface="Arial"/>
              <a:buNone/>
            </a:pPr>
            <a:r>
              <a:rPr b="1" i="0" lang="en-US" sz="1340" u="none" cap="none" strike="noStrike">
                <a:solidFill>
                  <a:srgbClr val="203447"/>
                </a:solidFill>
                <a:latin typeface="Arial"/>
                <a:ea typeface="Arial"/>
                <a:cs typeface="Arial"/>
                <a:sym typeface="Arial"/>
              </a:rPr>
              <a:t>D3</a:t>
            </a:r>
            <a:endParaRPr b="0" i="0" sz="1340" u="none" cap="none" strike="noStrike">
              <a:solidFill>
                <a:schemeClr val="dk1"/>
              </a:solidFill>
              <a:latin typeface="Arial"/>
              <a:ea typeface="Arial"/>
              <a:cs typeface="Arial"/>
              <a:sym typeface="Arial"/>
            </a:endParaRPr>
          </a:p>
        </p:txBody>
      </p:sp>
      <p:sp>
        <p:nvSpPr>
          <p:cNvPr id="367" name="Google Shape;367;p14"/>
          <p:cNvSpPr txBox="1"/>
          <p:nvPr/>
        </p:nvSpPr>
        <p:spPr>
          <a:xfrm>
            <a:off x="9235440" y="2761488"/>
            <a:ext cx="1280160" cy="25603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D58A4B"/>
              </a:buClr>
              <a:buSzPts val="1430"/>
              <a:buFont typeface="Arial"/>
              <a:buNone/>
            </a:pPr>
            <a:r>
              <a:rPr b="1" i="0" lang="en-US" sz="1430" u="none" cap="none" strike="noStrike">
                <a:solidFill>
                  <a:srgbClr val="D58A4B"/>
                </a:solidFill>
                <a:latin typeface="Arial"/>
                <a:ea typeface="Arial"/>
                <a:cs typeface="Arial"/>
                <a:sym typeface="Arial"/>
              </a:rPr>
              <a:t>4.8797</a:t>
            </a:r>
            <a:endParaRPr b="0" i="0" sz="1430" u="none" cap="none" strike="noStrike">
              <a:solidFill>
                <a:schemeClr val="dk1"/>
              </a:solidFill>
              <a:latin typeface="Arial"/>
              <a:ea typeface="Arial"/>
              <a:cs typeface="Arial"/>
              <a:sym typeface="Arial"/>
            </a:endParaRPr>
          </a:p>
        </p:txBody>
      </p:sp>
      <p:sp>
        <p:nvSpPr>
          <p:cNvPr id="368" name="Google Shape;368;p14"/>
          <p:cNvSpPr txBox="1"/>
          <p:nvPr/>
        </p:nvSpPr>
        <p:spPr>
          <a:xfrm>
            <a:off x="8220456" y="3200400"/>
            <a:ext cx="822960" cy="25603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1340"/>
              <a:buFont typeface="Arial"/>
              <a:buNone/>
            </a:pPr>
            <a:r>
              <a:rPr b="1" i="0" lang="en-US" sz="1340" u="none" cap="none" strike="noStrike">
                <a:solidFill>
                  <a:srgbClr val="203447"/>
                </a:solidFill>
                <a:latin typeface="Arial"/>
                <a:ea typeface="Arial"/>
                <a:cs typeface="Arial"/>
                <a:sym typeface="Arial"/>
              </a:rPr>
              <a:t>A3</a:t>
            </a:r>
            <a:endParaRPr b="0" i="0" sz="1340" u="none" cap="none" strike="noStrike">
              <a:solidFill>
                <a:schemeClr val="dk1"/>
              </a:solidFill>
              <a:latin typeface="Arial"/>
              <a:ea typeface="Arial"/>
              <a:cs typeface="Arial"/>
              <a:sym typeface="Arial"/>
            </a:endParaRPr>
          </a:p>
        </p:txBody>
      </p:sp>
      <p:sp>
        <p:nvSpPr>
          <p:cNvPr id="369" name="Google Shape;369;p14"/>
          <p:cNvSpPr txBox="1"/>
          <p:nvPr/>
        </p:nvSpPr>
        <p:spPr>
          <a:xfrm>
            <a:off x="9235440" y="3200400"/>
            <a:ext cx="1280160" cy="25603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D58A4B"/>
              </a:buClr>
              <a:buSzPts val="1430"/>
              <a:buFont typeface="Arial"/>
              <a:buNone/>
            </a:pPr>
            <a:r>
              <a:rPr b="1" i="0" lang="en-US" sz="1430" u="none" cap="none" strike="noStrike">
                <a:solidFill>
                  <a:srgbClr val="D58A4B"/>
                </a:solidFill>
                <a:latin typeface="Arial"/>
                <a:ea typeface="Arial"/>
                <a:cs typeface="Arial"/>
                <a:sym typeface="Arial"/>
              </a:rPr>
              <a:t>5.2521</a:t>
            </a:r>
            <a:endParaRPr b="0" i="0" sz="1430" u="none" cap="none" strike="noStrike">
              <a:solidFill>
                <a:schemeClr val="dk1"/>
              </a:solidFill>
              <a:latin typeface="Arial"/>
              <a:ea typeface="Arial"/>
              <a:cs typeface="Arial"/>
              <a:sym typeface="Arial"/>
            </a:endParaRPr>
          </a:p>
        </p:txBody>
      </p:sp>
      <p:sp>
        <p:nvSpPr>
          <p:cNvPr id="370" name="Google Shape;370;p14"/>
          <p:cNvSpPr/>
          <p:nvPr/>
        </p:nvSpPr>
        <p:spPr>
          <a:xfrm>
            <a:off x="5532120" y="4069080"/>
            <a:ext cx="5852160" cy="1115568"/>
          </a:xfrm>
          <a:prstGeom prst="roundRect">
            <a:avLst>
              <a:gd fmla="val 8197" name="adj"/>
            </a:avLst>
          </a:prstGeom>
          <a:solidFill>
            <a:srgbClr val="EAF2F5"/>
          </a:solidFill>
          <a:ln cap="flat" cmpd="sng" w="12700">
            <a:solidFill>
              <a:srgbClr val="397DA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4"/>
          <p:cNvSpPr txBox="1"/>
          <p:nvPr/>
        </p:nvSpPr>
        <p:spPr>
          <a:xfrm>
            <a:off x="5678424" y="4169664"/>
            <a:ext cx="5559552"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97DA3"/>
              </a:buClr>
              <a:buSzPts val="1500"/>
              <a:buFont typeface="Arial"/>
              <a:buNone/>
            </a:pPr>
            <a:r>
              <a:rPr b="1" i="0" lang="en-US" sz="1500" u="none" cap="none" strike="noStrike">
                <a:solidFill>
                  <a:srgbClr val="397DA3"/>
                </a:solidFill>
                <a:latin typeface="Arial"/>
                <a:ea typeface="Arial"/>
                <a:cs typeface="Arial"/>
                <a:sym typeface="Arial"/>
              </a:rPr>
              <a:t>How to read this</a:t>
            </a:r>
            <a:endParaRPr b="0" i="0" sz="1500" u="none" cap="none" strike="noStrike">
              <a:solidFill>
                <a:schemeClr val="dk1"/>
              </a:solidFill>
              <a:latin typeface="Arial"/>
              <a:ea typeface="Arial"/>
              <a:cs typeface="Arial"/>
              <a:sym typeface="Arial"/>
            </a:endParaRPr>
          </a:p>
        </p:txBody>
      </p:sp>
      <p:sp>
        <p:nvSpPr>
          <p:cNvPr id="372" name="Google Shape;372;p14"/>
          <p:cNvSpPr txBox="1"/>
          <p:nvPr/>
        </p:nvSpPr>
        <p:spPr>
          <a:xfrm>
            <a:off x="5678424" y="4507992"/>
            <a:ext cx="5559552" cy="585216"/>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203447"/>
              </a:buClr>
              <a:buSzPts val="1220"/>
              <a:buFont typeface="Arial"/>
              <a:buNone/>
            </a:pPr>
            <a:r>
              <a:rPr b="0" i="0" lang="en-US" sz="1220" u="none" cap="none" strike="noStrike">
                <a:solidFill>
                  <a:srgbClr val="203447"/>
                </a:solidFill>
                <a:latin typeface="Arial"/>
                <a:ea typeface="Arial"/>
                <a:cs typeface="Arial"/>
                <a:sym typeface="Arial"/>
              </a:rPr>
              <a:t>Energy = relative amount of coefficient energy at a scale. Entropy = how the coefficient/energy distribution is spread, according to the formula used.</a:t>
            </a:r>
            <a:endParaRPr b="0" i="0" sz="1220" u="none" cap="none" strike="noStrike">
              <a:solidFill>
                <a:schemeClr val="dk1"/>
              </a:solidFill>
              <a:latin typeface="Arial"/>
              <a:ea typeface="Arial"/>
              <a:cs typeface="Arial"/>
              <a:sym typeface="Arial"/>
            </a:endParaRPr>
          </a:p>
        </p:txBody>
      </p:sp>
      <p:sp>
        <p:nvSpPr>
          <p:cNvPr id="373" name="Google Shape;373;p14"/>
          <p:cNvSpPr txBox="1"/>
          <p:nvPr/>
        </p:nvSpPr>
        <p:spPr>
          <a:xfrm>
            <a:off x="5596128" y="5458968"/>
            <a:ext cx="5669280" cy="38404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1240"/>
              <a:buFont typeface="Arial"/>
              <a:buNone/>
            </a:pPr>
            <a:r>
              <a:rPr b="1" i="0" lang="en-US" sz="1240" u="none" cap="none" strike="noStrike">
                <a:solidFill>
                  <a:srgbClr val="203447"/>
                </a:solidFill>
                <a:latin typeface="Arial"/>
                <a:ea typeface="Arial"/>
                <a:cs typeface="Arial"/>
                <a:sym typeface="Arial"/>
              </a:rPr>
              <a:t>Here A3 carries the largest share of ECG relative energy (49.47%).</a:t>
            </a:r>
            <a:endParaRPr b="0" i="0" sz="1240" u="none" cap="none" strike="noStrike">
              <a:solidFill>
                <a:schemeClr val="dk1"/>
              </a:solidFill>
              <a:latin typeface="Arial"/>
              <a:ea typeface="Arial"/>
              <a:cs typeface="Arial"/>
              <a:sym typeface="Arial"/>
            </a:endParaRPr>
          </a:p>
        </p:txBody>
      </p:sp>
      <p:sp>
        <p:nvSpPr>
          <p:cNvPr id="374" name="Google Shape;374;p14"/>
          <p:cNvSpPr txBox="1"/>
          <p:nvPr>
            <p:ph idx="4294967295" type="sldNum"/>
          </p:nvPr>
        </p:nvSpPr>
        <p:spPr>
          <a:xfrm>
            <a:off x="11338560" y="653796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800" u="none" cap="none" strike="noStrike">
                <a:solidFill>
                  <a:srgbClr val="7A858D"/>
                </a:solidFill>
                <a:latin typeface="Arial"/>
                <a:ea typeface="Arial"/>
                <a:cs typeface="Arial"/>
                <a:sym typeface="Arial"/>
              </a:rPr>
              <a:t>‹#›</a:t>
            </a:fld>
            <a:endParaRPr b="0" i="0" sz="800" u="none" cap="none" strike="noStrike">
              <a:solidFill>
                <a:srgbClr val="7A858D"/>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379" name="Shape 379"/>
        <p:cNvGrpSpPr/>
        <p:nvPr/>
      </p:nvGrpSpPr>
      <p:grpSpPr>
        <a:xfrm>
          <a:off x="0" y="0"/>
          <a:ext cx="0" cy="0"/>
          <a:chOff x="0" y="0"/>
          <a:chExt cx="0" cy="0"/>
        </a:xfrm>
      </p:grpSpPr>
      <p:sp>
        <p:nvSpPr>
          <p:cNvPr id="380" name="Google Shape;380;p15"/>
          <p:cNvSpPr/>
          <p:nvPr/>
        </p:nvSpPr>
        <p:spPr>
          <a:xfrm>
            <a:off x="9646920" y="274320"/>
            <a:ext cx="2084832" cy="310896"/>
          </a:xfrm>
          <a:prstGeom prst="roundRect">
            <a:avLst>
              <a:gd fmla="val 29412" name="adj"/>
            </a:avLst>
          </a:prstGeom>
          <a:solidFill>
            <a:srgbClr val="EAF2F5"/>
          </a:solidFill>
          <a:ln cap="flat" cmpd="sng" w="9525">
            <a:solidFill>
              <a:srgbClr val="EAF2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5"/>
          <p:cNvSpPr txBox="1"/>
          <p:nvPr/>
        </p:nvSpPr>
        <p:spPr>
          <a:xfrm>
            <a:off x="9710928" y="310896"/>
            <a:ext cx="1956816" cy="21945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397DA3"/>
              </a:buClr>
              <a:buSzPts val="850"/>
              <a:buFont typeface="Arial"/>
              <a:buNone/>
            </a:pPr>
            <a:r>
              <a:rPr b="1" i="0" lang="en-US" sz="850" u="none" cap="none" strike="noStrike">
                <a:solidFill>
                  <a:srgbClr val="397DA3"/>
                </a:solidFill>
                <a:latin typeface="Arial"/>
                <a:ea typeface="Arial"/>
                <a:cs typeface="Arial"/>
                <a:sym typeface="Arial"/>
              </a:rPr>
              <a:t>DENOISING</a:t>
            </a:r>
            <a:endParaRPr b="0" i="0" sz="850" u="none" cap="none" strike="noStrike">
              <a:solidFill>
                <a:schemeClr val="dk1"/>
              </a:solidFill>
              <a:latin typeface="Arial"/>
              <a:ea typeface="Arial"/>
              <a:cs typeface="Arial"/>
              <a:sym typeface="Arial"/>
            </a:endParaRPr>
          </a:p>
        </p:txBody>
      </p:sp>
      <p:sp>
        <p:nvSpPr>
          <p:cNvPr id="382" name="Google Shape;382;p15"/>
          <p:cNvSpPr txBox="1"/>
          <p:nvPr/>
        </p:nvSpPr>
        <p:spPr>
          <a:xfrm>
            <a:off x="438912" y="292608"/>
            <a:ext cx="896112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2700"/>
              <a:buFont typeface="Play"/>
              <a:buNone/>
            </a:pPr>
            <a:r>
              <a:rPr b="1" i="0" lang="en-US" sz="2700" u="none" cap="none" strike="noStrike">
                <a:solidFill>
                  <a:srgbClr val="203447"/>
                </a:solidFill>
                <a:latin typeface="Play"/>
                <a:ea typeface="Play"/>
                <a:cs typeface="Play"/>
                <a:sym typeface="Play"/>
              </a:rPr>
              <a:t>Wavelet denoising: hard vs soft thresholding</a:t>
            </a:r>
            <a:endParaRPr b="0" i="0" sz="2700" u="none" cap="none" strike="noStrike">
              <a:solidFill>
                <a:schemeClr val="dk1"/>
              </a:solidFill>
              <a:latin typeface="Arial"/>
              <a:ea typeface="Arial"/>
              <a:cs typeface="Arial"/>
              <a:sym typeface="Arial"/>
            </a:endParaRPr>
          </a:p>
        </p:txBody>
      </p:sp>
      <p:sp>
        <p:nvSpPr>
          <p:cNvPr id="383" name="Google Shape;383;p15"/>
          <p:cNvSpPr txBox="1"/>
          <p:nvPr/>
        </p:nvSpPr>
        <p:spPr>
          <a:xfrm>
            <a:off x="457200" y="804672"/>
            <a:ext cx="11064240" cy="32918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1717D"/>
              </a:buClr>
              <a:buSzPts val="1250"/>
              <a:buFont typeface="Arial"/>
              <a:buNone/>
            </a:pPr>
            <a:r>
              <a:rPr b="0" i="0" lang="en-US" sz="1250" u="none" cap="none" strike="noStrike">
                <a:solidFill>
                  <a:srgbClr val="61717D"/>
                </a:solidFill>
                <a:latin typeface="Arial"/>
                <a:ea typeface="Arial"/>
                <a:cs typeface="Arial"/>
                <a:sym typeface="Arial"/>
              </a:rPr>
              <a:t>The idea is to suppress small coefficients before reconstructing the signal</a:t>
            </a:r>
            <a:endParaRPr b="0" i="0" sz="1250" u="none" cap="none" strike="noStrike">
              <a:solidFill>
                <a:schemeClr val="dk1"/>
              </a:solidFill>
              <a:latin typeface="Arial"/>
              <a:ea typeface="Arial"/>
              <a:cs typeface="Arial"/>
              <a:sym typeface="Arial"/>
            </a:endParaRPr>
          </a:p>
        </p:txBody>
      </p:sp>
      <p:cxnSp>
        <p:nvCxnSpPr>
          <p:cNvPr id="384" name="Google Shape;384;p15"/>
          <p:cNvCxnSpPr/>
          <p:nvPr/>
        </p:nvCxnSpPr>
        <p:spPr>
          <a:xfrm>
            <a:off x="438912" y="1197864"/>
            <a:ext cx="11292840" cy="0"/>
          </a:xfrm>
          <a:prstGeom prst="straightConnector1">
            <a:avLst/>
          </a:prstGeom>
          <a:noFill/>
          <a:ln cap="flat" cmpd="sng" w="22850">
            <a:solidFill>
              <a:srgbClr val="4E928B"/>
            </a:solidFill>
            <a:prstDash val="solid"/>
            <a:round/>
            <a:headEnd len="sm" w="sm" type="none"/>
            <a:tailEnd len="sm" w="sm" type="none"/>
          </a:ln>
        </p:spPr>
      </p:cxnSp>
      <p:sp>
        <p:nvSpPr>
          <p:cNvPr id="385" name="Google Shape;385;p15"/>
          <p:cNvSpPr/>
          <p:nvPr/>
        </p:nvSpPr>
        <p:spPr>
          <a:xfrm>
            <a:off x="475488" y="1389888"/>
            <a:ext cx="7955280" cy="4480560"/>
          </a:xfrm>
          <a:prstGeom prst="roundRect">
            <a:avLst>
              <a:gd fmla="val 1633" name="adj"/>
            </a:avLst>
          </a:prstGeom>
          <a:solidFill>
            <a:srgbClr val="FFFFFF"/>
          </a:solidFill>
          <a:ln cap="flat" cmpd="sng" w="10150">
            <a:solidFill>
              <a:srgbClr val="DD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nt/data/image(6).png" id="386" name="Google Shape;386;p15"/>
          <p:cNvPicPr preferRelativeResize="0"/>
          <p:nvPr/>
        </p:nvPicPr>
        <p:blipFill rotWithShape="1">
          <a:blip r:embed="rId3">
            <a:alphaModFix/>
          </a:blip>
          <a:srcRect b="0" l="0" r="0" t="0"/>
          <a:stretch/>
        </p:blipFill>
        <p:spPr>
          <a:xfrm>
            <a:off x="530352" y="1813996"/>
            <a:ext cx="7845552" cy="3632343"/>
          </a:xfrm>
          <a:prstGeom prst="rect">
            <a:avLst/>
          </a:prstGeom>
          <a:noFill/>
          <a:ln>
            <a:noFill/>
          </a:ln>
        </p:spPr>
      </p:pic>
      <p:sp>
        <p:nvSpPr>
          <p:cNvPr id="387" name="Google Shape;387;p15"/>
          <p:cNvSpPr/>
          <p:nvPr/>
        </p:nvSpPr>
        <p:spPr>
          <a:xfrm>
            <a:off x="8668512" y="1572768"/>
            <a:ext cx="2889504" cy="1508760"/>
          </a:xfrm>
          <a:prstGeom prst="roundRect">
            <a:avLst>
              <a:gd fmla="val 6061" name="adj"/>
            </a:avLst>
          </a:prstGeom>
          <a:solidFill>
            <a:srgbClr val="EAF2F5"/>
          </a:solidFill>
          <a:ln cap="flat" cmpd="sng" w="12700">
            <a:solidFill>
              <a:srgbClr val="397DA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5"/>
          <p:cNvSpPr txBox="1"/>
          <p:nvPr/>
        </p:nvSpPr>
        <p:spPr>
          <a:xfrm>
            <a:off x="8814816" y="1673352"/>
            <a:ext cx="2596896"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97DA3"/>
              </a:buClr>
              <a:buSzPts val="1500"/>
              <a:buFont typeface="Arial"/>
              <a:buNone/>
            </a:pPr>
            <a:r>
              <a:rPr b="1" i="0" lang="en-US" sz="1500" u="none" cap="none" strike="noStrike">
                <a:solidFill>
                  <a:srgbClr val="397DA3"/>
                </a:solidFill>
                <a:latin typeface="Arial"/>
                <a:ea typeface="Arial"/>
                <a:cs typeface="Arial"/>
                <a:sym typeface="Arial"/>
              </a:rPr>
              <a:t>Hard threshold</a:t>
            </a:r>
            <a:endParaRPr b="0" i="0" sz="1500" u="none" cap="none" strike="noStrike">
              <a:solidFill>
                <a:schemeClr val="dk1"/>
              </a:solidFill>
              <a:latin typeface="Arial"/>
              <a:ea typeface="Arial"/>
              <a:cs typeface="Arial"/>
              <a:sym typeface="Arial"/>
            </a:endParaRPr>
          </a:p>
        </p:txBody>
      </p:sp>
      <p:sp>
        <p:nvSpPr>
          <p:cNvPr id="389" name="Google Shape;389;p15"/>
          <p:cNvSpPr txBox="1"/>
          <p:nvPr/>
        </p:nvSpPr>
        <p:spPr>
          <a:xfrm>
            <a:off x="8814816" y="2011680"/>
            <a:ext cx="2596896" cy="978408"/>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203447"/>
              </a:buClr>
              <a:buSzPts val="1220"/>
              <a:buFont typeface="Arial"/>
              <a:buNone/>
            </a:pPr>
            <a:r>
              <a:rPr b="0" i="0" lang="en-US" sz="1220" u="none" cap="none" strike="noStrike">
                <a:solidFill>
                  <a:srgbClr val="203447"/>
                </a:solidFill>
                <a:latin typeface="Arial"/>
                <a:ea typeface="Arial"/>
                <a:cs typeface="Arial"/>
                <a:sym typeface="Arial"/>
              </a:rPr>
              <a:t>Below threshold → 0. Above threshold → keep the coefficient as it is.</a:t>
            </a:r>
            <a:endParaRPr b="0" i="0" sz="1220" u="none" cap="none" strike="noStrike">
              <a:solidFill>
                <a:schemeClr val="dk1"/>
              </a:solidFill>
              <a:latin typeface="Arial"/>
              <a:ea typeface="Arial"/>
              <a:cs typeface="Arial"/>
              <a:sym typeface="Arial"/>
            </a:endParaRPr>
          </a:p>
        </p:txBody>
      </p:sp>
      <p:sp>
        <p:nvSpPr>
          <p:cNvPr id="390" name="Google Shape;390;p15"/>
          <p:cNvSpPr/>
          <p:nvPr/>
        </p:nvSpPr>
        <p:spPr>
          <a:xfrm>
            <a:off x="8668512" y="3310128"/>
            <a:ext cx="2889504" cy="1508760"/>
          </a:xfrm>
          <a:prstGeom prst="roundRect">
            <a:avLst>
              <a:gd fmla="val 6061" name="adj"/>
            </a:avLst>
          </a:prstGeom>
          <a:solidFill>
            <a:srgbClr val="E8F2EF"/>
          </a:solidFill>
          <a:ln cap="flat" cmpd="sng" w="12700">
            <a:solidFill>
              <a:srgbClr val="4E92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5"/>
          <p:cNvSpPr txBox="1"/>
          <p:nvPr/>
        </p:nvSpPr>
        <p:spPr>
          <a:xfrm>
            <a:off x="8814816" y="3410712"/>
            <a:ext cx="2596896"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4E928B"/>
              </a:buClr>
              <a:buSzPts val="1500"/>
              <a:buFont typeface="Arial"/>
              <a:buNone/>
            </a:pPr>
            <a:r>
              <a:rPr b="1" i="0" lang="en-US" sz="1500" u="none" cap="none" strike="noStrike">
                <a:solidFill>
                  <a:srgbClr val="4E928B"/>
                </a:solidFill>
                <a:latin typeface="Arial"/>
                <a:ea typeface="Arial"/>
                <a:cs typeface="Arial"/>
                <a:sym typeface="Arial"/>
              </a:rPr>
              <a:t>Soft threshold</a:t>
            </a:r>
            <a:endParaRPr b="0" i="0" sz="1500" u="none" cap="none" strike="noStrike">
              <a:solidFill>
                <a:schemeClr val="dk1"/>
              </a:solidFill>
              <a:latin typeface="Arial"/>
              <a:ea typeface="Arial"/>
              <a:cs typeface="Arial"/>
              <a:sym typeface="Arial"/>
            </a:endParaRPr>
          </a:p>
        </p:txBody>
      </p:sp>
      <p:sp>
        <p:nvSpPr>
          <p:cNvPr id="392" name="Google Shape;392;p15"/>
          <p:cNvSpPr txBox="1"/>
          <p:nvPr/>
        </p:nvSpPr>
        <p:spPr>
          <a:xfrm>
            <a:off x="8814816" y="3749040"/>
            <a:ext cx="2596896" cy="978408"/>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203447"/>
              </a:buClr>
              <a:buSzPts val="1220"/>
              <a:buFont typeface="Arial"/>
              <a:buNone/>
            </a:pPr>
            <a:r>
              <a:rPr b="0" i="0" lang="en-US" sz="1220" u="none" cap="none" strike="noStrike">
                <a:solidFill>
                  <a:srgbClr val="203447"/>
                </a:solidFill>
                <a:latin typeface="Arial"/>
                <a:ea typeface="Arial"/>
                <a:cs typeface="Arial"/>
                <a:sym typeface="Arial"/>
              </a:rPr>
              <a:t>Below threshold → 0. Remaining coefficients are shrunk towards zero.</a:t>
            </a:r>
            <a:endParaRPr b="0" i="0" sz="1220" u="none" cap="none" strike="noStrike">
              <a:solidFill>
                <a:schemeClr val="dk1"/>
              </a:solidFill>
              <a:latin typeface="Arial"/>
              <a:ea typeface="Arial"/>
              <a:cs typeface="Arial"/>
              <a:sym typeface="Arial"/>
            </a:endParaRPr>
          </a:p>
        </p:txBody>
      </p:sp>
      <p:sp>
        <p:nvSpPr>
          <p:cNvPr id="393" name="Google Shape;393;p15"/>
          <p:cNvSpPr txBox="1"/>
          <p:nvPr/>
        </p:nvSpPr>
        <p:spPr>
          <a:xfrm>
            <a:off x="8732520" y="5120640"/>
            <a:ext cx="2697480" cy="58521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D58A4B"/>
              </a:buClr>
              <a:buSzPts val="1330"/>
              <a:buFont typeface="Arial"/>
              <a:buNone/>
            </a:pPr>
            <a:r>
              <a:rPr b="1" i="0" lang="en-US" sz="1330" u="none" cap="none" strike="noStrike">
                <a:solidFill>
                  <a:srgbClr val="D58A4B"/>
                </a:solidFill>
                <a:latin typeface="Arial"/>
                <a:ea typeface="Arial"/>
                <a:cs typeface="Arial"/>
                <a:sym typeface="Arial"/>
              </a:rPr>
              <a:t>Both can remove useful detail if the threshold is too strong.</a:t>
            </a:r>
            <a:endParaRPr b="0" i="0" sz="1330" u="none" cap="none" strike="noStrike">
              <a:solidFill>
                <a:schemeClr val="dk1"/>
              </a:solidFill>
              <a:latin typeface="Arial"/>
              <a:ea typeface="Arial"/>
              <a:cs typeface="Arial"/>
              <a:sym typeface="Arial"/>
            </a:endParaRPr>
          </a:p>
        </p:txBody>
      </p:sp>
      <p:sp>
        <p:nvSpPr>
          <p:cNvPr id="394" name="Google Shape;394;p15"/>
          <p:cNvSpPr txBox="1"/>
          <p:nvPr>
            <p:ph idx="4294967295" type="sldNum"/>
          </p:nvPr>
        </p:nvSpPr>
        <p:spPr>
          <a:xfrm>
            <a:off x="11338560" y="653796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800" u="none" cap="none" strike="noStrike">
                <a:solidFill>
                  <a:srgbClr val="7A858D"/>
                </a:solidFill>
                <a:latin typeface="Arial"/>
                <a:ea typeface="Arial"/>
                <a:cs typeface="Arial"/>
                <a:sym typeface="Arial"/>
              </a:rPr>
              <a:t>‹#›</a:t>
            </a:fld>
            <a:endParaRPr b="0" i="0" sz="800" u="none" cap="none" strike="noStrike">
              <a:solidFill>
                <a:srgbClr val="7A858D"/>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399" name="Shape 399"/>
        <p:cNvGrpSpPr/>
        <p:nvPr/>
      </p:nvGrpSpPr>
      <p:grpSpPr>
        <a:xfrm>
          <a:off x="0" y="0"/>
          <a:ext cx="0" cy="0"/>
          <a:chOff x="0" y="0"/>
          <a:chExt cx="0" cy="0"/>
        </a:xfrm>
      </p:grpSpPr>
      <p:sp>
        <p:nvSpPr>
          <p:cNvPr id="400" name="Google Shape;400;p16"/>
          <p:cNvSpPr/>
          <p:nvPr/>
        </p:nvSpPr>
        <p:spPr>
          <a:xfrm>
            <a:off x="9646920" y="274320"/>
            <a:ext cx="2084832" cy="310896"/>
          </a:xfrm>
          <a:prstGeom prst="roundRect">
            <a:avLst>
              <a:gd fmla="val 29412" name="adj"/>
            </a:avLst>
          </a:prstGeom>
          <a:solidFill>
            <a:srgbClr val="EAF2F5"/>
          </a:solidFill>
          <a:ln cap="flat" cmpd="sng" w="9525">
            <a:solidFill>
              <a:srgbClr val="EAF2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6"/>
          <p:cNvSpPr txBox="1"/>
          <p:nvPr/>
        </p:nvSpPr>
        <p:spPr>
          <a:xfrm>
            <a:off x="9710928" y="310896"/>
            <a:ext cx="1956816" cy="21945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397DA3"/>
              </a:buClr>
              <a:buSzPts val="850"/>
              <a:buFont typeface="Arial"/>
              <a:buNone/>
            </a:pPr>
            <a:r>
              <a:rPr b="1" i="0" lang="en-US" sz="850" u="none" cap="none" strike="noStrike">
                <a:solidFill>
                  <a:srgbClr val="397DA3"/>
                </a:solidFill>
                <a:latin typeface="Arial"/>
                <a:ea typeface="Arial"/>
                <a:cs typeface="Arial"/>
                <a:sym typeface="Arial"/>
              </a:rPr>
              <a:t>DENOISING</a:t>
            </a:r>
            <a:endParaRPr b="0" i="0" sz="850" u="none" cap="none" strike="noStrike">
              <a:solidFill>
                <a:schemeClr val="dk1"/>
              </a:solidFill>
              <a:latin typeface="Arial"/>
              <a:ea typeface="Arial"/>
              <a:cs typeface="Arial"/>
              <a:sym typeface="Arial"/>
            </a:endParaRPr>
          </a:p>
        </p:txBody>
      </p:sp>
      <p:sp>
        <p:nvSpPr>
          <p:cNvPr id="402" name="Google Shape;402;p16"/>
          <p:cNvSpPr txBox="1"/>
          <p:nvPr/>
        </p:nvSpPr>
        <p:spPr>
          <a:xfrm>
            <a:off x="438912" y="292608"/>
            <a:ext cx="896112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2700"/>
              <a:buFont typeface="Play"/>
              <a:buNone/>
            </a:pPr>
            <a:r>
              <a:rPr b="1" i="0" lang="en-US" sz="2700" u="none" cap="none" strike="noStrike">
                <a:solidFill>
                  <a:srgbClr val="203447"/>
                </a:solidFill>
                <a:latin typeface="Play"/>
                <a:ea typeface="Play"/>
                <a:cs typeface="Play"/>
                <a:sym typeface="Play"/>
              </a:rPr>
              <a:t>Two different ideas: Butterworth filtering and BayesShrink</a:t>
            </a:r>
            <a:endParaRPr b="0" i="0" sz="2700" u="none" cap="none" strike="noStrike">
              <a:solidFill>
                <a:schemeClr val="dk1"/>
              </a:solidFill>
              <a:latin typeface="Arial"/>
              <a:ea typeface="Arial"/>
              <a:cs typeface="Arial"/>
              <a:sym typeface="Arial"/>
            </a:endParaRPr>
          </a:p>
        </p:txBody>
      </p:sp>
      <p:sp>
        <p:nvSpPr>
          <p:cNvPr id="403" name="Google Shape;403;p16"/>
          <p:cNvSpPr txBox="1"/>
          <p:nvPr/>
        </p:nvSpPr>
        <p:spPr>
          <a:xfrm>
            <a:off x="457200" y="804672"/>
            <a:ext cx="11064240" cy="32918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1717D"/>
              </a:buClr>
              <a:buSzPts val="1250"/>
              <a:buFont typeface="Arial"/>
              <a:buNone/>
            </a:pPr>
            <a:r>
              <a:rPr b="0" i="0" lang="en-US" sz="1250" u="none" cap="none" strike="noStrike">
                <a:solidFill>
                  <a:srgbClr val="61717D"/>
                </a:solidFill>
                <a:latin typeface="Arial"/>
                <a:ea typeface="Arial"/>
                <a:cs typeface="Arial"/>
                <a:sym typeface="Arial"/>
              </a:rPr>
              <a:t>One is frequency-based; the other adapts to wavelet coefficients</a:t>
            </a:r>
            <a:endParaRPr b="0" i="0" sz="1250" u="none" cap="none" strike="noStrike">
              <a:solidFill>
                <a:schemeClr val="dk1"/>
              </a:solidFill>
              <a:latin typeface="Arial"/>
              <a:ea typeface="Arial"/>
              <a:cs typeface="Arial"/>
              <a:sym typeface="Arial"/>
            </a:endParaRPr>
          </a:p>
        </p:txBody>
      </p:sp>
      <p:cxnSp>
        <p:nvCxnSpPr>
          <p:cNvPr id="404" name="Google Shape;404;p16"/>
          <p:cNvCxnSpPr/>
          <p:nvPr/>
        </p:nvCxnSpPr>
        <p:spPr>
          <a:xfrm>
            <a:off x="438912" y="1197864"/>
            <a:ext cx="11292840" cy="0"/>
          </a:xfrm>
          <a:prstGeom prst="straightConnector1">
            <a:avLst/>
          </a:prstGeom>
          <a:noFill/>
          <a:ln cap="flat" cmpd="sng" w="22850">
            <a:solidFill>
              <a:srgbClr val="4E928B"/>
            </a:solidFill>
            <a:prstDash val="solid"/>
            <a:round/>
            <a:headEnd len="sm" w="sm" type="none"/>
            <a:tailEnd len="sm" w="sm" type="none"/>
          </a:ln>
        </p:spPr>
      </p:cxnSp>
      <p:sp>
        <p:nvSpPr>
          <p:cNvPr id="405" name="Google Shape;405;p16"/>
          <p:cNvSpPr/>
          <p:nvPr/>
        </p:nvSpPr>
        <p:spPr>
          <a:xfrm>
            <a:off x="658368" y="1536192"/>
            <a:ext cx="5285232" cy="2057400"/>
          </a:xfrm>
          <a:prstGeom prst="roundRect">
            <a:avLst>
              <a:gd fmla="val 4444" name="adj"/>
            </a:avLst>
          </a:prstGeom>
          <a:solidFill>
            <a:srgbClr val="EAF2F5"/>
          </a:solidFill>
          <a:ln cap="flat" cmpd="sng" w="12700">
            <a:solidFill>
              <a:srgbClr val="397DA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6"/>
          <p:cNvSpPr txBox="1"/>
          <p:nvPr/>
        </p:nvSpPr>
        <p:spPr>
          <a:xfrm>
            <a:off x="804672" y="1636776"/>
            <a:ext cx="4992624"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97DA3"/>
              </a:buClr>
              <a:buSzPts val="1500"/>
              <a:buFont typeface="Arial"/>
              <a:buNone/>
            </a:pPr>
            <a:r>
              <a:rPr b="1" i="0" lang="en-US" sz="1500" u="none" cap="none" strike="noStrike">
                <a:solidFill>
                  <a:srgbClr val="397DA3"/>
                </a:solidFill>
                <a:latin typeface="Arial"/>
                <a:ea typeface="Arial"/>
                <a:cs typeface="Arial"/>
                <a:sym typeface="Arial"/>
              </a:rPr>
              <a:t>Conventional: Butterworth band-pass</a:t>
            </a:r>
            <a:endParaRPr b="0" i="0" sz="1500" u="none" cap="none" strike="noStrike">
              <a:solidFill>
                <a:schemeClr val="dk1"/>
              </a:solidFill>
              <a:latin typeface="Arial"/>
              <a:ea typeface="Arial"/>
              <a:cs typeface="Arial"/>
              <a:sym typeface="Arial"/>
            </a:endParaRPr>
          </a:p>
        </p:txBody>
      </p:sp>
      <p:sp>
        <p:nvSpPr>
          <p:cNvPr id="407" name="Google Shape;407;p16"/>
          <p:cNvSpPr txBox="1"/>
          <p:nvPr/>
        </p:nvSpPr>
        <p:spPr>
          <a:xfrm>
            <a:off x="804672" y="1975104"/>
            <a:ext cx="4992624" cy="1527048"/>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203447"/>
              </a:buClr>
              <a:buSzPts val="1220"/>
              <a:buFont typeface="Arial"/>
              <a:buNone/>
            </a:pPr>
            <a:r>
              <a:rPr b="0" i="0" lang="en-US" sz="1220" u="none" cap="none" strike="noStrike">
                <a:solidFill>
                  <a:srgbClr val="203447"/>
                </a:solidFill>
                <a:latin typeface="Arial"/>
                <a:ea typeface="Arial"/>
                <a:cs typeface="Arial"/>
                <a:sym typeface="Arial"/>
              </a:rPr>
              <a:t>• Uses a chosen frequency band (in this run: 0.5–30 Hz, 4th order)</a:t>
            </a:r>
            <a:endParaRPr b="0" i="0" sz="12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203447"/>
              </a:buClr>
              <a:buSzPts val="1220"/>
              <a:buFont typeface="Arial"/>
              <a:buNone/>
            </a:pPr>
            <a:r>
              <a:rPr b="0" i="0" lang="en-US" sz="1220" u="none" cap="none" strike="noStrike">
                <a:solidFill>
                  <a:srgbClr val="203447"/>
                </a:solidFill>
                <a:latin typeface="Arial"/>
                <a:ea typeface="Arial"/>
                <a:cs typeface="Arial"/>
                <a:sym typeface="Arial"/>
              </a:rPr>
              <a:t>• </a:t>
            </a:r>
            <a:r>
              <a:rPr lang="en-US" sz="1220">
                <a:solidFill>
                  <a:srgbClr val="203447"/>
                </a:solidFill>
              </a:rPr>
              <a:t>Discard</a:t>
            </a:r>
            <a:r>
              <a:rPr b="0" i="0" lang="en-US" sz="1220" u="none" cap="none" strike="noStrike">
                <a:solidFill>
                  <a:srgbClr val="203447"/>
                </a:solidFill>
                <a:latin typeface="Arial"/>
                <a:ea typeface="Arial"/>
                <a:cs typeface="Arial"/>
                <a:sym typeface="Arial"/>
              </a:rPr>
              <a:t> components outside the passband</a:t>
            </a:r>
            <a:endParaRPr b="0" i="0" sz="12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203447"/>
              </a:buClr>
              <a:buSzPts val="1220"/>
              <a:buFont typeface="Arial"/>
              <a:buNone/>
            </a:pPr>
            <a:r>
              <a:rPr b="0" i="0" lang="en-US" sz="1220" u="none" cap="none" strike="noStrike">
                <a:solidFill>
                  <a:srgbClr val="203447"/>
                </a:solidFill>
                <a:latin typeface="Arial"/>
                <a:ea typeface="Arial"/>
                <a:cs typeface="Arial"/>
                <a:sym typeface="Arial"/>
              </a:rPr>
              <a:t>• Applied to the waveform directly</a:t>
            </a:r>
            <a:endParaRPr b="0" i="0" sz="1220" u="none" cap="none" strike="noStrike">
              <a:solidFill>
                <a:schemeClr val="dk1"/>
              </a:solidFill>
              <a:latin typeface="Arial"/>
              <a:ea typeface="Arial"/>
              <a:cs typeface="Arial"/>
              <a:sym typeface="Arial"/>
            </a:endParaRPr>
          </a:p>
        </p:txBody>
      </p:sp>
      <p:sp>
        <p:nvSpPr>
          <p:cNvPr id="408" name="Google Shape;408;p16"/>
          <p:cNvSpPr/>
          <p:nvPr/>
        </p:nvSpPr>
        <p:spPr>
          <a:xfrm>
            <a:off x="6236208" y="1536192"/>
            <a:ext cx="5285232" cy="2057400"/>
          </a:xfrm>
          <a:prstGeom prst="roundRect">
            <a:avLst>
              <a:gd fmla="val 4444" name="adj"/>
            </a:avLst>
          </a:prstGeom>
          <a:solidFill>
            <a:srgbClr val="E8F2EF"/>
          </a:solidFill>
          <a:ln cap="flat" cmpd="sng" w="12700">
            <a:solidFill>
              <a:srgbClr val="4E92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6"/>
          <p:cNvSpPr txBox="1"/>
          <p:nvPr/>
        </p:nvSpPr>
        <p:spPr>
          <a:xfrm>
            <a:off x="6382512" y="1636776"/>
            <a:ext cx="4992624"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4E928B"/>
              </a:buClr>
              <a:buSzPts val="1500"/>
              <a:buFont typeface="Arial"/>
              <a:buNone/>
            </a:pPr>
            <a:r>
              <a:rPr b="1" i="0" lang="en-US" sz="1500" u="none" cap="none" strike="noStrike">
                <a:solidFill>
                  <a:srgbClr val="4E928B"/>
                </a:solidFill>
                <a:latin typeface="Arial"/>
                <a:ea typeface="Arial"/>
                <a:cs typeface="Arial"/>
                <a:sym typeface="Arial"/>
              </a:rPr>
              <a:t>Wavelet: BayesShrink</a:t>
            </a:r>
            <a:endParaRPr b="0" i="0" sz="1500" u="none" cap="none" strike="noStrike">
              <a:solidFill>
                <a:schemeClr val="dk1"/>
              </a:solidFill>
              <a:latin typeface="Arial"/>
              <a:ea typeface="Arial"/>
              <a:cs typeface="Arial"/>
              <a:sym typeface="Arial"/>
            </a:endParaRPr>
          </a:p>
        </p:txBody>
      </p:sp>
      <p:sp>
        <p:nvSpPr>
          <p:cNvPr id="410" name="Google Shape;410;p16"/>
          <p:cNvSpPr txBox="1"/>
          <p:nvPr/>
        </p:nvSpPr>
        <p:spPr>
          <a:xfrm>
            <a:off x="6397011" y="1975104"/>
            <a:ext cx="4992600" cy="15270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203447"/>
              </a:buClr>
              <a:buSzPts val="1220"/>
              <a:buFont typeface="Arial"/>
              <a:buNone/>
            </a:pPr>
            <a:r>
              <a:rPr b="0" i="0" lang="en-US" sz="1220" u="none" cap="none" strike="noStrike">
                <a:solidFill>
                  <a:srgbClr val="203447"/>
                </a:solidFill>
                <a:latin typeface="Arial"/>
                <a:ea typeface="Arial"/>
                <a:cs typeface="Arial"/>
                <a:sym typeface="Arial"/>
              </a:rPr>
              <a:t>• Decomposes signal into scales</a:t>
            </a:r>
            <a:endParaRPr b="0" i="0" sz="12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203447"/>
              </a:buClr>
              <a:buSzPts val="1220"/>
              <a:buFont typeface="Arial"/>
              <a:buNone/>
            </a:pPr>
            <a:r>
              <a:rPr b="0" i="0" lang="en-US" sz="1220" u="none" cap="none" strike="noStrike">
                <a:solidFill>
                  <a:srgbClr val="203447"/>
                </a:solidFill>
                <a:latin typeface="Arial"/>
                <a:ea typeface="Arial"/>
                <a:cs typeface="Arial"/>
                <a:sym typeface="Arial"/>
              </a:rPr>
              <a:t>• Estimates noise from detail coefficients</a:t>
            </a:r>
            <a:endParaRPr b="0" i="0" sz="12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203447"/>
              </a:buClr>
              <a:buSzPts val="1220"/>
              <a:buFont typeface="Arial"/>
              <a:buNone/>
            </a:pPr>
            <a:r>
              <a:rPr b="0" i="0" lang="en-US" sz="1220" u="none" cap="none" strike="noStrike">
                <a:solidFill>
                  <a:srgbClr val="203447"/>
                </a:solidFill>
                <a:latin typeface="Arial"/>
                <a:ea typeface="Arial"/>
                <a:cs typeface="Arial"/>
                <a:sym typeface="Arial"/>
              </a:rPr>
              <a:t>• Chooses level-dependent thresholds and uses soft thresholding</a:t>
            </a:r>
            <a:endParaRPr b="0" i="0" sz="1220" u="none" cap="none" strike="noStrike">
              <a:solidFill>
                <a:schemeClr val="dk1"/>
              </a:solidFill>
              <a:latin typeface="Arial"/>
              <a:ea typeface="Arial"/>
              <a:cs typeface="Arial"/>
              <a:sym typeface="Arial"/>
            </a:endParaRPr>
          </a:p>
        </p:txBody>
      </p:sp>
      <p:sp>
        <p:nvSpPr>
          <p:cNvPr id="411" name="Google Shape;411;p16"/>
          <p:cNvSpPr txBox="1"/>
          <p:nvPr/>
        </p:nvSpPr>
        <p:spPr>
          <a:xfrm>
            <a:off x="1051560" y="4023360"/>
            <a:ext cx="2011680"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397DA3"/>
              </a:buClr>
              <a:buSzPts val="1600"/>
              <a:buFont typeface="Arial"/>
              <a:buNone/>
            </a:pPr>
            <a:r>
              <a:rPr b="1" i="0" lang="en-US" sz="1600" u="none" cap="none" strike="noStrike">
                <a:solidFill>
                  <a:srgbClr val="397DA3"/>
                </a:solidFill>
                <a:latin typeface="Arial"/>
                <a:ea typeface="Arial"/>
                <a:cs typeface="Arial"/>
                <a:sym typeface="Arial"/>
              </a:rPr>
              <a:t>Butterworth</a:t>
            </a:r>
            <a:endParaRPr b="0" i="0" sz="1600" u="none" cap="none" strike="noStrike">
              <a:solidFill>
                <a:schemeClr val="dk1"/>
              </a:solidFill>
              <a:latin typeface="Arial"/>
              <a:ea typeface="Arial"/>
              <a:cs typeface="Arial"/>
              <a:sym typeface="Arial"/>
            </a:endParaRPr>
          </a:p>
        </p:txBody>
      </p:sp>
      <p:sp>
        <p:nvSpPr>
          <p:cNvPr id="412" name="Google Shape;412;p16"/>
          <p:cNvSpPr txBox="1"/>
          <p:nvPr/>
        </p:nvSpPr>
        <p:spPr>
          <a:xfrm>
            <a:off x="932688" y="4407408"/>
            <a:ext cx="2240280" cy="4937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03447"/>
              </a:buClr>
              <a:buSzPts val="1350"/>
              <a:buFont typeface="Arial"/>
              <a:buNone/>
            </a:pPr>
            <a:r>
              <a:rPr b="0" i="0" lang="en-US" sz="1350" u="none" cap="none" strike="noStrike">
                <a:solidFill>
                  <a:srgbClr val="203447"/>
                </a:solidFill>
                <a:latin typeface="Arial"/>
                <a:ea typeface="Arial"/>
                <a:cs typeface="Arial"/>
                <a:sym typeface="Arial"/>
              </a:rPr>
              <a:t>frequency band → filtered signal</a:t>
            </a:r>
            <a:endParaRPr b="0" i="0" sz="1350" u="none" cap="none" strike="noStrike">
              <a:solidFill>
                <a:schemeClr val="dk1"/>
              </a:solidFill>
              <a:latin typeface="Arial"/>
              <a:ea typeface="Arial"/>
              <a:cs typeface="Arial"/>
              <a:sym typeface="Arial"/>
            </a:endParaRPr>
          </a:p>
        </p:txBody>
      </p:sp>
      <p:sp>
        <p:nvSpPr>
          <p:cNvPr id="413" name="Google Shape;413;p16"/>
          <p:cNvSpPr txBox="1"/>
          <p:nvPr/>
        </p:nvSpPr>
        <p:spPr>
          <a:xfrm>
            <a:off x="7269480" y="4023360"/>
            <a:ext cx="2240280"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4E928B"/>
              </a:buClr>
              <a:buSzPts val="1600"/>
              <a:buFont typeface="Arial"/>
              <a:buNone/>
            </a:pPr>
            <a:r>
              <a:rPr b="1" i="0" lang="en-US" sz="1600" u="none" cap="none" strike="noStrike">
                <a:solidFill>
                  <a:srgbClr val="4E928B"/>
                </a:solidFill>
                <a:latin typeface="Arial"/>
                <a:ea typeface="Arial"/>
                <a:cs typeface="Arial"/>
                <a:sym typeface="Arial"/>
              </a:rPr>
              <a:t>BayesShrink</a:t>
            </a:r>
            <a:endParaRPr b="0" i="0" sz="1600" u="none" cap="none" strike="noStrike">
              <a:solidFill>
                <a:schemeClr val="dk1"/>
              </a:solidFill>
              <a:latin typeface="Arial"/>
              <a:ea typeface="Arial"/>
              <a:cs typeface="Arial"/>
              <a:sym typeface="Arial"/>
            </a:endParaRPr>
          </a:p>
        </p:txBody>
      </p:sp>
      <p:sp>
        <p:nvSpPr>
          <p:cNvPr id="414" name="Google Shape;414;p16"/>
          <p:cNvSpPr txBox="1"/>
          <p:nvPr/>
        </p:nvSpPr>
        <p:spPr>
          <a:xfrm>
            <a:off x="6793992" y="4407408"/>
            <a:ext cx="3154680" cy="4937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03447"/>
              </a:buClr>
              <a:buSzPts val="1350"/>
              <a:buFont typeface="Arial"/>
              <a:buNone/>
            </a:pPr>
            <a:r>
              <a:rPr b="0" i="0" lang="en-US" sz="1350" u="none" cap="none" strike="noStrike">
                <a:solidFill>
                  <a:srgbClr val="203447"/>
                </a:solidFill>
                <a:latin typeface="Arial"/>
                <a:ea typeface="Arial"/>
                <a:cs typeface="Arial"/>
                <a:sym typeface="Arial"/>
              </a:rPr>
              <a:t>coefficients → adaptive threshold → reconstruct</a:t>
            </a:r>
            <a:endParaRPr b="0" i="0" sz="1350" u="none" cap="none" strike="noStrike">
              <a:solidFill>
                <a:schemeClr val="dk1"/>
              </a:solidFill>
              <a:latin typeface="Arial"/>
              <a:ea typeface="Arial"/>
              <a:cs typeface="Arial"/>
              <a:sym typeface="Arial"/>
            </a:endParaRPr>
          </a:p>
        </p:txBody>
      </p:sp>
      <p:sp>
        <p:nvSpPr>
          <p:cNvPr id="415" name="Google Shape;415;p16"/>
          <p:cNvSpPr txBox="1"/>
          <p:nvPr/>
        </p:nvSpPr>
        <p:spPr>
          <a:xfrm>
            <a:off x="822960" y="5230368"/>
            <a:ext cx="10561320" cy="3840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D6C68"/>
              </a:buClr>
              <a:buSzPts val="1410"/>
              <a:buFont typeface="Arial"/>
              <a:buNone/>
            </a:pPr>
            <a:r>
              <a:rPr b="1" i="0" lang="en-US" sz="1410" u="none" cap="none" strike="noStrike">
                <a:solidFill>
                  <a:srgbClr val="2D6C68"/>
                </a:solidFill>
                <a:latin typeface="Arial"/>
                <a:ea typeface="Arial"/>
                <a:cs typeface="Arial"/>
                <a:sym typeface="Arial"/>
              </a:rPr>
              <a:t>Key difference: Butterworth chooses a frequency band; BayesShrink adapts thresholds across wavelet scales.</a:t>
            </a:r>
            <a:endParaRPr b="0" i="0" sz="1410" u="none" cap="none" strike="noStrike">
              <a:solidFill>
                <a:schemeClr val="dk1"/>
              </a:solidFill>
              <a:latin typeface="Arial"/>
              <a:ea typeface="Arial"/>
              <a:cs typeface="Arial"/>
              <a:sym typeface="Arial"/>
            </a:endParaRPr>
          </a:p>
        </p:txBody>
      </p:sp>
      <p:sp>
        <p:nvSpPr>
          <p:cNvPr id="416" name="Google Shape;416;p16"/>
          <p:cNvSpPr txBox="1"/>
          <p:nvPr>
            <p:ph idx="4294967295" type="sldNum"/>
          </p:nvPr>
        </p:nvSpPr>
        <p:spPr>
          <a:xfrm>
            <a:off x="11338560" y="653796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800" u="none" cap="none" strike="noStrike">
                <a:solidFill>
                  <a:srgbClr val="7A858D"/>
                </a:solidFill>
                <a:latin typeface="Arial"/>
                <a:ea typeface="Arial"/>
                <a:cs typeface="Arial"/>
                <a:sym typeface="Arial"/>
              </a:rPr>
              <a:t>‹#›</a:t>
            </a:fld>
            <a:endParaRPr b="0" i="0" sz="800" u="none" cap="none" strike="noStrike">
              <a:solidFill>
                <a:srgbClr val="7A858D"/>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11"/>
                                        </p:tgtEl>
                                        <p:attrNameLst>
                                          <p:attrName>style.visibility</p:attrName>
                                        </p:attrNameLst>
                                      </p:cBhvr>
                                      <p:to>
                                        <p:strVal val="visible"/>
                                      </p:to>
                                    </p:set>
                                    <p:anim calcmode="lin" valueType="num">
                                      <p:cBhvr additive="base">
                                        <p:cTn dur="1000"/>
                                        <p:tgtEl>
                                          <p:spTgt spid="411"/>
                                        </p:tgtEl>
                                        <p:attrNameLst>
                                          <p:attrName>ppt_w</p:attrName>
                                        </p:attrNameLst>
                                      </p:cBhvr>
                                      <p:tavLst>
                                        <p:tav fmla="" tm="0">
                                          <p:val>
                                            <p:strVal val="0"/>
                                          </p:val>
                                        </p:tav>
                                        <p:tav fmla="" tm="100000">
                                          <p:val>
                                            <p:strVal val="#ppt_w"/>
                                          </p:val>
                                        </p:tav>
                                      </p:tavLst>
                                    </p:anim>
                                    <p:anim calcmode="lin" valueType="num">
                                      <p:cBhvr additive="base">
                                        <p:cTn dur="1000"/>
                                        <p:tgtEl>
                                          <p:spTgt spid="411"/>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412"/>
                                        </p:tgtEl>
                                        <p:attrNameLst>
                                          <p:attrName>style.visibility</p:attrName>
                                        </p:attrNameLst>
                                      </p:cBhvr>
                                      <p:to>
                                        <p:strVal val="visible"/>
                                      </p:to>
                                    </p:set>
                                    <p:anim calcmode="lin" valueType="num">
                                      <p:cBhvr additive="base">
                                        <p:cTn dur="1000"/>
                                        <p:tgtEl>
                                          <p:spTgt spid="412"/>
                                        </p:tgtEl>
                                        <p:attrNameLst>
                                          <p:attrName>ppt_w</p:attrName>
                                        </p:attrNameLst>
                                      </p:cBhvr>
                                      <p:tavLst>
                                        <p:tav fmla="" tm="0">
                                          <p:val>
                                            <p:strVal val="0"/>
                                          </p:val>
                                        </p:tav>
                                        <p:tav fmla="" tm="100000">
                                          <p:val>
                                            <p:strVal val="#ppt_w"/>
                                          </p:val>
                                        </p:tav>
                                      </p:tavLst>
                                    </p:anim>
                                    <p:anim calcmode="lin" valueType="num">
                                      <p:cBhvr additive="base">
                                        <p:cTn dur="1000"/>
                                        <p:tgtEl>
                                          <p:spTgt spid="41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13"/>
                                        </p:tgtEl>
                                        <p:attrNameLst>
                                          <p:attrName>style.visibility</p:attrName>
                                        </p:attrNameLst>
                                      </p:cBhvr>
                                      <p:to>
                                        <p:strVal val="visible"/>
                                      </p:to>
                                    </p:set>
                                    <p:anim calcmode="lin" valueType="num">
                                      <p:cBhvr additive="base">
                                        <p:cTn dur="1000"/>
                                        <p:tgtEl>
                                          <p:spTgt spid="413"/>
                                        </p:tgtEl>
                                        <p:attrNameLst>
                                          <p:attrName>ppt_w</p:attrName>
                                        </p:attrNameLst>
                                      </p:cBhvr>
                                      <p:tavLst>
                                        <p:tav fmla="" tm="0">
                                          <p:val>
                                            <p:strVal val="0"/>
                                          </p:val>
                                        </p:tav>
                                        <p:tav fmla="" tm="100000">
                                          <p:val>
                                            <p:strVal val="#ppt_w"/>
                                          </p:val>
                                        </p:tav>
                                      </p:tavLst>
                                    </p:anim>
                                    <p:anim calcmode="lin" valueType="num">
                                      <p:cBhvr additive="base">
                                        <p:cTn dur="1000"/>
                                        <p:tgtEl>
                                          <p:spTgt spid="413"/>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414"/>
                                        </p:tgtEl>
                                        <p:attrNameLst>
                                          <p:attrName>style.visibility</p:attrName>
                                        </p:attrNameLst>
                                      </p:cBhvr>
                                      <p:to>
                                        <p:strVal val="visible"/>
                                      </p:to>
                                    </p:set>
                                    <p:anim calcmode="lin" valueType="num">
                                      <p:cBhvr additive="base">
                                        <p:cTn dur="1000"/>
                                        <p:tgtEl>
                                          <p:spTgt spid="414"/>
                                        </p:tgtEl>
                                        <p:attrNameLst>
                                          <p:attrName>ppt_w</p:attrName>
                                        </p:attrNameLst>
                                      </p:cBhvr>
                                      <p:tavLst>
                                        <p:tav fmla="" tm="0">
                                          <p:val>
                                            <p:strVal val="0"/>
                                          </p:val>
                                        </p:tav>
                                        <p:tav fmla="" tm="100000">
                                          <p:val>
                                            <p:strVal val="#ppt_w"/>
                                          </p:val>
                                        </p:tav>
                                      </p:tavLst>
                                    </p:anim>
                                    <p:anim calcmode="lin" valueType="num">
                                      <p:cBhvr additive="base">
                                        <p:cTn dur="1000"/>
                                        <p:tgtEl>
                                          <p:spTgt spid="41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5"/>
                                        </p:tgtEl>
                                        <p:attrNameLst>
                                          <p:attrName>style.visibility</p:attrName>
                                        </p:attrNameLst>
                                      </p:cBhvr>
                                      <p:to>
                                        <p:strVal val="visible"/>
                                      </p:to>
                                    </p:set>
                                    <p:animEffect filter="fade" transition="in">
                                      <p:cBhvr>
                                        <p:cTn dur="1000"/>
                                        <p:tgtEl>
                                          <p:spTgt spid="4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421" name="Shape 421"/>
        <p:cNvGrpSpPr/>
        <p:nvPr/>
      </p:nvGrpSpPr>
      <p:grpSpPr>
        <a:xfrm>
          <a:off x="0" y="0"/>
          <a:ext cx="0" cy="0"/>
          <a:chOff x="0" y="0"/>
          <a:chExt cx="0" cy="0"/>
        </a:xfrm>
      </p:grpSpPr>
      <p:sp>
        <p:nvSpPr>
          <p:cNvPr id="422" name="Google Shape;422;p17"/>
          <p:cNvSpPr/>
          <p:nvPr/>
        </p:nvSpPr>
        <p:spPr>
          <a:xfrm>
            <a:off x="9646920" y="274320"/>
            <a:ext cx="2084832" cy="310896"/>
          </a:xfrm>
          <a:prstGeom prst="roundRect">
            <a:avLst>
              <a:gd fmla="val 29412" name="adj"/>
            </a:avLst>
          </a:prstGeom>
          <a:solidFill>
            <a:srgbClr val="EAF2F5"/>
          </a:solidFill>
          <a:ln cap="flat" cmpd="sng" w="9525">
            <a:solidFill>
              <a:srgbClr val="EAF2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7"/>
          <p:cNvSpPr txBox="1"/>
          <p:nvPr/>
        </p:nvSpPr>
        <p:spPr>
          <a:xfrm>
            <a:off x="9710928" y="310896"/>
            <a:ext cx="1956816" cy="21945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397DA3"/>
              </a:buClr>
              <a:buSzPts val="850"/>
              <a:buFont typeface="Arial"/>
              <a:buNone/>
            </a:pPr>
            <a:r>
              <a:rPr b="1" i="0" lang="en-US" sz="850" u="none" cap="none" strike="noStrike">
                <a:solidFill>
                  <a:srgbClr val="397DA3"/>
                </a:solidFill>
                <a:latin typeface="Arial"/>
                <a:ea typeface="Arial"/>
                <a:cs typeface="Arial"/>
                <a:sym typeface="Arial"/>
              </a:rPr>
              <a:t>SINGLE RECORD</a:t>
            </a:r>
            <a:endParaRPr b="0" i="0" sz="850" u="none" cap="none" strike="noStrike">
              <a:solidFill>
                <a:schemeClr val="dk1"/>
              </a:solidFill>
              <a:latin typeface="Arial"/>
              <a:ea typeface="Arial"/>
              <a:cs typeface="Arial"/>
              <a:sym typeface="Arial"/>
            </a:endParaRPr>
          </a:p>
        </p:txBody>
      </p:sp>
      <p:sp>
        <p:nvSpPr>
          <p:cNvPr id="424" name="Google Shape;424;p17"/>
          <p:cNvSpPr txBox="1"/>
          <p:nvPr/>
        </p:nvSpPr>
        <p:spPr>
          <a:xfrm>
            <a:off x="438912" y="292608"/>
            <a:ext cx="896112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2700"/>
              <a:buFont typeface="Play"/>
              <a:buNone/>
            </a:pPr>
            <a:r>
              <a:rPr b="1" i="0" lang="en-US" sz="2700" u="none" cap="none" strike="noStrike">
                <a:solidFill>
                  <a:srgbClr val="203447"/>
                </a:solidFill>
                <a:latin typeface="Play"/>
                <a:ea typeface="Play"/>
                <a:cs typeface="Play"/>
                <a:sym typeface="Play"/>
              </a:rPr>
              <a:t>Single-record comparison: Butterworth vs BayesShrink</a:t>
            </a:r>
            <a:endParaRPr b="0" i="0" sz="2700" u="none" cap="none" strike="noStrike">
              <a:solidFill>
                <a:schemeClr val="dk1"/>
              </a:solidFill>
              <a:latin typeface="Arial"/>
              <a:ea typeface="Arial"/>
              <a:cs typeface="Arial"/>
              <a:sym typeface="Arial"/>
            </a:endParaRPr>
          </a:p>
        </p:txBody>
      </p:sp>
      <p:sp>
        <p:nvSpPr>
          <p:cNvPr id="425" name="Google Shape;425;p17"/>
          <p:cNvSpPr txBox="1"/>
          <p:nvPr/>
        </p:nvSpPr>
        <p:spPr>
          <a:xfrm>
            <a:off x="457200" y="804672"/>
            <a:ext cx="11064240" cy="32918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1717D"/>
              </a:buClr>
              <a:buSzPts val="1250"/>
              <a:buFont typeface="Arial"/>
              <a:buNone/>
            </a:pPr>
            <a:r>
              <a:rPr b="0" i="0" lang="en-US" sz="1250" u="none" cap="none" strike="noStrike">
                <a:solidFill>
                  <a:srgbClr val="61717D"/>
                </a:solidFill>
                <a:latin typeface="Arial"/>
                <a:ea typeface="Arial"/>
                <a:cs typeface="Arial"/>
                <a:sym typeface="Arial"/>
              </a:rPr>
              <a:t>For this record, the wavelet-denoised line stays closer to the reference</a:t>
            </a:r>
            <a:endParaRPr b="0" i="0" sz="1250" u="none" cap="none" strike="noStrike">
              <a:solidFill>
                <a:schemeClr val="dk1"/>
              </a:solidFill>
              <a:latin typeface="Arial"/>
              <a:ea typeface="Arial"/>
              <a:cs typeface="Arial"/>
              <a:sym typeface="Arial"/>
            </a:endParaRPr>
          </a:p>
        </p:txBody>
      </p:sp>
      <p:cxnSp>
        <p:nvCxnSpPr>
          <p:cNvPr id="426" name="Google Shape;426;p17"/>
          <p:cNvCxnSpPr/>
          <p:nvPr/>
        </p:nvCxnSpPr>
        <p:spPr>
          <a:xfrm>
            <a:off x="438912" y="1197864"/>
            <a:ext cx="11292840" cy="0"/>
          </a:xfrm>
          <a:prstGeom prst="straightConnector1">
            <a:avLst/>
          </a:prstGeom>
          <a:noFill/>
          <a:ln cap="flat" cmpd="sng" w="22850">
            <a:solidFill>
              <a:srgbClr val="4E928B"/>
            </a:solidFill>
            <a:prstDash val="solid"/>
            <a:round/>
            <a:headEnd len="sm" w="sm" type="none"/>
            <a:tailEnd len="sm" w="sm" type="none"/>
          </a:ln>
        </p:spPr>
      </p:cxnSp>
      <p:sp>
        <p:nvSpPr>
          <p:cNvPr id="427" name="Google Shape;427;p17"/>
          <p:cNvSpPr/>
          <p:nvPr/>
        </p:nvSpPr>
        <p:spPr>
          <a:xfrm>
            <a:off x="457200" y="1389888"/>
            <a:ext cx="6766560" cy="4480560"/>
          </a:xfrm>
          <a:prstGeom prst="roundRect">
            <a:avLst>
              <a:gd fmla="val 1633" name="adj"/>
            </a:avLst>
          </a:prstGeom>
          <a:solidFill>
            <a:srgbClr val="FFFFFF"/>
          </a:solidFill>
          <a:ln cap="flat" cmpd="sng" w="10150">
            <a:solidFill>
              <a:srgbClr val="DD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nt/data/image(7).png" id="428" name="Google Shape;428;p17"/>
          <p:cNvPicPr preferRelativeResize="0"/>
          <p:nvPr/>
        </p:nvPicPr>
        <p:blipFill rotWithShape="1">
          <a:blip r:embed="rId3">
            <a:alphaModFix/>
          </a:blip>
          <a:srcRect b="0" l="0" r="0" t="0"/>
          <a:stretch/>
        </p:blipFill>
        <p:spPr>
          <a:xfrm>
            <a:off x="512064" y="1836175"/>
            <a:ext cx="6656832" cy="3587986"/>
          </a:xfrm>
          <a:prstGeom prst="rect">
            <a:avLst/>
          </a:prstGeom>
          <a:noFill/>
          <a:ln>
            <a:noFill/>
          </a:ln>
        </p:spPr>
      </p:pic>
      <p:sp>
        <p:nvSpPr>
          <p:cNvPr id="429" name="Google Shape;429;p17"/>
          <p:cNvSpPr txBox="1"/>
          <p:nvPr/>
        </p:nvSpPr>
        <p:spPr>
          <a:xfrm>
            <a:off x="7543800" y="1545336"/>
            <a:ext cx="1600200"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97DA3"/>
              </a:buClr>
              <a:buSzPts val="1500"/>
              <a:buFont typeface="Arial"/>
              <a:buNone/>
            </a:pPr>
            <a:r>
              <a:rPr b="1" i="0" lang="en-US" sz="1500" u="none" cap="none" strike="noStrike">
                <a:solidFill>
                  <a:srgbClr val="397DA3"/>
                </a:solidFill>
                <a:latin typeface="Arial"/>
                <a:ea typeface="Arial"/>
                <a:cs typeface="Arial"/>
                <a:sym typeface="Arial"/>
              </a:rPr>
              <a:t>Butterworth</a:t>
            </a:r>
            <a:endParaRPr b="0" i="0" sz="1500" u="none" cap="none" strike="noStrike">
              <a:solidFill>
                <a:schemeClr val="dk1"/>
              </a:solidFill>
              <a:latin typeface="Arial"/>
              <a:ea typeface="Arial"/>
              <a:cs typeface="Arial"/>
              <a:sym typeface="Arial"/>
            </a:endParaRPr>
          </a:p>
        </p:txBody>
      </p:sp>
      <p:sp>
        <p:nvSpPr>
          <p:cNvPr id="430" name="Google Shape;430;p17"/>
          <p:cNvSpPr txBox="1"/>
          <p:nvPr/>
        </p:nvSpPr>
        <p:spPr>
          <a:xfrm>
            <a:off x="9464040" y="1545336"/>
            <a:ext cx="1691640"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4E928B"/>
              </a:buClr>
              <a:buSzPts val="1500"/>
              <a:buFont typeface="Arial"/>
              <a:buNone/>
            </a:pPr>
            <a:r>
              <a:rPr b="1" i="0" lang="en-US" sz="1500" u="none" cap="none" strike="noStrike">
                <a:solidFill>
                  <a:srgbClr val="4E928B"/>
                </a:solidFill>
                <a:latin typeface="Arial"/>
                <a:ea typeface="Arial"/>
                <a:cs typeface="Arial"/>
                <a:sym typeface="Arial"/>
              </a:rPr>
              <a:t>BayesShrink</a:t>
            </a:r>
            <a:endParaRPr b="0" i="0" sz="1500" u="none" cap="none" strike="noStrike">
              <a:solidFill>
                <a:schemeClr val="dk1"/>
              </a:solidFill>
              <a:latin typeface="Arial"/>
              <a:ea typeface="Arial"/>
              <a:cs typeface="Arial"/>
              <a:sym typeface="Arial"/>
            </a:endParaRPr>
          </a:p>
        </p:txBody>
      </p:sp>
      <p:sp>
        <p:nvSpPr>
          <p:cNvPr id="431" name="Google Shape;431;p17"/>
          <p:cNvSpPr txBox="1"/>
          <p:nvPr/>
        </p:nvSpPr>
        <p:spPr>
          <a:xfrm>
            <a:off x="7498080" y="2057400"/>
            <a:ext cx="1554480"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1330"/>
              <a:buFont typeface="Arial"/>
              <a:buNone/>
            </a:pPr>
            <a:r>
              <a:rPr b="1" i="0" lang="en-US" sz="1330" u="none" cap="none" strike="noStrike">
                <a:solidFill>
                  <a:srgbClr val="203447"/>
                </a:solidFill>
                <a:latin typeface="Arial"/>
                <a:ea typeface="Arial"/>
                <a:cs typeface="Arial"/>
                <a:sym typeface="Arial"/>
              </a:rPr>
              <a:t>RMSE</a:t>
            </a:r>
            <a:endParaRPr b="0" i="0" sz="1330" u="none" cap="none" strike="noStrike">
              <a:solidFill>
                <a:schemeClr val="dk1"/>
              </a:solidFill>
              <a:latin typeface="Arial"/>
              <a:ea typeface="Arial"/>
              <a:cs typeface="Arial"/>
              <a:sym typeface="Arial"/>
            </a:endParaRPr>
          </a:p>
        </p:txBody>
      </p:sp>
      <p:sp>
        <p:nvSpPr>
          <p:cNvPr id="432" name="Google Shape;432;p17"/>
          <p:cNvSpPr txBox="1"/>
          <p:nvPr/>
        </p:nvSpPr>
        <p:spPr>
          <a:xfrm>
            <a:off x="9098280" y="2057400"/>
            <a:ext cx="1234440" cy="31089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397DA3"/>
              </a:buClr>
              <a:buSzPts val="1340"/>
              <a:buFont typeface="Arial"/>
              <a:buNone/>
            </a:pPr>
            <a:r>
              <a:rPr b="0" i="0" lang="en-US" sz="1340" u="none" cap="none" strike="noStrike">
                <a:solidFill>
                  <a:srgbClr val="397DA3"/>
                </a:solidFill>
                <a:latin typeface="Arial"/>
                <a:ea typeface="Arial"/>
                <a:cs typeface="Arial"/>
                <a:sym typeface="Arial"/>
              </a:rPr>
              <a:t>0.039629</a:t>
            </a:r>
            <a:endParaRPr b="0" i="0" sz="1340" u="none" cap="none" strike="noStrike">
              <a:solidFill>
                <a:schemeClr val="dk1"/>
              </a:solidFill>
              <a:latin typeface="Arial"/>
              <a:ea typeface="Arial"/>
              <a:cs typeface="Arial"/>
              <a:sym typeface="Arial"/>
            </a:endParaRPr>
          </a:p>
        </p:txBody>
      </p:sp>
      <p:sp>
        <p:nvSpPr>
          <p:cNvPr id="433" name="Google Shape;433;p17"/>
          <p:cNvSpPr txBox="1"/>
          <p:nvPr/>
        </p:nvSpPr>
        <p:spPr>
          <a:xfrm>
            <a:off x="10360152" y="2057400"/>
            <a:ext cx="1225296" cy="31089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4E928B"/>
              </a:buClr>
              <a:buSzPts val="1340"/>
              <a:buFont typeface="Arial"/>
              <a:buNone/>
            </a:pPr>
            <a:r>
              <a:rPr b="1" i="0" lang="en-US" sz="1340" u="none" cap="none" strike="noStrike">
                <a:solidFill>
                  <a:srgbClr val="4E928B"/>
                </a:solidFill>
                <a:latin typeface="Arial"/>
                <a:ea typeface="Arial"/>
                <a:cs typeface="Arial"/>
                <a:sym typeface="Arial"/>
              </a:rPr>
              <a:t>0.006133</a:t>
            </a:r>
            <a:endParaRPr b="0" i="0" sz="1340" u="none" cap="none" strike="noStrike">
              <a:solidFill>
                <a:schemeClr val="dk1"/>
              </a:solidFill>
              <a:latin typeface="Arial"/>
              <a:ea typeface="Arial"/>
              <a:cs typeface="Arial"/>
              <a:sym typeface="Arial"/>
            </a:endParaRPr>
          </a:p>
        </p:txBody>
      </p:sp>
      <p:cxnSp>
        <p:nvCxnSpPr>
          <p:cNvPr id="434" name="Google Shape;434;p17"/>
          <p:cNvCxnSpPr/>
          <p:nvPr/>
        </p:nvCxnSpPr>
        <p:spPr>
          <a:xfrm>
            <a:off x="7498080" y="2478024"/>
            <a:ext cx="4041648" cy="0"/>
          </a:xfrm>
          <a:prstGeom prst="straightConnector1">
            <a:avLst/>
          </a:prstGeom>
          <a:noFill/>
          <a:ln cap="flat" cmpd="sng" w="9525">
            <a:solidFill>
              <a:srgbClr val="DDE4E7"/>
            </a:solidFill>
            <a:prstDash val="solid"/>
            <a:round/>
            <a:headEnd len="sm" w="sm" type="none"/>
            <a:tailEnd len="sm" w="sm" type="none"/>
          </a:ln>
        </p:spPr>
      </p:cxnSp>
      <p:sp>
        <p:nvSpPr>
          <p:cNvPr id="435" name="Google Shape;435;p17"/>
          <p:cNvSpPr txBox="1"/>
          <p:nvPr/>
        </p:nvSpPr>
        <p:spPr>
          <a:xfrm>
            <a:off x="7498080" y="2715768"/>
            <a:ext cx="1554480"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1330"/>
              <a:buFont typeface="Arial"/>
              <a:buNone/>
            </a:pPr>
            <a:r>
              <a:rPr b="1" i="0" lang="en-US" sz="1330" u="none" cap="none" strike="noStrike">
                <a:solidFill>
                  <a:srgbClr val="203447"/>
                </a:solidFill>
                <a:latin typeface="Arial"/>
                <a:ea typeface="Arial"/>
                <a:cs typeface="Arial"/>
                <a:sym typeface="Arial"/>
              </a:rPr>
              <a:t>MAE</a:t>
            </a:r>
            <a:endParaRPr b="0" i="0" sz="1330" u="none" cap="none" strike="noStrike">
              <a:solidFill>
                <a:schemeClr val="dk1"/>
              </a:solidFill>
              <a:latin typeface="Arial"/>
              <a:ea typeface="Arial"/>
              <a:cs typeface="Arial"/>
              <a:sym typeface="Arial"/>
            </a:endParaRPr>
          </a:p>
        </p:txBody>
      </p:sp>
      <p:sp>
        <p:nvSpPr>
          <p:cNvPr id="436" name="Google Shape;436;p17"/>
          <p:cNvSpPr txBox="1"/>
          <p:nvPr/>
        </p:nvSpPr>
        <p:spPr>
          <a:xfrm>
            <a:off x="9098280" y="2715768"/>
            <a:ext cx="1234440" cy="31089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397DA3"/>
              </a:buClr>
              <a:buSzPts val="1340"/>
              <a:buFont typeface="Arial"/>
              <a:buNone/>
            </a:pPr>
            <a:r>
              <a:rPr b="0" i="0" lang="en-US" sz="1340" u="none" cap="none" strike="noStrike">
                <a:solidFill>
                  <a:srgbClr val="397DA3"/>
                </a:solidFill>
                <a:latin typeface="Arial"/>
                <a:ea typeface="Arial"/>
                <a:cs typeface="Arial"/>
                <a:sym typeface="Arial"/>
              </a:rPr>
              <a:t>0.021790</a:t>
            </a:r>
            <a:endParaRPr b="0" i="0" sz="1340" u="none" cap="none" strike="noStrike">
              <a:solidFill>
                <a:schemeClr val="dk1"/>
              </a:solidFill>
              <a:latin typeface="Arial"/>
              <a:ea typeface="Arial"/>
              <a:cs typeface="Arial"/>
              <a:sym typeface="Arial"/>
            </a:endParaRPr>
          </a:p>
        </p:txBody>
      </p:sp>
      <p:sp>
        <p:nvSpPr>
          <p:cNvPr id="437" name="Google Shape;437;p17"/>
          <p:cNvSpPr txBox="1"/>
          <p:nvPr/>
        </p:nvSpPr>
        <p:spPr>
          <a:xfrm>
            <a:off x="10360152" y="2715768"/>
            <a:ext cx="1225296" cy="31089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4E928B"/>
              </a:buClr>
              <a:buSzPts val="1340"/>
              <a:buFont typeface="Arial"/>
              <a:buNone/>
            </a:pPr>
            <a:r>
              <a:rPr b="1" i="0" lang="en-US" sz="1340" u="none" cap="none" strike="noStrike">
                <a:solidFill>
                  <a:srgbClr val="4E928B"/>
                </a:solidFill>
                <a:latin typeface="Arial"/>
                <a:ea typeface="Arial"/>
                <a:cs typeface="Arial"/>
                <a:sym typeface="Arial"/>
              </a:rPr>
              <a:t>0.005369</a:t>
            </a:r>
            <a:endParaRPr b="0" i="0" sz="1340" u="none" cap="none" strike="noStrike">
              <a:solidFill>
                <a:schemeClr val="dk1"/>
              </a:solidFill>
              <a:latin typeface="Arial"/>
              <a:ea typeface="Arial"/>
              <a:cs typeface="Arial"/>
              <a:sym typeface="Arial"/>
            </a:endParaRPr>
          </a:p>
        </p:txBody>
      </p:sp>
      <p:cxnSp>
        <p:nvCxnSpPr>
          <p:cNvPr id="438" name="Google Shape;438;p17"/>
          <p:cNvCxnSpPr/>
          <p:nvPr/>
        </p:nvCxnSpPr>
        <p:spPr>
          <a:xfrm>
            <a:off x="7498080" y="3136392"/>
            <a:ext cx="4041648" cy="0"/>
          </a:xfrm>
          <a:prstGeom prst="straightConnector1">
            <a:avLst/>
          </a:prstGeom>
          <a:noFill/>
          <a:ln cap="flat" cmpd="sng" w="9525">
            <a:solidFill>
              <a:srgbClr val="DDE4E7"/>
            </a:solidFill>
            <a:prstDash val="solid"/>
            <a:round/>
            <a:headEnd len="sm" w="sm" type="none"/>
            <a:tailEnd len="sm" w="sm" type="none"/>
          </a:ln>
        </p:spPr>
      </p:cxnSp>
      <p:sp>
        <p:nvSpPr>
          <p:cNvPr id="439" name="Google Shape;439;p17"/>
          <p:cNvSpPr txBox="1"/>
          <p:nvPr/>
        </p:nvSpPr>
        <p:spPr>
          <a:xfrm>
            <a:off x="7498080" y="3374136"/>
            <a:ext cx="1554480"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1330"/>
              <a:buFont typeface="Arial"/>
              <a:buNone/>
            </a:pPr>
            <a:r>
              <a:rPr b="1" i="0" lang="en-US" sz="1330" u="none" cap="none" strike="noStrike">
                <a:solidFill>
                  <a:srgbClr val="203447"/>
                </a:solidFill>
                <a:latin typeface="Arial"/>
                <a:ea typeface="Arial"/>
                <a:cs typeface="Arial"/>
                <a:sym typeface="Arial"/>
              </a:rPr>
              <a:t>Correlation</a:t>
            </a:r>
            <a:endParaRPr b="0" i="0" sz="1330" u="none" cap="none" strike="noStrike">
              <a:solidFill>
                <a:schemeClr val="dk1"/>
              </a:solidFill>
              <a:latin typeface="Arial"/>
              <a:ea typeface="Arial"/>
              <a:cs typeface="Arial"/>
              <a:sym typeface="Arial"/>
            </a:endParaRPr>
          </a:p>
        </p:txBody>
      </p:sp>
      <p:sp>
        <p:nvSpPr>
          <p:cNvPr id="440" name="Google Shape;440;p17"/>
          <p:cNvSpPr txBox="1"/>
          <p:nvPr/>
        </p:nvSpPr>
        <p:spPr>
          <a:xfrm>
            <a:off x="9098280" y="3374136"/>
            <a:ext cx="1234440" cy="31089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397DA3"/>
              </a:buClr>
              <a:buSzPts val="1340"/>
              <a:buFont typeface="Arial"/>
              <a:buNone/>
            </a:pPr>
            <a:r>
              <a:rPr b="0" i="0" lang="en-US" sz="1340" u="none" cap="none" strike="noStrike">
                <a:solidFill>
                  <a:srgbClr val="397DA3"/>
                </a:solidFill>
                <a:latin typeface="Arial"/>
                <a:ea typeface="Arial"/>
                <a:cs typeface="Arial"/>
                <a:sym typeface="Arial"/>
              </a:rPr>
              <a:t>0.928549</a:t>
            </a:r>
            <a:endParaRPr b="0" i="0" sz="1340" u="none" cap="none" strike="noStrike">
              <a:solidFill>
                <a:schemeClr val="dk1"/>
              </a:solidFill>
              <a:latin typeface="Arial"/>
              <a:ea typeface="Arial"/>
              <a:cs typeface="Arial"/>
              <a:sym typeface="Arial"/>
            </a:endParaRPr>
          </a:p>
        </p:txBody>
      </p:sp>
      <p:sp>
        <p:nvSpPr>
          <p:cNvPr id="441" name="Google Shape;441;p17"/>
          <p:cNvSpPr txBox="1"/>
          <p:nvPr/>
        </p:nvSpPr>
        <p:spPr>
          <a:xfrm>
            <a:off x="10360152" y="3374136"/>
            <a:ext cx="1225296" cy="31089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4E928B"/>
              </a:buClr>
              <a:buSzPts val="1340"/>
              <a:buFont typeface="Arial"/>
              <a:buNone/>
            </a:pPr>
            <a:r>
              <a:rPr b="1" i="0" lang="en-US" sz="1340" u="none" cap="none" strike="noStrike">
                <a:solidFill>
                  <a:srgbClr val="4E928B"/>
                </a:solidFill>
                <a:latin typeface="Arial"/>
                <a:ea typeface="Arial"/>
                <a:cs typeface="Arial"/>
                <a:sym typeface="Arial"/>
              </a:rPr>
              <a:t>0.998432</a:t>
            </a:r>
            <a:endParaRPr b="0" i="0" sz="1340" u="none" cap="none" strike="noStrike">
              <a:solidFill>
                <a:schemeClr val="dk1"/>
              </a:solidFill>
              <a:latin typeface="Arial"/>
              <a:ea typeface="Arial"/>
              <a:cs typeface="Arial"/>
              <a:sym typeface="Arial"/>
            </a:endParaRPr>
          </a:p>
        </p:txBody>
      </p:sp>
      <p:cxnSp>
        <p:nvCxnSpPr>
          <p:cNvPr id="442" name="Google Shape;442;p17"/>
          <p:cNvCxnSpPr/>
          <p:nvPr/>
        </p:nvCxnSpPr>
        <p:spPr>
          <a:xfrm>
            <a:off x="7498080" y="3794760"/>
            <a:ext cx="4041648" cy="0"/>
          </a:xfrm>
          <a:prstGeom prst="straightConnector1">
            <a:avLst/>
          </a:prstGeom>
          <a:noFill/>
          <a:ln cap="flat" cmpd="sng" w="9525">
            <a:solidFill>
              <a:srgbClr val="DDE4E7"/>
            </a:solidFill>
            <a:prstDash val="solid"/>
            <a:round/>
            <a:headEnd len="sm" w="sm" type="none"/>
            <a:tailEnd len="sm" w="sm" type="none"/>
          </a:ln>
        </p:spPr>
      </p:cxnSp>
      <p:sp>
        <p:nvSpPr>
          <p:cNvPr id="443" name="Google Shape;443;p17"/>
          <p:cNvSpPr/>
          <p:nvPr/>
        </p:nvSpPr>
        <p:spPr>
          <a:xfrm>
            <a:off x="7498080" y="4297680"/>
            <a:ext cx="4069080" cy="1078992"/>
          </a:xfrm>
          <a:prstGeom prst="roundRect">
            <a:avLst>
              <a:gd fmla="val 8475" name="adj"/>
            </a:avLst>
          </a:prstGeom>
          <a:solidFill>
            <a:srgbClr val="E8F2EF"/>
          </a:solidFill>
          <a:ln cap="flat" cmpd="sng" w="12700">
            <a:solidFill>
              <a:srgbClr val="4E92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7"/>
          <p:cNvSpPr txBox="1"/>
          <p:nvPr/>
        </p:nvSpPr>
        <p:spPr>
          <a:xfrm>
            <a:off x="7644384" y="4398264"/>
            <a:ext cx="3776472"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4E928B"/>
              </a:buClr>
              <a:buSzPts val="1500"/>
              <a:buFont typeface="Arial"/>
              <a:buNone/>
            </a:pPr>
            <a:r>
              <a:rPr b="1" i="0" lang="en-US" sz="1500" u="none" cap="none" strike="noStrike">
                <a:solidFill>
                  <a:srgbClr val="4E928B"/>
                </a:solidFill>
                <a:latin typeface="Arial"/>
                <a:ea typeface="Arial"/>
                <a:cs typeface="Arial"/>
                <a:sym typeface="Arial"/>
              </a:rPr>
              <a:t>What the numbers say</a:t>
            </a:r>
            <a:endParaRPr b="0" i="0" sz="1500" u="none" cap="none" strike="noStrike">
              <a:solidFill>
                <a:schemeClr val="dk1"/>
              </a:solidFill>
              <a:latin typeface="Arial"/>
              <a:ea typeface="Arial"/>
              <a:cs typeface="Arial"/>
              <a:sym typeface="Arial"/>
            </a:endParaRPr>
          </a:p>
        </p:txBody>
      </p:sp>
      <p:sp>
        <p:nvSpPr>
          <p:cNvPr id="445" name="Google Shape;445;p17"/>
          <p:cNvSpPr txBox="1"/>
          <p:nvPr/>
        </p:nvSpPr>
        <p:spPr>
          <a:xfrm>
            <a:off x="7644384" y="4736592"/>
            <a:ext cx="3776472" cy="54864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203447"/>
              </a:buClr>
              <a:buSzPts val="1220"/>
              <a:buFont typeface="Arial"/>
              <a:buNone/>
            </a:pPr>
            <a:r>
              <a:rPr b="0" i="0" lang="en-US" sz="1220" u="none" cap="none" strike="noStrike">
                <a:solidFill>
                  <a:srgbClr val="203447"/>
                </a:solidFill>
                <a:latin typeface="Arial"/>
                <a:ea typeface="Arial"/>
                <a:cs typeface="Arial"/>
                <a:sym typeface="Arial"/>
              </a:rPr>
              <a:t>Lower RMSE/MAE and higher correlation indicate closer waveform agreement for this selected segment.</a:t>
            </a:r>
            <a:endParaRPr b="0" i="0" sz="1220" u="none" cap="none" strike="noStrike">
              <a:solidFill>
                <a:schemeClr val="dk1"/>
              </a:solidFill>
              <a:latin typeface="Arial"/>
              <a:ea typeface="Arial"/>
              <a:cs typeface="Arial"/>
              <a:sym typeface="Arial"/>
            </a:endParaRPr>
          </a:p>
        </p:txBody>
      </p:sp>
      <p:sp>
        <p:nvSpPr>
          <p:cNvPr id="446" name="Google Shape;446;p17"/>
          <p:cNvSpPr txBox="1"/>
          <p:nvPr/>
        </p:nvSpPr>
        <p:spPr>
          <a:xfrm>
            <a:off x="7534656" y="5532120"/>
            <a:ext cx="3931920" cy="36576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61717D"/>
              </a:buClr>
              <a:buSzPts val="1120"/>
              <a:buFont typeface="Arial"/>
              <a:buNone/>
            </a:pPr>
            <a:r>
              <a:rPr b="0" i="1" lang="en-US" sz="1120" u="none" cap="none" strike="noStrike">
                <a:solidFill>
                  <a:srgbClr val="61717D"/>
                </a:solidFill>
                <a:latin typeface="Arial"/>
                <a:ea typeface="Arial"/>
                <a:cs typeface="Arial"/>
                <a:sym typeface="Arial"/>
              </a:rPr>
              <a:t>This is one segment, not proof that BayesShrink always wins.</a:t>
            </a:r>
            <a:endParaRPr b="0" i="0" sz="1120" u="none" cap="none" strike="noStrike">
              <a:solidFill>
                <a:schemeClr val="dk1"/>
              </a:solidFill>
              <a:latin typeface="Arial"/>
              <a:ea typeface="Arial"/>
              <a:cs typeface="Arial"/>
              <a:sym typeface="Arial"/>
            </a:endParaRPr>
          </a:p>
        </p:txBody>
      </p:sp>
      <p:sp>
        <p:nvSpPr>
          <p:cNvPr id="447" name="Google Shape;447;p17"/>
          <p:cNvSpPr txBox="1"/>
          <p:nvPr>
            <p:ph idx="4294967295" type="sldNum"/>
          </p:nvPr>
        </p:nvSpPr>
        <p:spPr>
          <a:xfrm>
            <a:off x="11338560" y="653796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800" u="none" cap="none" strike="noStrike">
                <a:solidFill>
                  <a:srgbClr val="7A858D"/>
                </a:solidFill>
                <a:latin typeface="Arial"/>
                <a:ea typeface="Arial"/>
                <a:cs typeface="Arial"/>
                <a:sym typeface="Arial"/>
              </a:rPr>
              <a:t>‹#›</a:t>
            </a:fld>
            <a:endParaRPr b="0" i="0" sz="800" u="none" cap="none" strike="noStrike">
              <a:solidFill>
                <a:srgbClr val="7A858D"/>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452" name="Shape 452"/>
        <p:cNvGrpSpPr/>
        <p:nvPr/>
      </p:nvGrpSpPr>
      <p:grpSpPr>
        <a:xfrm>
          <a:off x="0" y="0"/>
          <a:ext cx="0" cy="0"/>
          <a:chOff x="0" y="0"/>
          <a:chExt cx="0" cy="0"/>
        </a:xfrm>
      </p:grpSpPr>
      <p:sp>
        <p:nvSpPr>
          <p:cNvPr id="453" name="Google Shape;453;p18"/>
          <p:cNvSpPr/>
          <p:nvPr/>
        </p:nvSpPr>
        <p:spPr>
          <a:xfrm>
            <a:off x="9646920" y="274320"/>
            <a:ext cx="2084832" cy="310896"/>
          </a:xfrm>
          <a:prstGeom prst="roundRect">
            <a:avLst>
              <a:gd fmla="val 29412" name="adj"/>
            </a:avLst>
          </a:prstGeom>
          <a:solidFill>
            <a:srgbClr val="EAF2F5"/>
          </a:solidFill>
          <a:ln cap="flat" cmpd="sng" w="9525">
            <a:solidFill>
              <a:srgbClr val="EAF2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8"/>
          <p:cNvSpPr txBox="1"/>
          <p:nvPr/>
        </p:nvSpPr>
        <p:spPr>
          <a:xfrm>
            <a:off x="9710928" y="310896"/>
            <a:ext cx="1956816" cy="21945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397DA3"/>
              </a:buClr>
              <a:buSzPts val="850"/>
              <a:buFont typeface="Arial"/>
              <a:buNone/>
            </a:pPr>
            <a:r>
              <a:rPr b="1" i="0" lang="en-US" sz="850" u="none" cap="none" strike="noStrike">
                <a:solidFill>
                  <a:srgbClr val="397DA3"/>
                </a:solidFill>
                <a:latin typeface="Arial"/>
                <a:ea typeface="Arial"/>
                <a:cs typeface="Arial"/>
                <a:sym typeface="Arial"/>
              </a:rPr>
              <a:t>SINGLE RECORD</a:t>
            </a:r>
            <a:endParaRPr b="0" i="0" sz="850" u="none" cap="none" strike="noStrike">
              <a:solidFill>
                <a:schemeClr val="dk1"/>
              </a:solidFill>
              <a:latin typeface="Arial"/>
              <a:ea typeface="Arial"/>
              <a:cs typeface="Arial"/>
              <a:sym typeface="Arial"/>
            </a:endParaRPr>
          </a:p>
        </p:txBody>
      </p:sp>
      <p:sp>
        <p:nvSpPr>
          <p:cNvPr id="455" name="Google Shape;455;p18"/>
          <p:cNvSpPr txBox="1"/>
          <p:nvPr/>
        </p:nvSpPr>
        <p:spPr>
          <a:xfrm>
            <a:off x="438912" y="292608"/>
            <a:ext cx="896112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2700"/>
              <a:buFont typeface="Play"/>
              <a:buNone/>
            </a:pPr>
            <a:r>
              <a:rPr b="1" i="0" lang="en-US" sz="2700" u="none" cap="none" strike="noStrike">
                <a:solidFill>
                  <a:srgbClr val="203447"/>
                </a:solidFill>
                <a:latin typeface="Play"/>
                <a:ea typeface="Play"/>
                <a:cs typeface="Play"/>
                <a:sym typeface="Play"/>
              </a:rPr>
              <a:t>Did denoising move the important peaks?</a:t>
            </a:r>
            <a:endParaRPr b="0" i="0" sz="2700" u="none" cap="none" strike="noStrike">
              <a:solidFill>
                <a:schemeClr val="dk1"/>
              </a:solidFill>
              <a:latin typeface="Arial"/>
              <a:ea typeface="Arial"/>
              <a:cs typeface="Arial"/>
              <a:sym typeface="Arial"/>
            </a:endParaRPr>
          </a:p>
        </p:txBody>
      </p:sp>
      <p:sp>
        <p:nvSpPr>
          <p:cNvPr id="456" name="Google Shape;456;p18"/>
          <p:cNvSpPr txBox="1"/>
          <p:nvPr/>
        </p:nvSpPr>
        <p:spPr>
          <a:xfrm>
            <a:off x="457200" y="804672"/>
            <a:ext cx="11064240" cy="32918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1717D"/>
              </a:buClr>
              <a:buSzPts val="1250"/>
              <a:buFont typeface="Arial"/>
              <a:buNone/>
            </a:pPr>
            <a:r>
              <a:rPr b="0" i="0" lang="en-US" sz="1250" u="none" cap="none" strike="noStrike">
                <a:solidFill>
                  <a:srgbClr val="61717D"/>
                </a:solidFill>
                <a:latin typeface="Arial"/>
                <a:ea typeface="Arial"/>
                <a:cs typeface="Arial"/>
                <a:sym typeface="Arial"/>
              </a:rPr>
              <a:t>We checked detected peak positions, not just the visual smoothness</a:t>
            </a:r>
            <a:endParaRPr b="0" i="0" sz="1250" u="none" cap="none" strike="noStrike">
              <a:solidFill>
                <a:schemeClr val="dk1"/>
              </a:solidFill>
              <a:latin typeface="Arial"/>
              <a:ea typeface="Arial"/>
              <a:cs typeface="Arial"/>
              <a:sym typeface="Arial"/>
            </a:endParaRPr>
          </a:p>
        </p:txBody>
      </p:sp>
      <p:cxnSp>
        <p:nvCxnSpPr>
          <p:cNvPr id="457" name="Google Shape;457;p18"/>
          <p:cNvCxnSpPr/>
          <p:nvPr/>
        </p:nvCxnSpPr>
        <p:spPr>
          <a:xfrm>
            <a:off x="438912" y="1197864"/>
            <a:ext cx="11292840" cy="0"/>
          </a:xfrm>
          <a:prstGeom prst="straightConnector1">
            <a:avLst/>
          </a:prstGeom>
          <a:noFill/>
          <a:ln cap="flat" cmpd="sng" w="22850">
            <a:solidFill>
              <a:srgbClr val="4E928B"/>
            </a:solidFill>
            <a:prstDash val="solid"/>
            <a:round/>
            <a:headEnd len="sm" w="sm" type="none"/>
            <a:tailEnd len="sm" w="sm" type="none"/>
          </a:ln>
        </p:spPr>
      </p:cxnSp>
      <p:sp>
        <p:nvSpPr>
          <p:cNvPr id="458" name="Google Shape;458;p18"/>
          <p:cNvSpPr/>
          <p:nvPr/>
        </p:nvSpPr>
        <p:spPr>
          <a:xfrm>
            <a:off x="685800" y="1508760"/>
            <a:ext cx="2971800" cy="1143000"/>
          </a:xfrm>
          <a:prstGeom prst="roundRect">
            <a:avLst>
              <a:gd fmla="val 8000" name="adj"/>
            </a:avLst>
          </a:prstGeom>
          <a:solidFill>
            <a:srgbClr val="EAF2F5"/>
          </a:solidFill>
          <a:ln cap="flat" cmpd="sng" w="12700">
            <a:solidFill>
              <a:srgbClr val="397DA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8"/>
          <p:cNvSpPr txBox="1"/>
          <p:nvPr/>
        </p:nvSpPr>
        <p:spPr>
          <a:xfrm>
            <a:off x="832104" y="1609344"/>
            <a:ext cx="2679192"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97DA3"/>
              </a:buClr>
              <a:buSzPts val="1500"/>
              <a:buFont typeface="Arial"/>
              <a:buNone/>
            </a:pPr>
            <a:r>
              <a:rPr b="1" i="0" lang="en-US" sz="1500" u="none" cap="none" strike="noStrike">
                <a:solidFill>
                  <a:srgbClr val="397DA3"/>
                </a:solidFill>
                <a:latin typeface="Arial"/>
                <a:ea typeface="Arial"/>
                <a:cs typeface="Arial"/>
                <a:sym typeface="Arial"/>
              </a:rPr>
              <a:t>Original ECG</a:t>
            </a:r>
            <a:endParaRPr b="0" i="0" sz="1500" u="none" cap="none" strike="noStrike">
              <a:solidFill>
                <a:schemeClr val="dk1"/>
              </a:solidFill>
              <a:latin typeface="Arial"/>
              <a:ea typeface="Arial"/>
              <a:cs typeface="Arial"/>
              <a:sym typeface="Arial"/>
            </a:endParaRPr>
          </a:p>
        </p:txBody>
      </p:sp>
      <p:sp>
        <p:nvSpPr>
          <p:cNvPr id="460" name="Google Shape;460;p18"/>
          <p:cNvSpPr txBox="1"/>
          <p:nvPr/>
        </p:nvSpPr>
        <p:spPr>
          <a:xfrm>
            <a:off x="832104" y="1947672"/>
            <a:ext cx="2679192" cy="612648"/>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203447"/>
              </a:buClr>
              <a:buSzPts val="1220"/>
              <a:buFont typeface="Arial"/>
              <a:buNone/>
            </a:pPr>
            <a:r>
              <a:rPr b="0" i="0" lang="en-US" sz="1220" u="none" cap="none" strike="noStrike">
                <a:solidFill>
                  <a:srgbClr val="203447"/>
                </a:solidFill>
                <a:latin typeface="Arial"/>
                <a:ea typeface="Arial"/>
                <a:cs typeface="Arial"/>
                <a:sym typeface="Arial"/>
              </a:rPr>
              <a:t>12 peaks detected</a:t>
            </a:r>
            <a:endParaRPr b="0" i="0" sz="1220" u="none" cap="none" strike="noStrike">
              <a:solidFill>
                <a:schemeClr val="dk1"/>
              </a:solidFill>
              <a:latin typeface="Arial"/>
              <a:ea typeface="Arial"/>
              <a:cs typeface="Arial"/>
              <a:sym typeface="Arial"/>
            </a:endParaRPr>
          </a:p>
        </p:txBody>
      </p:sp>
      <p:sp>
        <p:nvSpPr>
          <p:cNvPr id="461" name="Google Shape;461;p18"/>
          <p:cNvSpPr/>
          <p:nvPr/>
        </p:nvSpPr>
        <p:spPr>
          <a:xfrm>
            <a:off x="4005072" y="1508760"/>
            <a:ext cx="2971800" cy="1143000"/>
          </a:xfrm>
          <a:prstGeom prst="roundRect">
            <a:avLst>
              <a:gd fmla="val 8000" name="adj"/>
            </a:avLst>
          </a:prstGeom>
          <a:solidFill>
            <a:srgbClr val="E8F2EF"/>
          </a:solidFill>
          <a:ln cap="flat" cmpd="sng" w="12700">
            <a:solidFill>
              <a:srgbClr val="4E92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8"/>
          <p:cNvSpPr txBox="1"/>
          <p:nvPr/>
        </p:nvSpPr>
        <p:spPr>
          <a:xfrm>
            <a:off x="4151376" y="1609344"/>
            <a:ext cx="2679192"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4E928B"/>
              </a:buClr>
              <a:buSzPts val="1500"/>
              <a:buFont typeface="Arial"/>
              <a:buNone/>
            </a:pPr>
            <a:r>
              <a:rPr b="1" i="0" lang="en-US" sz="1500" u="none" cap="none" strike="noStrike">
                <a:solidFill>
                  <a:srgbClr val="4E928B"/>
                </a:solidFill>
                <a:latin typeface="Arial"/>
                <a:ea typeface="Arial"/>
                <a:cs typeface="Arial"/>
                <a:sym typeface="Arial"/>
              </a:rPr>
              <a:t>After BayesShrink</a:t>
            </a:r>
            <a:endParaRPr b="0" i="0" sz="1500" u="none" cap="none" strike="noStrike">
              <a:solidFill>
                <a:schemeClr val="dk1"/>
              </a:solidFill>
              <a:latin typeface="Arial"/>
              <a:ea typeface="Arial"/>
              <a:cs typeface="Arial"/>
              <a:sym typeface="Arial"/>
            </a:endParaRPr>
          </a:p>
        </p:txBody>
      </p:sp>
      <p:sp>
        <p:nvSpPr>
          <p:cNvPr id="463" name="Google Shape;463;p18"/>
          <p:cNvSpPr txBox="1"/>
          <p:nvPr/>
        </p:nvSpPr>
        <p:spPr>
          <a:xfrm>
            <a:off x="4151376" y="1947672"/>
            <a:ext cx="2679192" cy="612648"/>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203447"/>
              </a:buClr>
              <a:buSzPts val="1220"/>
              <a:buFont typeface="Arial"/>
              <a:buNone/>
            </a:pPr>
            <a:r>
              <a:rPr b="0" i="0" lang="en-US" sz="1220" u="none" cap="none" strike="noStrike">
                <a:solidFill>
                  <a:srgbClr val="203447"/>
                </a:solidFill>
                <a:latin typeface="Arial"/>
                <a:ea typeface="Arial"/>
                <a:cs typeface="Arial"/>
                <a:sym typeface="Arial"/>
              </a:rPr>
              <a:t>12 peaks detected</a:t>
            </a:r>
            <a:endParaRPr b="0" i="0" sz="1220" u="none" cap="none" strike="noStrike">
              <a:solidFill>
                <a:schemeClr val="dk1"/>
              </a:solidFill>
              <a:latin typeface="Arial"/>
              <a:ea typeface="Arial"/>
              <a:cs typeface="Arial"/>
              <a:sym typeface="Arial"/>
            </a:endParaRPr>
          </a:p>
        </p:txBody>
      </p:sp>
      <p:sp>
        <p:nvSpPr>
          <p:cNvPr id="464" name="Google Shape;464;p18"/>
          <p:cNvSpPr/>
          <p:nvPr/>
        </p:nvSpPr>
        <p:spPr>
          <a:xfrm>
            <a:off x="7315200" y="1508760"/>
            <a:ext cx="3886200" cy="1143000"/>
          </a:xfrm>
          <a:prstGeom prst="roundRect">
            <a:avLst>
              <a:gd fmla="val 8000" name="adj"/>
            </a:avLst>
          </a:prstGeom>
          <a:solidFill>
            <a:srgbClr val="F8EEE3"/>
          </a:solidFill>
          <a:ln cap="flat" cmpd="sng" w="12700">
            <a:solidFill>
              <a:srgbClr val="D58A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8"/>
          <p:cNvSpPr txBox="1"/>
          <p:nvPr/>
        </p:nvSpPr>
        <p:spPr>
          <a:xfrm>
            <a:off x="7461504" y="1609344"/>
            <a:ext cx="3593592"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D58A4B"/>
              </a:buClr>
              <a:buSzPts val="1500"/>
              <a:buFont typeface="Arial"/>
              <a:buNone/>
            </a:pPr>
            <a:r>
              <a:rPr b="1" i="0" lang="en-US" sz="1500" u="none" cap="none" strike="noStrike">
                <a:solidFill>
                  <a:srgbClr val="D58A4B"/>
                </a:solidFill>
                <a:latin typeface="Arial"/>
                <a:ea typeface="Arial"/>
                <a:cs typeface="Arial"/>
                <a:sym typeface="Arial"/>
              </a:rPr>
              <a:t>Position differences</a:t>
            </a:r>
            <a:endParaRPr b="0" i="0" sz="1500" u="none" cap="none" strike="noStrike">
              <a:solidFill>
                <a:schemeClr val="dk1"/>
              </a:solidFill>
              <a:latin typeface="Arial"/>
              <a:ea typeface="Arial"/>
              <a:cs typeface="Arial"/>
              <a:sym typeface="Arial"/>
            </a:endParaRPr>
          </a:p>
        </p:txBody>
      </p:sp>
      <p:sp>
        <p:nvSpPr>
          <p:cNvPr id="466" name="Google Shape;466;p18"/>
          <p:cNvSpPr txBox="1"/>
          <p:nvPr/>
        </p:nvSpPr>
        <p:spPr>
          <a:xfrm>
            <a:off x="7461504" y="1947672"/>
            <a:ext cx="3593592" cy="612648"/>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203447"/>
              </a:buClr>
              <a:buSzPts val="1220"/>
              <a:buFont typeface="Arial"/>
              <a:buNone/>
            </a:pPr>
            <a:r>
              <a:rPr b="0" i="0" lang="en-US" sz="1220" u="none" cap="none" strike="noStrike">
                <a:solidFill>
                  <a:srgbClr val="203447"/>
                </a:solidFill>
                <a:latin typeface="Arial"/>
                <a:ea typeface="Arial"/>
                <a:cs typeface="Arial"/>
                <a:sym typeface="Arial"/>
              </a:rPr>
              <a:t>[0, 0, 0, 0, 0, 0, 0, 0, 0, 0, 0, 0]</a:t>
            </a:r>
            <a:endParaRPr b="0" i="0" sz="1220" u="none" cap="none" strike="noStrike">
              <a:solidFill>
                <a:schemeClr val="dk1"/>
              </a:solidFill>
              <a:latin typeface="Arial"/>
              <a:ea typeface="Arial"/>
              <a:cs typeface="Arial"/>
              <a:sym typeface="Arial"/>
            </a:endParaRPr>
          </a:p>
        </p:txBody>
      </p:sp>
      <p:sp>
        <p:nvSpPr>
          <p:cNvPr id="467" name="Google Shape;467;p18"/>
          <p:cNvSpPr txBox="1"/>
          <p:nvPr/>
        </p:nvSpPr>
        <p:spPr>
          <a:xfrm>
            <a:off x="768096" y="3072384"/>
            <a:ext cx="5029200"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97DA3"/>
              </a:buClr>
              <a:buSzPts val="1500"/>
              <a:buFont typeface="Arial"/>
              <a:buNone/>
            </a:pPr>
            <a:r>
              <a:rPr b="1" i="0" lang="en-US" sz="1500" u="none" cap="none" strike="noStrike">
                <a:solidFill>
                  <a:srgbClr val="397DA3"/>
                </a:solidFill>
                <a:latin typeface="Arial"/>
                <a:ea typeface="Arial"/>
                <a:cs typeface="Arial"/>
                <a:sym typeface="Arial"/>
              </a:rPr>
              <a:t>Original peak positions</a:t>
            </a:r>
            <a:endParaRPr b="0" i="0" sz="1500" u="none" cap="none" strike="noStrike">
              <a:solidFill>
                <a:schemeClr val="dk1"/>
              </a:solidFill>
              <a:latin typeface="Arial"/>
              <a:ea typeface="Arial"/>
              <a:cs typeface="Arial"/>
              <a:sym typeface="Arial"/>
            </a:endParaRPr>
          </a:p>
        </p:txBody>
      </p:sp>
      <p:sp>
        <p:nvSpPr>
          <p:cNvPr id="468" name="Google Shape;468;p18"/>
          <p:cNvSpPr txBox="1"/>
          <p:nvPr/>
        </p:nvSpPr>
        <p:spPr>
          <a:xfrm>
            <a:off x="777240" y="3456432"/>
            <a:ext cx="1051560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1600"/>
              <a:buFont typeface="Arial"/>
              <a:buNone/>
            </a:pPr>
            <a:r>
              <a:rPr b="0" i="0" lang="en-US" sz="1600" u="none" cap="none" strike="noStrike">
                <a:solidFill>
                  <a:srgbClr val="203447"/>
                </a:solidFill>
                <a:latin typeface="Arial"/>
                <a:ea typeface="Arial"/>
                <a:cs typeface="Arial"/>
                <a:sym typeface="Arial"/>
              </a:rPr>
              <a:t>[34, 81, 117, 149, 201, 248, 285, 316, 368, 400, 452, 483]</a:t>
            </a:r>
            <a:endParaRPr b="0" i="0" sz="1600" u="none" cap="none" strike="noStrike">
              <a:solidFill>
                <a:schemeClr val="dk1"/>
              </a:solidFill>
              <a:latin typeface="Arial"/>
              <a:ea typeface="Arial"/>
              <a:cs typeface="Arial"/>
              <a:sym typeface="Arial"/>
            </a:endParaRPr>
          </a:p>
        </p:txBody>
      </p:sp>
      <p:sp>
        <p:nvSpPr>
          <p:cNvPr id="469" name="Google Shape;469;p18"/>
          <p:cNvSpPr txBox="1"/>
          <p:nvPr/>
        </p:nvSpPr>
        <p:spPr>
          <a:xfrm>
            <a:off x="768096" y="4142232"/>
            <a:ext cx="5029200"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4E928B"/>
              </a:buClr>
              <a:buSzPts val="1500"/>
              <a:buFont typeface="Arial"/>
              <a:buNone/>
            </a:pPr>
            <a:r>
              <a:rPr b="1" i="0" lang="en-US" sz="1500" u="none" cap="none" strike="noStrike">
                <a:solidFill>
                  <a:srgbClr val="4E928B"/>
                </a:solidFill>
                <a:latin typeface="Arial"/>
                <a:ea typeface="Arial"/>
                <a:cs typeface="Arial"/>
                <a:sym typeface="Arial"/>
              </a:rPr>
              <a:t>BayesShrink peak positions</a:t>
            </a:r>
            <a:endParaRPr b="0" i="0" sz="1500" u="none" cap="none" strike="noStrike">
              <a:solidFill>
                <a:schemeClr val="dk1"/>
              </a:solidFill>
              <a:latin typeface="Arial"/>
              <a:ea typeface="Arial"/>
              <a:cs typeface="Arial"/>
              <a:sym typeface="Arial"/>
            </a:endParaRPr>
          </a:p>
        </p:txBody>
      </p:sp>
      <p:sp>
        <p:nvSpPr>
          <p:cNvPr id="470" name="Google Shape;470;p18"/>
          <p:cNvSpPr txBox="1"/>
          <p:nvPr/>
        </p:nvSpPr>
        <p:spPr>
          <a:xfrm>
            <a:off x="777240" y="4526280"/>
            <a:ext cx="1051560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1600"/>
              <a:buFont typeface="Arial"/>
              <a:buNone/>
            </a:pPr>
            <a:r>
              <a:rPr b="0" i="0" lang="en-US" sz="1600" u="none" cap="none" strike="noStrike">
                <a:solidFill>
                  <a:srgbClr val="203447"/>
                </a:solidFill>
                <a:latin typeface="Arial"/>
                <a:ea typeface="Arial"/>
                <a:cs typeface="Arial"/>
                <a:sym typeface="Arial"/>
              </a:rPr>
              <a:t>[34, 81, 117, 149, 201, 248, 285, 316, 368, 400, 452, 483]</a:t>
            </a:r>
            <a:endParaRPr b="0" i="0" sz="1600" u="none" cap="none" strike="noStrike">
              <a:solidFill>
                <a:schemeClr val="dk1"/>
              </a:solidFill>
              <a:latin typeface="Arial"/>
              <a:ea typeface="Arial"/>
              <a:cs typeface="Arial"/>
              <a:sym typeface="Arial"/>
            </a:endParaRPr>
          </a:p>
        </p:txBody>
      </p:sp>
      <p:sp>
        <p:nvSpPr>
          <p:cNvPr id="471" name="Google Shape;471;p18"/>
          <p:cNvSpPr txBox="1"/>
          <p:nvPr/>
        </p:nvSpPr>
        <p:spPr>
          <a:xfrm>
            <a:off x="786384" y="5440680"/>
            <a:ext cx="10698480" cy="50292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D6C68"/>
              </a:buClr>
              <a:buSzPts val="1600"/>
              <a:buFont typeface="Arial"/>
              <a:buNone/>
            </a:pPr>
            <a:r>
              <a:rPr b="1" i="0" lang="en-US" sz="1600" u="none" cap="none" strike="noStrike">
                <a:solidFill>
                  <a:srgbClr val="2D6C68"/>
                </a:solidFill>
                <a:latin typeface="Arial"/>
                <a:ea typeface="Arial"/>
                <a:cs typeface="Arial"/>
                <a:sym typeface="Arial"/>
              </a:rPr>
              <a:t>Morphological correlation: 0.998432   •   peak positions matched in this segment</a:t>
            </a:r>
            <a:endParaRPr b="0" i="0" sz="1600" u="none" cap="none" strike="noStrike">
              <a:solidFill>
                <a:schemeClr val="dk1"/>
              </a:solidFill>
              <a:latin typeface="Arial"/>
              <a:ea typeface="Arial"/>
              <a:cs typeface="Arial"/>
              <a:sym typeface="Arial"/>
            </a:endParaRPr>
          </a:p>
        </p:txBody>
      </p:sp>
      <p:sp>
        <p:nvSpPr>
          <p:cNvPr id="472" name="Google Shape;472;p18"/>
          <p:cNvSpPr txBox="1"/>
          <p:nvPr>
            <p:ph idx="4294967295" type="sldNum"/>
          </p:nvPr>
        </p:nvSpPr>
        <p:spPr>
          <a:xfrm>
            <a:off x="11338560" y="653796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800" u="none" cap="none" strike="noStrike">
                <a:solidFill>
                  <a:srgbClr val="7A858D"/>
                </a:solidFill>
                <a:latin typeface="Arial"/>
                <a:ea typeface="Arial"/>
                <a:cs typeface="Arial"/>
                <a:sym typeface="Arial"/>
              </a:rPr>
              <a:t>‹#›</a:t>
            </a:fld>
            <a:endParaRPr b="0" i="0" sz="800" u="none" cap="none" strike="noStrike">
              <a:solidFill>
                <a:srgbClr val="7A858D"/>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477" name="Shape 477"/>
        <p:cNvGrpSpPr/>
        <p:nvPr/>
      </p:nvGrpSpPr>
      <p:grpSpPr>
        <a:xfrm>
          <a:off x="0" y="0"/>
          <a:ext cx="0" cy="0"/>
          <a:chOff x="0" y="0"/>
          <a:chExt cx="0" cy="0"/>
        </a:xfrm>
      </p:grpSpPr>
      <p:sp>
        <p:nvSpPr>
          <p:cNvPr id="478" name="Google Shape;478;p19"/>
          <p:cNvSpPr/>
          <p:nvPr/>
        </p:nvSpPr>
        <p:spPr>
          <a:xfrm>
            <a:off x="9646920" y="274320"/>
            <a:ext cx="2084832" cy="310896"/>
          </a:xfrm>
          <a:prstGeom prst="roundRect">
            <a:avLst>
              <a:gd fmla="val 29412" name="adj"/>
            </a:avLst>
          </a:prstGeom>
          <a:solidFill>
            <a:srgbClr val="EAF2F5"/>
          </a:solidFill>
          <a:ln cap="flat" cmpd="sng" w="9525">
            <a:solidFill>
              <a:srgbClr val="EAF2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9"/>
          <p:cNvSpPr txBox="1"/>
          <p:nvPr/>
        </p:nvSpPr>
        <p:spPr>
          <a:xfrm>
            <a:off x="9710928" y="310896"/>
            <a:ext cx="1956816" cy="21945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397DA3"/>
              </a:buClr>
              <a:buSzPts val="850"/>
              <a:buFont typeface="Arial"/>
              <a:buNone/>
            </a:pPr>
            <a:r>
              <a:rPr b="1" i="0" lang="en-US" sz="850" u="none" cap="none" strike="noStrike">
                <a:solidFill>
                  <a:srgbClr val="397DA3"/>
                </a:solidFill>
                <a:latin typeface="Arial"/>
                <a:ea typeface="Arial"/>
                <a:cs typeface="Arial"/>
                <a:sym typeface="Arial"/>
              </a:rPr>
              <a:t>CWT</a:t>
            </a:r>
            <a:endParaRPr b="0" i="0" sz="850" u="none" cap="none" strike="noStrike">
              <a:solidFill>
                <a:schemeClr val="dk1"/>
              </a:solidFill>
              <a:latin typeface="Arial"/>
              <a:ea typeface="Arial"/>
              <a:cs typeface="Arial"/>
              <a:sym typeface="Arial"/>
            </a:endParaRPr>
          </a:p>
        </p:txBody>
      </p:sp>
      <p:sp>
        <p:nvSpPr>
          <p:cNvPr id="480" name="Google Shape;480;p19"/>
          <p:cNvSpPr txBox="1"/>
          <p:nvPr/>
        </p:nvSpPr>
        <p:spPr>
          <a:xfrm>
            <a:off x="438912" y="292608"/>
            <a:ext cx="896112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2700"/>
              <a:buFont typeface="Play"/>
              <a:buNone/>
            </a:pPr>
            <a:r>
              <a:rPr b="1" i="0" lang="en-US" sz="2700" u="none" cap="none" strike="noStrike">
                <a:solidFill>
                  <a:srgbClr val="203447"/>
                </a:solidFill>
                <a:latin typeface="Play"/>
                <a:ea typeface="Play"/>
                <a:cs typeface="Play"/>
                <a:sym typeface="Play"/>
              </a:rPr>
              <a:t>CWT: see how signal activity changes over time</a:t>
            </a:r>
            <a:endParaRPr b="0" i="0" sz="2700" u="none" cap="none" strike="noStrike">
              <a:solidFill>
                <a:schemeClr val="dk1"/>
              </a:solidFill>
              <a:latin typeface="Arial"/>
              <a:ea typeface="Arial"/>
              <a:cs typeface="Arial"/>
              <a:sym typeface="Arial"/>
            </a:endParaRPr>
          </a:p>
        </p:txBody>
      </p:sp>
      <p:sp>
        <p:nvSpPr>
          <p:cNvPr id="481" name="Google Shape;481;p19"/>
          <p:cNvSpPr txBox="1"/>
          <p:nvPr/>
        </p:nvSpPr>
        <p:spPr>
          <a:xfrm>
            <a:off x="457200" y="804672"/>
            <a:ext cx="11064240" cy="32918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1717D"/>
              </a:buClr>
              <a:buSzPts val="1250"/>
              <a:buFont typeface="Arial"/>
              <a:buNone/>
            </a:pPr>
            <a:r>
              <a:rPr b="0" i="0" lang="en-US" sz="1250" u="none" cap="none" strike="noStrike">
                <a:solidFill>
                  <a:srgbClr val="61717D"/>
                </a:solidFill>
                <a:latin typeface="Arial"/>
                <a:ea typeface="Arial"/>
                <a:cs typeface="Arial"/>
                <a:sym typeface="Arial"/>
              </a:rPr>
              <a:t>We compared Morlet and Mexican Hat scalograms for the ECG segment</a:t>
            </a:r>
            <a:endParaRPr b="0" i="0" sz="1250" u="none" cap="none" strike="noStrike">
              <a:solidFill>
                <a:schemeClr val="dk1"/>
              </a:solidFill>
              <a:latin typeface="Arial"/>
              <a:ea typeface="Arial"/>
              <a:cs typeface="Arial"/>
              <a:sym typeface="Arial"/>
            </a:endParaRPr>
          </a:p>
        </p:txBody>
      </p:sp>
      <p:cxnSp>
        <p:nvCxnSpPr>
          <p:cNvPr id="482" name="Google Shape;482;p19"/>
          <p:cNvCxnSpPr/>
          <p:nvPr/>
        </p:nvCxnSpPr>
        <p:spPr>
          <a:xfrm>
            <a:off x="438912" y="1197864"/>
            <a:ext cx="11292840" cy="0"/>
          </a:xfrm>
          <a:prstGeom prst="straightConnector1">
            <a:avLst/>
          </a:prstGeom>
          <a:noFill/>
          <a:ln cap="flat" cmpd="sng" w="22850">
            <a:solidFill>
              <a:srgbClr val="4E928B"/>
            </a:solidFill>
            <a:prstDash val="solid"/>
            <a:round/>
            <a:headEnd len="sm" w="sm" type="none"/>
            <a:tailEnd len="sm" w="sm" type="none"/>
          </a:ln>
        </p:spPr>
      </p:cxnSp>
      <p:sp>
        <p:nvSpPr>
          <p:cNvPr id="483" name="Google Shape;483;p19"/>
          <p:cNvSpPr/>
          <p:nvPr/>
        </p:nvSpPr>
        <p:spPr>
          <a:xfrm>
            <a:off x="457200" y="1371600"/>
            <a:ext cx="7818120" cy="4526280"/>
          </a:xfrm>
          <a:prstGeom prst="roundRect">
            <a:avLst>
              <a:gd fmla="val 1616" name="adj"/>
            </a:avLst>
          </a:prstGeom>
          <a:solidFill>
            <a:srgbClr val="FFFFFF"/>
          </a:solidFill>
          <a:ln cap="flat" cmpd="sng" w="10150">
            <a:solidFill>
              <a:srgbClr val="DD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nt/data/image(8).png" id="484" name="Google Shape;484;p19"/>
          <p:cNvPicPr preferRelativeResize="0"/>
          <p:nvPr/>
        </p:nvPicPr>
        <p:blipFill rotWithShape="1">
          <a:blip r:embed="rId3">
            <a:alphaModFix/>
          </a:blip>
          <a:srcRect b="0" l="0" r="0" t="0"/>
          <a:stretch/>
        </p:blipFill>
        <p:spPr>
          <a:xfrm>
            <a:off x="1028903" y="1417320"/>
            <a:ext cx="6674715" cy="4434840"/>
          </a:xfrm>
          <a:prstGeom prst="rect">
            <a:avLst/>
          </a:prstGeom>
          <a:noFill/>
          <a:ln>
            <a:noFill/>
          </a:ln>
        </p:spPr>
      </p:pic>
      <p:sp>
        <p:nvSpPr>
          <p:cNvPr id="485" name="Google Shape;485;p19"/>
          <p:cNvSpPr/>
          <p:nvPr/>
        </p:nvSpPr>
        <p:spPr>
          <a:xfrm>
            <a:off x="8549640" y="1517904"/>
            <a:ext cx="3063240" cy="1572768"/>
          </a:xfrm>
          <a:prstGeom prst="roundRect">
            <a:avLst>
              <a:gd fmla="val 5814" name="adj"/>
            </a:avLst>
          </a:prstGeom>
          <a:solidFill>
            <a:srgbClr val="EAF2F5"/>
          </a:solidFill>
          <a:ln cap="flat" cmpd="sng" w="12700">
            <a:solidFill>
              <a:srgbClr val="397DA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9"/>
          <p:cNvSpPr txBox="1"/>
          <p:nvPr/>
        </p:nvSpPr>
        <p:spPr>
          <a:xfrm>
            <a:off x="8695944" y="1618488"/>
            <a:ext cx="2770632"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97DA3"/>
              </a:buClr>
              <a:buSzPts val="1500"/>
              <a:buFont typeface="Arial"/>
              <a:buNone/>
            </a:pPr>
            <a:r>
              <a:rPr b="1" i="0" lang="en-US" sz="1500" u="none" cap="none" strike="noStrike">
                <a:solidFill>
                  <a:srgbClr val="397DA3"/>
                </a:solidFill>
                <a:latin typeface="Arial"/>
                <a:ea typeface="Arial"/>
                <a:cs typeface="Arial"/>
                <a:sym typeface="Arial"/>
              </a:rPr>
              <a:t>Morlet</a:t>
            </a:r>
            <a:endParaRPr b="0" i="0" sz="1500" u="none" cap="none" strike="noStrike">
              <a:solidFill>
                <a:schemeClr val="dk1"/>
              </a:solidFill>
              <a:latin typeface="Arial"/>
              <a:ea typeface="Arial"/>
              <a:cs typeface="Arial"/>
              <a:sym typeface="Arial"/>
            </a:endParaRPr>
          </a:p>
        </p:txBody>
      </p:sp>
      <p:sp>
        <p:nvSpPr>
          <p:cNvPr id="487" name="Google Shape;487;p19"/>
          <p:cNvSpPr txBox="1"/>
          <p:nvPr/>
        </p:nvSpPr>
        <p:spPr>
          <a:xfrm>
            <a:off x="8695944" y="1956816"/>
            <a:ext cx="2770632" cy="1042416"/>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203447"/>
              </a:buClr>
              <a:buSzPts val="1220"/>
              <a:buFont typeface="Arial"/>
              <a:buNone/>
            </a:pPr>
            <a:r>
              <a:rPr b="0" i="0" lang="en-US" sz="1220" u="none" cap="none" strike="noStrike">
                <a:solidFill>
                  <a:srgbClr val="203447"/>
                </a:solidFill>
                <a:latin typeface="Arial"/>
                <a:ea typeface="Arial"/>
                <a:cs typeface="Arial"/>
                <a:sym typeface="Arial"/>
              </a:rPr>
              <a:t>Oscillatory wavelet; useful for following broader time-frequency patterns and oscillatory structure.</a:t>
            </a:r>
            <a:endParaRPr b="0" i="0" sz="1220" u="none" cap="none" strike="noStrike">
              <a:solidFill>
                <a:schemeClr val="dk1"/>
              </a:solidFill>
              <a:latin typeface="Arial"/>
              <a:ea typeface="Arial"/>
              <a:cs typeface="Arial"/>
              <a:sym typeface="Arial"/>
            </a:endParaRPr>
          </a:p>
        </p:txBody>
      </p:sp>
      <p:sp>
        <p:nvSpPr>
          <p:cNvPr id="488" name="Google Shape;488;p19"/>
          <p:cNvSpPr/>
          <p:nvPr/>
        </p:nvSpPr>
        <p:spPr>
          <a:xfrm>
            <a:off x="8549640" y="3310128"/>
            <a:ext cx="3063240" cy="1572768"/>
          </a:xfrm>
          <a:prstGeom prst="roundRect">
            <a:avLst>
              <a:gd fmla="val 5814" name="adj"/>
            </a:avLst>
          </a:prstGeom>
          <a:solidFill>
            <a:srgbClr val="F8EEE3"/>
          </a:solidFill>
          <a:ln cap="flat" cmpd="sng" w="12700">
            <a:solidFill>
              <a:srgbClr val="D58A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9"/>
          <p:cNvSpPr txBox="1"/>
          <p:nvPr/>
        </p:nvSpPr>
        <p:spPr>
          <a:xfrm>
            <a:off x="8695944" y="3410712"/>
            <a:ext cx="2770632"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D58A4B"/>
              </a:buClr>
              <a:buSzPts val="1500"/>
              <a:buFont typeface="Arial"/>
              <a:buNone/>
            </a:pPr>
            <a:r>
              <a:rPr b="1" i="0" lang="en-US" sz="1500" u="none" cap="none" strike="noStrike">
                <a:solidFill>
                  <a:srgbClr val="D58A4B"/>
                </a:solidFill>
                <a:latin typeface="Arial"/>
                <a:ea typeface="Arial"/>
                <a:cs typeface="Arial"/>
                <a:sym typeface="Arial"/>
              </a:rPr>
              <a:t>Mexican Hat</a:t>
            </a:r>
            <a:endParaRPr b="0" i="0" sz="1500" u="none" cap="none" strike="noStrike">
              <a:solidFill>
                <a:schemeClr val="dk1"/>
              </a:solidFill>
              <a:latin typeface="Arial"/>
              <a:ea typeface="Arial"/>
              <a:cs typeface="Arial"/>
              <a:sym typeface="Arial"/>
            </a:endParaRPr>
          </a:p>
        </p:txBody>
      </p:sp>
      <p:sp>
        <p:nvSpPr>
          <p:cNvPr id="490" name="Google Shape;490;p19"/>
          <p:cNvSpPr txBox="1"/>
          <p:nvPr/>
        </p:nvSpPr>
        <p:spPr>
          <a:xfrm>
            <a:off x="8695944" y="3749040"/>
            <a:ext cx="2770632" cy="1042416"/>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203447"/>
              </a:buClr>
              <a:buSzPts val="1220"/>
              <a:buFont typeface="Arial"/>
              <a:buNone/>
            </a:pPr>
            <a:r>
              <a:rPr b="0" i="0" lang="en-US" sz="1220" u="none" cap="none" strike="noStrike">
                <a:solidFill>
                  <a:srgbClr val="203447"/>
                </a:solidFill>
                <a:latin typeface="Arial"/>
                <a:ea typeface="Arial"/>
                <a:cs typeface="Arial"/>
                <a:sym typeface="Arial"/>
              </a:rPr>
              <a:t>More localized, peaked response; can emphasize transient changes and sharp features.</a:t>
            </a:r>
            <a:endParaRPr b="0" i="0" sz="1220" u="none" cap="none" strike="noStrike">
              <a:solidFill>
                <a:schemeClr val="dk1"/>
              </a:solidFill>
              <a:latin typeface="Arial"/>
              <a:ea typeface="Arial"/>
              <a:cs typeface="Arial"/>
              <a:sym typeface="Arial"/>
            </a:endParaRPr>
          </a:p>
        </p:txBody>
      </p:sp>
      <p:sp>
        <p:nvSpPr>
          <p:cNvPr id="491" name="Google Shape;491;p19"/>
          <p:cNvSpPr txBox="1"/>
          <p:nvPr/>
        </p:nvSpPr>
        <p:spPr>
          <a:xfrm>
            <a:off x="8631936" y="5184648"/>
            <a:ext cx="2907792" cy="60350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03447"/>
              </a:buClr>
              <a:buSzPts val="1210"/>
              <a:buFont typeface="Arial"/>
              <a:buNone/>
            </a:pPr>
            <a:r>
              <a:rPr b="1" i="0" lang="en-US" sz="1210" u="none" cap="none" strike="noStrike">
                <a:solidFill>
                  <a:srgbClr val="203447"/>
                </a:solidFill>
                <a:latin typeface="Arial"/>
                <a:ea typeface="Arial"/>
                <a:cs typeface="Arial"/>
                <a:sym typeface="Arial"/>
              </a:rPr>
              <a:t>Neither is automatically “better” — the representation depends on the feature we want to see.</a:t>
            </a:r>
            <a:endParaRPr b="0" i="0" sz="1210" u="none" cap="none" strike="noStrike">
              <a:solidFill>
                <a:schemeClr val="dk1"/>
              </a:solidFill>
              <a:latin typeface="Arial"/>
              <a:ea typeface="Arial"/>
              <a:cs typeface="Arial"/>
              <a:sym typeface="Arial"/>
            </a:endParaRPr>
          </a:p>
        </p:txBody>
      </p:sp>
      <p:sp>
        <p:nvSpPr>
          <p:cNvPr id="492" name="Google Shape;492;p19"/>
          <p:cNvSpPr txBox="1"/>
          <p:nvPr>
            <p:ph idx="4294967295" type="sldNum"/>
          </p:nvPr>
        </p:nvSpPr>
        <p:spPr>
          <a:xfrm>
            <a:off x="11338560" y="653796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800" u="none" cap="none" strike="noStrike">
                <a:solidFill>
                  <a:srgbClr val="7A858D"/>
                </a:solidFill>
                <a:latin typeface="Arial"/>
                <a:ea typeface="Arial"/>
                <a:cs typeface="Arial"/>
                <a:sym typeface="Arial"/>
              </a:rPr>
              <a:t>‹#›</a:t>
            </a:fld>
            <a:endParaRPr b="0" i="0" sz="800" u="none" cap="none" strike="noStrike">
              <a:solidFill>
                <a:srgbClr val="7A858D"/>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497" name="Shape 497"/>
        <p:cNvGrpSpPr/>
        <p:nvPr/>
      </p:nvGrpSpPr>
      <p:grpSpPr>
        <a:xfrm>
          <a:off x="0" y="0"/>
          <a:ext cx="0" cy="0"/>
          <a:chOff x="0" y="0"/>
          <a:chExt cx="0" cy="0"/>
        </a:xfrm>
      </p:grpSpPr>
      <p:sp>
        <p:nvSpPr>
          <p:cNvPr id="498" name="Google Shape;498;p20"/>
          <p:cNvSpPr/>
          <p:nvPr/>
        </p:nvSpPr>
        <p:spPr>
          <a:xfrm>
            <a:off x="9646920" y="274320"/>
            <a:ext cx="2084832" cy="310896"/>
          </a:xfrm>
          <a:prstGeom prst="roundRect">
            <a:avLst>
              <a:gd fmla="val 29412" name="adj"/>
            </a:avLst>
          </a:prstGeom>
          <a:solidFill>
            <a:srgbClr val="EAF2F5"/>
          </a:solidFill>
          <a:ln cap="flat" cmpd="sng" w="9525">
            <a:solidFill>
              <a:srgbClr val="EAF2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0"/>
          <p:cNvSpPr txBox="1"/>
          <p:nvPr/>
        </p:nvSpPr>
        <p:spPr>
          <a:xfrm>
            <a:off x="9710928" y="310896"/>
            <a:ext cx="1956816" cy="21945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397DA3"/>
              </a:buClr>
              <a:buSzPts val="850"/>
              <a:buFont typeface="Arial"/>
              <a:buNone/>
            </a:pPr>
            <a:r>
              <a:rPr b="1" i="0" lang="en-US" sz="850" u="none" cap="none" strike="noStrike">
                <a:solidFill>
                  <a:srgbClr val="397DA3"/>
                </a:solidFill>
                <a:latin typeface="Arial"/>
                <a:ea typeface="Arial"/>
                <a:cs typeface="Arial"/>
                <a:sym typeface="Arial"/>
              </a:rPr>
              <a:t>CONTROLLED-NOISE EXPERIMENT</a:t>
            </a:r>
            <a:endParaRPr b="0" i="0" sz="850" u="none" cap="none" strike="noStrike">
              <a:solidFill>
                <a:schemeClr val="dk1"/>
              </a:solidFill>
              <a:latin typeface="Arial"/>
              <a:ea typeface="Arial"/>
              <a:cs typeface="Arial"/>
              <a:sym typeface="Arial"/>
            </a:endParaRPr>
          </a:p>
        </p:txBody>
      </p:sp>
      <p:sp>
        <p:nvSpPr>
          <p:cNvPr id="500" name="Google Shape;500;p20"/>
          <p:cNvSpPr txBox="1"/>
          <p:nvPr/>
        </p:nvSpPr>
        <p:spPr>
          <a:xfrm>
            <a:off x="438912" y="292608"/>
            <a:ext cx="896112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2700"/>
              <a:buFont typeface="Play"/>
              <a:buNone/>
            </a:pPr>
            <a:r>
              <a:rPr b="1" i="0" lang="en-US" sz="2700" u="none" cap="none" strike="noStrike">
                <a:solidFill>
                  <a:srgbClr val="203447"/>
                </a:solidFill>
                <a:latin typeface="Play"/>
                <a:ea typeface="Play"/>
                <a:cs typeface="Play"/>
                <a:sym typeface="Play"/>
              </a:rPr>
              <a:t>Controlled noise: create a repeatable test</a:t>
            </a:r>
            <a:endParaRPr b="0" i="0" sz="2700" u="none" cap="none" strike="noStrike">
              <a:solidFill>
                <a:schemeClr val="dk1"/>
              </a:solidFill>
              <a:latin typeface="Arial"/>
              <a:ea typeface="Arial"/>
              <a:cs typeface="Arial"/>
              <a:sym typeface="Arial"/>
            </a:endParaRPr>
          </a:p>
        </p:txBody>
      </p:sp>
      <p:sp>
        <p:nvSpPr>
          <p:cNvPr id="501" name="Google Shape;501;p20"/>
          <p:cNvSpPr txBox="1"/>
          <p:nvPr/>
        </p:nvSpPr>
        <p:spPr>
          <a:xfrm>
            <a:off x="457200" y="804672"/>
            <a:ext cx="11064240" cy="32918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1717D"/>
              </a:buClr>
              <a:buSzPts val="1250"/>
              <a:buFont typeface="Arial"/>
              <a:buNone/>
            </a:pPr>
            <a:r>
              <a:rPr b="0" i="0" lang="en-US" sz="1250" u="none" cap="none" strike="noStrike">
                <a:solidFill>
                  <a:srgbClr val="61717D"/>
                </a:solidFill>
                <a:latin typeface="Arial"/>
                <a:ea typeface="Arial"/>
                <a:cs typeface="Arial"/>
                <a:sym typeface="Arial"/>
              </a:rPr>
              <a:t>We deliberately added Gaussian noise to the ECG before denoising</a:t>
            </a:r>
            <a:endParaRPr b="0" i="0" sz="1250" u="none" cap="none" strike="noStrike">
              <a:solidFill>
                <a:schemeClr val="dk1"/>
              </a:solidFill>
              <a:latin typeface="Arial"/>
              <a:ea typeface="Arial"/>
              <a:cs typeface="Arial"/>
              <a:sym typeface="Arial"/>
            </a:endParaRPr>
          </a:p>
        </p:txBody>
      </p:sp>
      <p:cxnSp>
        <p:nvCxnSpPr>
          <p:cNvPr id="502" name="Google Shape;502;p20"/>
          <p:cNvCxnSpPr/>
          <p:nvPr/>
        </p:nvCxnSpPr>
        <p:spPr>
          <a:xfrm>
            <a:off x="438912" y="1197864"/>
            <a:ext cx="11292840" cy="0"/>
          </a:xfrm>
          <a:prstGeom prst="straightConnector1">
            <a:avLst/>
          </a:prstGeom>
          <a:noFill/>
          <a:ln cap="flat" cmpd="sng" w="22850">
            <a:solidFill>
              <a:srgbClr val="4E928B"/>
            </a:solidFill>
            <a:prstDash val="solid"/>
            <a:round/>
            <a:headEnd len="sm" w="sm" type="none"/>
            <a:tailEnd len="sm" w="sm" type="none"/>
          </a:ln>
        </p:spPr>
      </p:cxnSp>
      <p:sp>
        <p:nvSpPr>
          <p:cNvPr id="503" name="Google Shape;503;p20"/>
          <p:cNvSpPr/>
          <p:nvPr/>
        </p:nvSpPr>
        <p:spPr>
          <a:xfrm>
            <a:off x="457200" y="1417320"/>
            <a:ext cx="7818120" cy="4434840"/>
          </a:xfrm>
          <a:prstGeom prst="roundRect">
            <a:avLst>
              <a:gd fmla="val 1649" name="adj"/>
            </a:avLst>
          </a:prstGeom>
          <a:solidFill>
            <a:srgbClr val="FFFFFF"/>
          </a:solidFill>
          <a:ln cap="flat" cmpd="sng" w="10150">
            <a:solidFill>
              <a:srgbClr val="DD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nt/data/image(9).png" id="504" name="Google Shape;504;p20"/>
          <p:cNvPicPr preferRelativeResize="0"/>
          <p:nvPr/>
        </p:nvPicPr>
        <p:blipFill rotWithShape="1">
          <a:blip r:embed="rId3">
            <a:alphaModFix/>
          </a:blip>
          <a:srcRect b="0" l="0" r="0" t="0"/>
          <a:stretch/>
        </p:blipFill>
        <p:spPr>
          <a:xfrm>
            <a:off x="512064" y="1850320"/>
            <a:ext cx="7708392" cy="3568841"/>
          </a:xfrm>
          <a:prstGeom prst="rect">
            <a:avLst/>
          </a:prstGeom>
          <a:noFill/>
          <a:ln>
            <a:noFill/>
          </a:ln>
        </p:spPr>
      </p:pic>
      <p:sp>
        <p:nvSpPr>
          <p:cNvPr id="505" name="Google Shape;505;p20"/>
          <p:cNvSpPr/>
          <p:nvPr/>
        </p:nvSpPr>
        <p:spPr>
          <a:xfrm>
            <a:off x="8549640" y="1591056"/>
            <a:ext cx="3017520" cy="1225296"/>
          </a:xfrm>
          <a:prstGeom prst="roundRect">
            <a:avLst>
              <a:gd fmla="val 7463" name="adj"/>
            </a:avLst>
          </a:prstGeom>
          <a:solidFill>
            <a:srgbClr val="EAF2F5"/>
          </a:solidFill>
          <a:ln cap="flat" cmpd="sng" w="12700">
            <a:solidFill>
              <a:srgbClr val="397DA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20"/>
          <p:cNvSpPr txBox="1"/>
          <p:nvPr/>
        </p:nvSpPr>
        <p:spPr>
          <a:xfrm>
            <a:off x="8695944" y="1691640"/>
            <a:ext cx="2724912"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97DA3"/>
              </a:buClr>
              <a:buSzPts val="1500"/>
              <a:buFont typeface="Arial"/>
              <a:buNone/>
            </a:pPr>
            <a:r>
              <a:rPr b="1" i="0" lang="en-US" sz="1500" u="none" cap="none" strike="noStrike">
                <a:solidFill>
                  <a:srgbClr val="397DA3"/>
                </a:solidFill>
                <a:latin typeface="Arial"/>
                <a:ea typeface="Arial"/>
                <a:cs typeface="Arial"/>
                <a:sym typeface="Arial"/>
              </a:rPr>
              <a:t>Original ECG</a:t>
            </a:r>
            <a:endParaRPr b="0" i="0" sz="1500" u="none" cap="none" strike="noStrike">
              <a:solidFill>
                <a:schemeClr val="dk1"/>
              </a:solidFill>
              <a:latin typeface="Arial"/>
              <a:ea typeface="Arial"/>
              <a:cs typeface="Arial"/>
              <a:sym typeface="Arial"/>
            </a:endParaRPr>
          </a:p>
        </p:txBody>
      </p:sp>
      <p:sp>
        <p:nvSpPr>
          <p:cNvPr id="507" name="Google Shape;507;p20"/>
          <p:cNvSpPr txBox="1"/>
          <p:nvPr/>
        </p:nvSpPr>
        <p:spPr>
          <a:xfrm>
            <a:off x="8695944" y="2029968"/>
            <a:ext cx="2724912" cy="694944"/>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203447"/>
              </a:buClr>
              <a:buSzPts val="1220"/>
              <a:buFont typeface="Arial"/>
              <a:buNone/>
            </a:pPr>
            <a:r>
              <a:rPr b="0" i="0" lang="en-US" sz="1220" u="none" cap="none" strike="noStrike">
                <a:solidFill>
                  <a:srgbClr val="203447"/>
                </a:solidFill>
                <a:latin typeface="Arial"/>
                <a:ea typeface="Arial"/>
                <a:cs typeface="Arial"/>
                <a:sym typeface="Arial"/>
              </a:rPr>
              <a:t>Reference waveform from the selected segment.</a:t>
            </a:r>
            <a:endParaRPr b="0" i="0" sz="1220" u="none" cap="none" strike="noStrike">
              <a:solidFill>
                <a:schemeClr val="dk1"/>
              </a:solidFill>
              <a:latin typeface="Arial"/>
              <a:ea typeface="Arial"/>
              <a:cs typeface="Arial"/>
              <a:sym typeface="Arial"/>
            </a:endParaRPr>
          </a:p>
        </p:txBody>
      </p:sp>
      <p:sp>
        <p:nvSpPr>
          <p:cNvPr id="508" name="Google Shape;508;p20"/>
          <p:cNvSpPr/>
          <p:nvPr/>
        </p:nvSpPr>
        <p:spPr>
          <a:xfrm>
            <a:off x="8549640" y="3017520"/>
            <a:ext cx="3017520" cy="1225296"/>
          </a:xfrm>
          <a:prstGeom prst="roundRect">
            <a:avLst>
              <a:gd fmla="val 7463" name="adj"/>
            </a:avLst>
          </a:prstGeom>
          <a:solidFill>
            <a:srgbClr val="F8EEE3"/>
          </a:solidFill>
          <a:ln cap="flat" cmpd="sng" w="12700">
            <a:solidFill>
              <a:srgbClr val="D58A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20"/>
          <p:cNvSpPr txBox="1"/>
          <p:nvPr/>
        </p:nvSpPr>
        <p:spPr>
          <a:xfrm>
            <a:off x="8695944" y="3118104"/>
            <a:ext cx="2724912"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D58A4B"/>
              </a:buClr>
              <a:buSzPts val="1500"/>
              <a:buFont typeface="Arial"/>
              <a:buNone/>
            </a:pPr>
            <a:r>
              <a:rPr b="1" i="0" lang="en-US" sz="1500" u="none" cap="none" strike="noStrike">
                <a:solidFill>
                  <a:srgbClr val="D58A4B"/>
                </a:solidFill>
                <a:latin typeface="Arial"/>
                <a:ea typeface="Arial"/>
                <a:cs typeface="Arial"/>
                <a:sym typeface="Arial"/>
              </a:rPr>
              <a:t>Noisy ECG</a:t>
            </a:r>
            <a:endParaRPr b="0" i="0" sz="1500" u="none" cap="none" strike="noStrike">
              <a:solidFill>
                <a:schemeClr val="dk1"/>
              </a:solidFill>
              <a:latin typeface="Arial"/>
              <a:ea typeface="Arial"/>
              <a:cs typeface="Arial"/>
              <a:sym typeface="Arial"/>
            </a:endParaRPr>
          </a:p>
        </p:txBody>
      </p:sp>
      <p:sp>
        <p:nvSpPr>
          <p:cNvPr id="510" name="Google Shape;510;p20"/>
          <p:cNvSpPr txBox="1"/>
          <p:nvPr/>
        </p:nvSpPr>
        <p:spPr>
          <a:xfrm>
            <a:off x="8695944" y="3456432"/>
            <a:ext cx="2724912" cy="694944"/>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203447"/>
              </a:buClr>
              <a:buSzPts val="1220"/>
              <a:buFont typeface="Arial"/>
              <a:buNone/>
            </a:pPr>
            <a:r>
              <a:rPr b="0" i="0" lang="en-US" sz="1220" u="none" cap="none" strike="noStrike">
                <a:solidFill>
                  <a:srgbClr val="203447"/>
                </a:solidFill>
                <a:latin typeface="Arial"/>
                <a:ea typeface="Arial"/>
                <a:cs typeface="Arial"/>
                <a:sym typeface="Arial"/>
              </a:rPr>
              <a:t>Original + synthetic Gaussian noise.</a:t>
            </a:r>
            <a:endParaRPr b="0" i="0" sz="1220" u="none" cap="none" strike="noStrike">
              <a:solidFill>
                <a:schemeClr val="dk1"/>
              </a:solidFill>
              <a:latin typeface="Arial"/>
              <a:ea typeface="Arial"/>
              <a:cs typeface="Arial"/>
              <a:sym typeface="Arial"/>
            </a:endParaRPr>
          </a:p>
        </p:txBody>
      </p:sp>
      <p:sp>
        <p:nvSpPr>
          <p:cNvPr id="511" name="Google Shape;511;p20"/>
          <p:cNvSpPr txBox="1"/>
          <p:nvPr/>
        </p:nvSpPr>
        <p:spPr>
          <a:xfrm>
            <a:off x="8650224" y="4599432"/>
            <a:ext cx="2834640" cy="41148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4E928B"/>
              </a:buClr>
              <a:buSzPts val="1900"/>
              <a:buFont typeface="Arial"/>
              <a:buNone/>
            </a:pPr>
            <a:r>
              <a:rPr b="1" i="0" lang="en-US" sz="1900" u="none" cap="none" strike="noStrike">
                <a:solidFill>
                  <a:srgbClr val="4E928B"/>
                </a:solidFill>
                <a:latin typeface="Arial"/>
                <a:ea typeface="Arial"/>
                <a:cs typeface="Arial"/>
                <a:sym typeface="Arial"/>
              </a:rPr>
              <a:t>Target SNR: 10 dB</a:t>
            </a:r>
            <a:endParaRPr b="0" i="0" sz="1900" u="none" cap="none" strike="noStrike">
              <a:solidFill>
                <a:schemeClr val="dk1"/>
              </a:solidFill>
              <a:latin typeface="Arial"/>
              <a:ea typeface="Arial"/>
              <a:cs typeface="Arial"/>
              <a:sym typeface="Arial"/>
            </a:endParaRPr>
          </a:p>
        </p:txBody>
      </p:sp>
      <p:sp>
        <p:nvSpPr>
          <p:cNvPr id="512" name="Google Shape;512;p20"/>
          <p:cNvSpPr txBox="1"/>
          <p:nvPr/>
        </p:nvSpPr>
        <p:spPr>
          <a:xfrm>
            <a:off x="8705088" y="5175504"/>
            <a:ext cx="2724912" cy="50292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61717D"/>
              </a:buClr>
              <a:buSzPts val="1170"/>
              <a:buFont typeface="Arial"/>
              <a:buNone/>
            </a:pPr>
            <a:r>
              <a:rPr b="0" i="1" lang="en-US" sz="1170" u="none" cap="none" strike="noStrike">
                <a:solidFill>
                  <a:srgbClr val="61717D"/>
                </a:solidFill>
                <a:latin typeface="Arial"/>
                <a:ea typeface="Arial"/>
                <a:cs typeface="Arial"/>
                <a:sym typeface="Arial"/>
              </a:rPr>
              <a:t>This is a controlled experiment, not a simulation of every real-world artifact.</a:t>
            </a:r>
            <a:endParaRPr b="0" i="0" sz="1170" u="none" cap="none" strike="noStrike">
              <a:solidFill>
                <a:schemeClr val="dk1"/>
              </a:solidFill>
              <a:latin typeface="Arial"/>
              <a:ea typeface="Arial"/>
              <a:cs typeface="Arial"/>
              <a:sym typeface="Arial"/>
            </a:endParaRPr>
          </a:p>
        </p:txBody>
      </p:sp>
      <p:sp>
        <p:nvSpPr>
          <p:cNvPr id="513" name="Google Shape;513;p20"/>
          <p:cNvSpPr txBox="1"/>
          <p:nvPr>
            <p:ph idx="4294967295" type="sldNum"/>
          </p:nvPr>
        </p:nvSpPr>
        <p:spPr>
          <a:xfrm>
            <a:off x="11338560" y="653796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800" u="none" cap="none" strike="noStrike">
                <a:solidFill>
                  <a:srgbClr val="7A858D"/>
                </a:solidFill>
                <a:latin typeface="Arial"/>
                <a:ea typeface="Arial"/>
                <a:cs typeface="Arial"/>
                <a:sym typeface="Arial"/>
              </a:rPr>
              <a:t>‹#›</a:t>
            </a:fld>
            <a:endParaRPr b="0" i="0" sz="800" u="none" cap="none" strike="noStrike">
              <a:solidFill>
                <a:srgbClr val="7A858D"/>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518" name="Shape 518"/>
        <p:cNvGrpSpPr/>
        <p:nvPr/>
      </p:nvGrpSpPr>
      <p:grpSpPr>
        <a:xfrm>
          <a:off x="0" y="0"/>
          <a:ext cx="0" cy="0"/>
          <a:chOff x="0" y="0"/>
          <a:chExt cx="0" cy="0"/>
        </a:xfrm>
      </p:grpSpPr>
      <p:sp>
        <p:nvSpPr>
          <p:cNvPr id="519" name="Google Shape;519;p21"/>
          <p:cNvSpPr/>
          <p:nvPr/>
        </p:nvSpPr>
        <p:spPr>
          <a:xfrm>
            <a:off x="9646920" y="274320"/>
            <a:ext cx="2084832" cy="310896"/>
          </a:xfrm>
          <a:prstGeom prst="roundRect">
            <a:avLst>
              <a:gd fmla="val 29412" name="adj"/>
            </a:avLst>
          </a:prstGeom>
          <a:solidFill>
            <a:srgbClr val="EAF2F5"/>
          </a:solidFill>
          <a:ln cap="flat" cmpd="sng" w="9525">
            <a:solidFill>
              <a:srgbClr val="EAF2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21"/>
          <p:cNvSpPr txBox="1"/>
          <p:nvPr/>
        </p:nvSpPr>
        <p:spPr>
          <a:xfrm>
            <a:off x="9710928" y="310896"/>
            <a:ext cx="1956816" cy="21945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397DA3"/>
              </a:buClr>
              <a:buSzPts val="850"/>
              <a:buFont typeface="Arial"/>
              <a:buNone/>
            </a:pPr>
            <a:r>
              <a:rPr b="1" i="0" lang="en-US" sz="850" u="none" cap="none" strike="noStrike">
                <a:solidFill>
                  <a:srgbClr val="397DA3"/>
                </a:solidFill>
                <a:latin typeface="Arial"/>
                <a:ea typeface="Arial"/>
                <a:cs typeface="Arial"/>
                <a:sym typeface="Arial"/>
              </a:rPr>
              <a:t>CONTROLLED-NOISE EXPERIMENT</a:t>
            </a:r>
            <a:endParaRPr b="0" i="0" sz="850" u="none" cap="none" strike="noStrike">
              <a:solidFill>
                <a:schemeClr val="dk1"/>
              </a:solidFill>
              <a:latin typeface="Arial"/>
              <a:ea typeface="Arial"/>
              <a:cs typeface="Arial"/>
              <a:sym typeface="Arial"/>
            </a:endParaRPr>
          </a:p>
        </p:txBody>
      </p:sp>
      <p:sp>
        <p:nvSpPr>
          <p:cNvPr id="521" name="Google Shape;521;p21"/>
          <p:cNvSpPr txBox="1"/>
          <p:nvPr/>
        </p:nvSpPr>
        <p:spPr>
          <a:xfrm>
            <a:off x="438912" y="292608"/>
            <a:ext cx="896112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2700"/>
              <a:buFont typeface="Play"/>
              <a:buNone/>
            </a:pPr>
            <a:r>
              <a:rPr b="1" i="0" lang="en-US" sz="2700" u="none" cap="none" strike="noStrike">
                <a:solidFill>
                  <a:srgbClr val="203447"/>
                </a:solidFill>
                <a:latin typeface="Play"/>
                <a:ea typeface="Play"/>
                <a:cs typeface="Play"/>
                <a:sym typeface="Play"/>
              </a:rPr>
              <a:t>After BayesShrink: did the controlled-noise result improve?</a:t>
            </a:r>
            <a:endParaRPr b="0" i="0" sz="2700" u="none" cap="none" strike="noStrike">
              <a:solidFill>
                <a:schemeClr val="dk1"/>
              </a:solidFill>
              <a:latin typeface="Arial"/>
              <a:ea typeface="Arial"/>
              <a:cs typeface="Arial"/>
              <a:sym typeface="Arial"/>
            </a:endParaRPr>
          </a:p>
        </p:txBody>
      </p:sp>
      <p:sp>
        <p:nvSpPr>
          <p:cNvPr id="522" name="Google Shape;522;p21"/>
          <p:cNvSpPr txBox="1"/>
          <p:nvPr/>
        </p:nvSpPr>
        <p:spPr>
          <a:xfrm>
            <a:off x="457200" y="804672"/>
            <a:ext cx="11064240" cy="32918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1717D"/>
              </a:buClr>
              <a:buSzPts val="1250"/>
              <a:buFont typeface="Arial"/>
              <a:buNone/>
            </a:pPr>
            <a:r>
              <a:rPr b="0" i="0" lang="en-US" sz="1250" u="none" cap="none" strike="noStrike">
                <a:solidFill>
                  <a:srgbClr val="61717D"/>
                </a:solidFill>
                <a:latin typeface="Arial"/>
                <a:ea typeface="Arial"/>
                <a:cs typeface="Arial"/>
                <a:sym typeface="Arial"/>
              </a:rPr>
              <a:t>We compare the noisy and denoised traces against the original reference</a:t>
            </a:r>
            <a:endParaRPr b="0" i="0" sz="1250" u="none" cap="none" strike="noStrike">
              <a:solidFill>
                <a:schemeClr val="dk1"/>
              </a:solidFill>
              <a:latin typeface="Arial"/>
              <a:ea typeface="Arial"/>
              <a:cs typeface="Arial"/>
              <a:sym typeface="Arial"/>
            </a:endParaRPr>
          </a:p>
        </p:txBody>
      </p:sp>
      <p:cxnSp>
        <p:nvCxnSpPr>
          <p:cNvPr id="523" name="Google Shape;523;p21"/>
          <p:cNvCxnSpPr/>
          <p:nvPr/>
        </p:nvCxnSpPr>
        <p:spPr>
          <a:xfrm>
            <a:off x="438912" y="1197864"/>
            <a:ext cx="11292840" cy="0"/>
          </a:xfrm>
          <a:prstGeom prst="straightConnector1">
            <a:avLst/>
          </a:prstGeom>
          <a:noFill/>
          <a:ln cap="flat" cmpd="sng" w="22850">
            <a:solidFill>
              <a:srgbClr val="4E928B"/>
            </a:solidFill>
            <a:prstDash val="solid"/>
            <a:round/>
            <a:headEnd len="sm" w="sm" type="none"/>
            <a:tailEnd len="sm" w="sm" type="none"/>
          </a:ln>
        </p:spPr>
      </p:cxnSp>
      <p:sp>
        <p:nvSpPr>
          <p:cNvPr id="524" name="Google Shape;524;p21"/>
          <p:cNvSpPr/>
          <p:nvPr/>
        </p:nvSpPr>
        <p:spPr>
          <a:xfrm>
            <a:off x="438912" y="1389888"/>
            <a:ext cx="6583680" cy="4526280"/>
          </a:xfrm>
          <a:prstGeom prst="roundRect">
            <a:avLst>
              <a:gd fmla="val 1616" name="adj"/>
            </a:avLst>
          </a:prstGeom>
          <a:solidFill>
            <a:srgbClr val="FFFFFF"/>
          </a:solidFill>
          <a:ln cap="flat" cmpd="sng" w="10150">
            <a:solidFill>
              <a:srgbClr val="DD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nt/data/image(10).png" id="525" name="Google Shape;525;p21"/>
          <p:cNvPicPr preferRelativeResize="0"/>
          <p:nvPr/>
        </p:nvPicPr>
        <p:blipFill rotWithShape="1">
          <a:blip r:embed="rId3">
            <a:alphaModFix/>
          </a:blip>
          <a:srcRect b="0" l="0" r="0" t="0"/>
          <a:stretch/>
        </p:blipFill>
        <p:spPr>
          <a:xfrm>
            <a:off x="484632" y="2150135"/>
            <a:ext cx="6492240" cy="3005785"/>
          </a:xfrm>
          <a:prstGeom prst="rect">
            <a:avLst/>
          </a:prstGeom>
          <a:noFill/>
          <a:ln>
            <a:noFill/>
          </a:ln>
        </p:spPr>
      </p:pic>
      <p:sp>
        <p:nvSpPr>
          <p:cNvPr id="526" name="Google Shape;526;p21"/>
          <p:cNvSpPr txBox="1"/>
          <p:nvPr/>
        </p:nvSpPr>
        <p:spPr>
          <a:xfrm>
            <a:off x="7269480" y="1490472"/>
            <a:ext cx="914400"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1717D"/>
              </a:buClr>
              <a:buSzPts val="1400"/>
              <a:buFont typeface="Arial"/>
              <a:buNone/>
            </a:pPr>
            <a:r>
              <a:rPr b="1" i="0" lang="en-US" sz="1400" u="none" cap="none" strike="noStrike">
                <a:solidFill>
                  <a:srgbClr val="61717D"/>
                </a:solidFill>
                <a:latin typeface="Arial"/>
                <a:ea typeface="Arial"/>
                <a:cs typeface="Arial"/>
                <a:sym typeface="Arial"/>
              </a:rPr>
              <a:t>SNR</a:t>
            </a:r>
            <a:endParaRPr b="0" i="0" sz="1400" u="none" cap="none" strike="noStrike">
              <a:solidFill>
                <a:schemeClr val="dk1"/>
              </a:solidFill>
              <a:latin typeface="Arial"/>
              <a:ea typeface="Arial"/>
              <a:cs typeface="Arial"/>
              <a:sym typeface="Arial"/>
            </a:endParaRPr>
          </a:p>
        </p:txBody>
      </p:sp>
      <p:sp>
        <p:nvSpPr>
          <p:cNvPr id="527" name="Google Shape;527;p21"/>
          <p:cNvSpPr txBox="1"/>
          <p:nvPr/>
        </p:nvSpPr>
        <p:spPr>
          <a:xfrm>
            <a:off x="7269480" y="1810512"/>
            <a:ext cx="1874520" cy="32004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97DA3"/>
              </a:buClr>
              <a:buSzPts val="1520"/>
              <a:buFont typeface="Arial"/>
              <a:buNone/>
            </a:pPr>
            <a:r>
              <a:rPr b="1" i="0" lang="en-US" sz="1520" u="none" cap="none" strike="noStrike">
                <a:solidFill>
                  <a:srgbClr val="397DA3"/>
                </a:solidFill>
                <a:latin typeface="Arial"/>
                <a:ea typeface="Arial"/>
                <a:cs typeface="Arial"/>
                <a:sym typeface="Arial"/>
              </a:rPr>
              <a:t>Before  10.17 dB</a:t>
            </a:r>
            <a:endParaRPr b="0" i="0" sz="1520" u="none" cap="none" strike="noStrike">
              <a:solidFill>
                <a:schemeClr val="dk1"/>
              </a:solidFill>
              <a:latin typeface="Arial"/>
              <a:ea typeface="Arial"/>
              <a:cs typeface="Arial"/>
              <a:sym typeface="Arial"/>
            </a:endParaRPr>
          </a:p>
        </p:txBody>
      </p:sp>
      <p:sp>
        <p:nvSpPr>
          <p:cNvPr id="528" name="Google Shape;528;p21"/>
          <p:cNvSpPr txBox="1"/>
          <p:nvPr/>
        </p:nvSpPr>
        <p:spPr>
          <a:xfrm>
            <a:off x="9189720" y="1810512"/>
            <a:ext cx="2048256" cy="32004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4E928B"/>
              </a:buClr>
              <a:buSzPts val="1520"/>
              <a:buFont typeface="Arial"/>
              <a:buNone/>
            </a:pPr>
            <a:r>
              <a:rPr b="1" i="0" lang="en-US" sz="1520" u="none" cap="none" strike="noStrike">
                <a:solidFill>
                  <a:srgbClr val="4E928B"/>
                </a:solidFill>
                <a:latin typeface="Arial"/>
                <a:ea typeface="Arial"/>
                <a:cs typeface="Arial"/>
                <a:sym typeface="Arial"/>
              </a:rPr>
              <a:t>After   10.88 dB</a:t>
            </a:r>
            <a:endParaRPr b="0" i="0" sz="1520" u="none" cap="none" strike="noStrike">
              <a:solidFill>
                <a:schemeClr val="dk1"/>
              </a:solidFill>
              <a:latin typeface="Arial"/>
              <a:ea typeface="Arial"/>
              <a:cs typeface="Arial"/>
              <a:sym typeface="Arial"/>
            </a:endParaRPr>
          </a:p>
        </p:txBody>
      </p:sp>
      <p:sp>
        <p:nvSpPr>
          <p:cNvPr id="529" name="Google Shape;529;p21"/>
          <p:cNvSpPr txBox="1"/>
          <p:nvPr/>
        </p:nvSpPr>
        <p:spPr>
          <a:xfrm>
            <a:off x="7388352" y="2194560"/>
            <a:ext cx="3749040" cy="34747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D58A4B"/>
              </a:buClr>
              <a:buSzPts val="1620"/>
              <a:buFont typeface="Arial"/>
              <a:buNone/>
            </a:pPr>
            <a:r>
              <a:rPr b="1" i="0" lang="en-US" sz="1620" u="none" cap="none" strike="noStrike">
                <a:solidFill>
                  <a:srgbClr val="D58A4B"/>
                </a:solidFill>
                <a:latin typeface="Arial"/>
                <a:ea typeface="Arial"/>
                <a:cs typeface="Arial"/>
                <a:sym typeface="Arial"/>
              </a:rPr>
              <a:t>+0.71 dB improvement</a:t>
            </a:r>
            <a:endParaRPr b="0" i="0" sz="1620" u="none" cap="none" strike="noStrike">
              <a:solidFill>
                <a:schemeClr val="dk1"/>
              </a:solidFill>
              <a:latin typeface="Arial"/>
              <a:ea typeface="Arial"/>
              <a:cs typeface="Arial"/>
              <a:sym typeface="Arial"/>
            </a:endParaRPr>
          </a:p>
        </p:txBody>
      </p:sp>
      <p:sp>
        <p:nvSpPr>
          <p:cNvPr id="530" name="Google Shape;530;p21"/>
          <p:cNvSpPr txBox="1"/>
          <p:nvPr/>
        </p:nvSpPr>
        <p:spPr>
          <a:xfrm>
            <a:off x="7269480" y="2761488"/>
            <a:ext cx="1051560"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1240"/>
              <a:buFont typeface="Arial"/>
              <a:buNone/>
            </a:pPr>
            <a:r>
              <a:rPr b="1" i="0" lang="en-US" sz="1240" u="none" cap="none" strike="noStrike">
                <a:solidFill>
                  <a:srgbClr val="203447"/>
                </a:solidFill>
                <a:latin typeface="Arial"/>
                <a:ea typeface="Arial"/>
                <a:cs typeface="Arial"/>
                <a:sym typeface="Arial"/>
              </a:rPr>
              <a:t>Metric</a:t>
            </a:r>
            <a:endParaRPr b="0" i="0" sz="1240" u="none" cap="none" strike="noStrike">
              <a:solidFill>
                <a:schemeClr val="dk1"/>
              </a:solidFill>
              <a:latin typeface="Arial"/>
              <a:ea typeface="Arial"/>
              <a:cs typeface="Arial"/>
              <a:sym typeface="Arial"/>
            </a:endParaRPr>
          </a:p>
        </p:txBody>
      </p:sp>
      <p:sp>
        <p:nvSpPr>
          <p:cNvPr id="531" name="Google Shape;531;p21"/>
          <p:cNvSpPr txBox="1"/>
          <p:nvPr/>
        </p:nvSpPr>
        <p:spPr>
          <a:xfrm>
            <a:off x="8321040" y="2761488"/>
            <a:ext cx="1097280" cy="274320"/>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397DA3"/>
              </a:buClr>
              <a:buSzPts val="1240"/>
              <a:buFont typeface="Arial"/>
              <a:buNone/>
            </a:pPr>
            <a:r>
              <a:rPr b="1" i="0" lang="en-US" sz="1240" u="none" cap="none" strike="noStrike">
                <a:solidFill>
                  <a:srgbClr val="397DA3"/>
                </a:solidFill>
                <a:latin typeface="Arial"/>
                <a:ea typeface="Arial"/>
                <a:cs typeface="Arial"/>
                <a:sym typeface="Arial"/>
              </a:rPr>
              <a:t>Noisy</a:t>
            </a:r>
            <a:endParaRPr b="0" i="0" sz="1240" u="none" cap="none" strike="noStrike">
              <a:solidFill>
                <a:schemeClr val="dk1"/>
              </a:solidFill>
              <a:latin typeface="Arial"/>
              <a:ea typeface="Arial"/>
              <a:cs typeface="Arial"/>
              <a:sym typeface="Arial"/>
            </a:endParaRPr>
          </a:p>
        </p:txBody>
      </p:sp>
      <p:sp>
        <p:nvSpPr>
          <p:cNvPr id="532" name="Google Shape;532;p21"/>
          <p:cNvSpPr txBox="1"/>
          <p:nvPr/>
        </p:nvSpPr>
        <p:spPr>
          <a:xfrm>
            <a:off x="9509760" y="2761488"/>
            <a:ext cx="1508760" cy="274320"/>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4E928B"/>
              </a:buClr>
              <a:buSzPts val="1240"/>
              <a:buFont typeface="Arial"/>
              <a:buNone/>
            </a:pPr>
            <a:r>
              <a:rPr b="1" i="0" lang="en-US" sz="1240" u="none" cap="none" strike="noStrike">
                <a:solidFill>
                  <a:srgbClr val="4E928B"/>
                </a:solidFill>
                <a:latin typeface="Arial"/>
                <a:ea typeface="Arial"/>
                <a:cs typeface="Arial"/>
                <a:sym typeface="Arial"/>
              </a:rPr>
              <a:t>Denoised</a:t>
            </a:r>
            <a:endParaRPr b="0" i="0" sz="1240" u="none" cap="none" strike="noStrike">
              <a:solidFill>
                <a:schemeClr val="dk1"/>
              </a:solidFill>
              <a:latin typeface="Arial"/>
              <a:ea typeface="Arial"/>
              <a:cs typeface="Arial"/>
              <a:sym typeface="Arial"/>
            </a:endParaRPr>
          </a:p>
        </p:txBody>
      </p:sp>
      <p:sp>
        <p:nvSpPr>
          <p:cNvPr id="533" name="Google Shape;533;p21"/>
          <p:cNvSpPr txBox="1"/>
          <p:nvPr/>
        </p:nvSpPr>
        <p:spPr>
          <a:xfrm>
            <a:off x="7269480" y="3127248"/>
            <a:ext cx="1133856" cy="2377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1190"/>
              <a:buFont typeface="Arial"/>
              <a:buNone/>
            </a:pPr>
            <a:r>
              <a:rPr b="0" i="0" lang="en-US" sz="1190" u="none" cap="none" strike="noStrike">
                <a:solidFill>
                  <a:srgbClr val="203447"/>
                </a:solidFill>
                <a:latin typeface="Arial"/>
                <a:ea typeface="Arial"/>
                <a:cs typeface="Arial"/>
                <a:sym typeface="Arial"/>
              </a:rPr>
              <a:t>RMSE</a:t>
            </a:r>
            <a:endParaRPr b="0" i="0" sz="1190" u="none" cap="none" strike="noStrike">
              <a:solidFill>
                <a:schemeClr val="dk1"/>
              </a:solidFill>
              <a:latin typeface="Arial"/>
              <a:ea typeface="Arial"/>
              <a:cs typeface="Arial"/>
              <a:sym typeface="Arial"/>
            </a:endParaRPr>
          </a:p>
        </p:txBody>
      </p:sp>
      <p:sp>
        <p:nvSpPr>
          <p:cNvPr id="534" name="Google Shape;534;p21"/>
          <p:cNvSpPr txBox="1"/>
          <p:nvPr/>
        </p:nvSpPr>
        <p:spPr>
          <a:xfrm>
            <a:off x="8339328" y="3127248"/>
            <a:ext cx="1078992" cy="237744"/>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397DA3"/>
              </a:buClr>
              <a:buSzPts val="1170"/>
              <a:buFont typeface="Arial"/>
              <a:buNone/>
            </a:pPr>
            <a:r>
              <a:rPr b="0" i="0" lang="en-US" sz="1170" u="none" cap="none" strike="noStrike">
                <a:solidFill>
                  <a:srgbClr val="397DA3"/>
                </a:solidFill>
                <a:latin typeface="Arial"/>
                <a:ea typeface="Arial"/>
                <a:cs typeface="Arial"/>
                <a:sym typeface="Arial"/>
              </a:rPr>
              <a:t>0.031927</a:t>
            </a:r>
            <a:endParaRPr b="0" i="0" sz="1170" u="none" cap="none" strike="noStrike">
              <a:solidFill>
                <a:schemeClr val="dk1"/>
              </a:solidFill>
              <a:latin typeface="Arial"/>
              <a:ea typeface="Arial"/>
              <a:cs typeface="Arial"/>
              <a:sym typeface="Arial"/>
            </a:endParaRPr>
          </a:p>
        </p:txBody>
      </p:sp>
      <p:sp>
        <p:nvSpPr>
          <p:cNvPr id="535" name="Google Shape;535;p21"/>
          <p:cNvSpPr txBox="1"/>
          <p:nvPr/>
        </p:nvSpPr>
        <p:spPr>
          <a:xfrm>
            <a:off x="9528048" y="3127248"/>
            <a:ext cx="1490472" cy="237744"/>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4E928B"/>
              </a:buClr>
              <a:buSzPts val="1170"/>
              <a:buFont typeface="Arial"/>
              <a:buNone/>
            </a:pPr>
            <a:r>
              <a:rPr b="1" i="0" lang="en-US" sz="1170" u="none" cap="none" strike="noStrike">
                <a:solidFill>
                  <a:srgbClr val="4E928B"/>
                </a:solidFill>
                <a:latin typeface="Arial"/>
                <a:ea typeface="Arial"/>
                <a:cs typeface="Arial"/>
                <a:sym typeface="Arial"/>
              </a:rPr>
              <a:t>0.029428</a:t>
            </a:r>
            <a:endParaRPr b="0" i="0" sz="1170" u="none" cap="none" strike="noStrike">
              <a:solidFill>
                <a:schemeClr val="dk1"/>
              </a:solidFill>
              <a:latin typeface="Arial"/>
              <a:ea typeface="Arial"/>
              <a:cs typeface="Arial"/>
              <a:sym typeface="Arial"/>
            </a:endParaRPr>
          </a:p>
        </p:txBody>
      </p:sp>
      <p:sp>
        <p:nvSpPr>
          <p:cNvPr id="536" name="Google Shape;536;p21"/>
          <p:cNvSpPr txBox="1"/>
          <p:nvPr/>
        </p:nvSpPr>
        <p:spPr>
          <a:xfrm>
            <a:off x="7269480" y="3538728"/>
            <a:ext cx="1133856" cy="2377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1190"/>
              <a:buFont typeface="Arial"/>
              <a:buNone/>
            </a:pPr>
            <a:r>
              <a:rPr b="0" i="0" lang="en-US" sz="1190" u="none" cap="none" strike="noStrike">
                <a:solidFill>
                  <a:srgbClr val="203447"/>
                </a:solidFill>
                <a:latin typeface="Arial"/>
                <a:ea typeface="Arial"/>
                <a:cs typeface="Arial"/>
                <a:sym typeface="Arial"/>
              </a:rPr>
              <a:t>MAE</a:t>
            </a:r>
            <a:endParaRPr b="0" i="0" sz="1190" u="none" cap="none" strike="noStrike">
              <a:solidFill>
                <a:schemeClr val="dk1"/>
              </a:solidFill>
              <a:latin typeface="Arial"/>
              <a:ea typeface="Arial"/>
              <a:cs typeface="Arial"/>
              <a:sym typeface="Arial"/>
            </a:endParaRPr>
          </a:p>
        </p:txBody>
      </p:sp>
      <p:sp>
        <p:nvSpPr>
          <p:cNvPr id="537" name="Google Shape;537;p21"/>
          <p:cNvSpPr txBox="1"/>
          <p:nvPr/>
        </p:nvSpPr>
        <p:spPr>
          <a:xfrm>
            <a:off x="8339328" y="3538728"/>
            <a:ext cx="1078992" cy="237744"/>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397DA3"/>
              </a:buClr>
              <a:buSzPts val="1170"/>
              <a:buFont typeface="Arial"/>
              <a:buNone/>
            </a:pPr>
            <a:r>
              <a:rPr b="0" i="0" lang="en-US" sz="1170" u="none" cap="none" strike="noStrike">
                <a:solidFill>
                  <a:srgbClr val="397DA3"/>
                </a:solidFill>
                <a:latin typeface="Arial"/>
                <a:ea typeface="Arial"/>
                <a:cs typeface="Arial"/>
                <a:sym typeface="Arial"/>
              </a:rPr>
              <a:t>0.025379</a:t>
            </a:r>
            <a:endParaRPr b="0" i="0" sz="1170" u="none" cap="none" strike="noStrike">
              <a:solidFill>
                <a:schemeClr val="dk1"/>
              </a:solidFill>
              <a:latin typeface="Arial"/>
              <a:ea typeface="Arial"/>
              <a:cs typeface="Arial"/>
              <a:sym typeface="Arial"/>
            </a:endParaRPr>
          </a:p>
        </p:txBody>
      </p:sp>
      <p:sp>
        <p:nvSpPr>
          <p:cNvPr id="538" name="Google Shape;538;p21"/>
          <p:cNvSpPr txBox="1"/>
          <p:nvPr/>
        </p:nvSpPr>
        <p:spPr>
          <a:xfrm>
            <a:off x="9528048" y="3538728"/>
            <a:ext cx="1490472" cy="237744"/>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4E928B"/>
              </a:buClr>
              <a:buSzPts val="1170"/>
              <a:buFont typeface="Arial"/>
              <a:buNone/>
            </a:pPr>
            <a:r>
              <a:rPr b="1" i="0" lang="en-US" sz="1170" u="none" cap="none" strike="noStrike">
                <a:solidFill>
                  <a:srgbClr val="4E928B"/>
                </a:solidFill>
                <a:latin typeface="Arial"/>
                <a:ea typeface="Arial"/>
                <a:cs typeface="Arial"/>
                <a:sym typeface="Arial"/>
              </a:rPr>
              <a:t>0.023137</a:t>
            </a:r>
            <a:endParaRPr b="0" i="0" sz="1170" u="none" cap="none" strike="noStrike">
              <a:solidFill>
                <a:schemeClr val="dk1"/>
              </a:solidFill>
              <a:latin typeface="Arial"/>
              <a:ea typeface="Arial"/>
              <a:cs typeface="Arial"/>
              <a:sym typeface="Arial"/>
            </a:endParaRPr>
          </a:p>
        </p:txBody>
      </p:sp>
      <p:sp>
        <p:nvSpPr>
          <p:cNvPr id="539" name="Google Shape;539;p21"/>
          <p:cNvSpPr txBox="1"/>
          <p:nvPr/>
        </p:nvSpPr>
        <p:spPr>
          <a:xfrm>
            <a:off x="7269480" y="3950208"/>
            <a:ext cx="1133856" cy="2377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1190"/>
              <a:buFont typeface="Arial"/>
              <a:buNone/>
            </a:pPr>
            <a:r>
              <a:rPr b="0" i="0" lang="en-US" sz="1190" u="none" cap="none" strike="noStrike">
                <a:solidFill>
                  <a:srgbClr val="203447"/>
                </a:solidFill>
                <a:latin typeface="Arial"/>
                <a:ea typeface="Arial"/>
                <a:cs typeface="Arial"/>
                <a:sym typeface="Arial"/>
              </a:rPr>
              <a:t>NRMSE</a:t>
            </a:r>
            <a:endParaRPr b="0" i="0" sz="1190" u="none" cap="none" strike="noStrike">
              <a:solidFill>
                <a:schemeClr val="dk1"/>
              </a:solidFill>
              <a:latin typeface="Arial"/>
              <a:ea typeface="Arial"/>
              <a:cs typeface="Arial"/>
              <a:sym typeface="Arial"/>
            </a:endParaRPr>
          </a:p>
        </p:txBody>
      </p:sp>
      <p:sp>
        <p:nvSpPr>
          <p:cNvPr id="540" name="Google Shape;540;p21"/>
          <p:cNvSpPr txBox="1"/>
          <p:nvPr/>
        </p:nvSpPr>
        <p:spPr>
          <a:xfrm>
            <a:off x="8339328" y="3950208"/>
            <a:ext cx="1078992" cy="237744"/>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397DA3"/>
              </a:buClr>
              <a:buSzPts val="1170"/>
              <a:buFont typeface="Arial"/>
              <a:buNone/>
            </a:pPr>
            <a:r>
              <a:rPr b="0" i="0" lang="en-US" sz="1170" u="none" cap="none" strike="noStrike">
                <a:solidFill>
                  <a:srgbClr val="397DA3"/>
                </a:solidFill>
                <a:latin typeface="Arial"/>
                <a:ea typeface="Arial"/>
                <a:cs typeface="Arial"/>
                <a:sym typeface="Arial"/>
              </a:rPr>
              <a:t>0.052773</a:t>
            </a:r>
            <a:endParaRPr b="0" i="0" sz="1170" u="none" cap="none" strike="noStrike">
              <a:solidFill>
                <a:schemeClr val="dk1"/>
              </a:solidFill>
              <a:latin typeface="Arial"/>
              <a:ea typeface="Arial"/>
              <a:cs typeface="Arial"/>
              <a:sym typeface="Arial"/>
            </a:endParaRPr>
          </a:p>
        </p:txBody>
      </p:sp>
      <p:sp>
        <p:nvSpPr>
          <p:cNvPr id="541" name="Google Shape;541;p21"/>
          <p:cNvSpPr txBox="1"/>
          <p:nvPr/>
        </p:nvSpPr>
        <p:spPr>
          <a:xfrm>
            <a:off x="9528048" y="3950208"/>
            <a:ext cx="1490472" cy="237744"/>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4E928B"/>
              </a:buClr>
              <a:buSzPts val="1170"/>
              <a:buFont typeface="Arial"/>
              <a:buNone/>
            </a:pPr>
            <a:r>
              <a:rPr b="1" i="0" lang="en-US" sz="1170" u="none" cap="none" strike="noStrike">
                <a:solidFill>
                  <a:srgbClr val="4E928B"/>
                </a:solidFill>
                <a:latin typeface="Arial"/>
                <a:ea typeface="Arial"/>
                <a:cs typeface="Arial"/>
                <a:sym typeface="Arial"/>
              </a:rPr>
              <a:t>0.048641</a:t>
            </a:r>
            <a:endParaRPr b="0" i="0" sz="1170" u="none" cap="none" strike="noStrike">
              <a:solidFill>
                <a:schemeClr val="dk1"/>
              </a:solidFill>
              <a:latin typeface="Arial"/>
              <a:ea typeface="Arial"/>
              <a:cs typeface="Arial"/>
              <a:sym typeface="Arial"/>
            </a:endParaRPr>
          </a:p>
        </p:txBody>
      </p:sp>
      <p:sp>
        <p:nvSpPr>
          <p:cNvPr id="542" name="Google Shape;542;p21"/>
          <p:cNvSpPr txBox="1"/>
          <p:nvPr/>
        </p:nvSpPr>
        <p:spPr>
          <a:xfrm>
            <a:off x="7269480" y="4361688"/>
            <a:ext cx="1133856" cy="2377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1190"/>
              <a:buFont typeface="Arial"/>
              <a:buNone/>
            </a:pPr>
            <a:r>
              <a:rPr b="0" i="0" lang="en-US" sz="1190" u="none" cap="none" strike="noStrike">
                <a:solidFill>
                  <a:srgbClr val="203447"/>
                </a:solidFill>
                <a:latin typeface="Arial"/>
                <a:ea typeface="Arial"/>
                <a:cs typeface="Arial"/>
                <a:sym typeface="Arial"/>
              </a:rPr>
              <a:t>PRD</a:t>
            </a:r>
            <a:endParaRPr b="0" i="0" sz="1190" u="none" cap="none" strike="noStrike">
              <a:solidFill>
                <a:schemeClr val="dk1"/>
              </a:solidFill>
              <a:latin typeface="Arial"/>
              <a:ea typeface="Arial"/>
              <a:cs typeface="Arial"/>
              <a:sym typeface="Arial"/>
            </a:endParaRPr>
          </a:p>
        </p:txBody>
      </p:sp>
      <p:sp>
        <p:nvSpPr>
          <p:cNvPr id="543" name="Google Shape;543;p21"/>
          <p:cNvSpPr txBox="1"/>
          <p:nvPr/>
        </p:nvSpPr>
        <p:spPr>
          <a:xfrm>
            <a:off x="8339328" y="4361688"/>
            <a:ext cx="1078992" cy="237744"/>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397DA3"/>
              </a:buClr>
              <a:buSzPts val="1170"/>
              <a:buFont typeface="Arial"/>
              <a:buNone/>
            </a:pPr>
            <a:r>
              <a:rPr b="0" i="0" lang="en-US" sz="1170" u="none" cap="none" strike="noStrike">
                <a:solidFill>
                  <a:srgbClr val="397DA3"/>
                </a:solidFill>
                <a:latin typeface="Arial"/>
                <a:ea typeface="Arial"/>
                <a:cs typeface="Arial"/>
                <a:sym typeface="Arial"/>
              </a:rPr>
              <a:t>31.00%</a:t>
            </a:r>
            <a:endParaRPr b="0" i="0" sz="1170" u="none" cap="none" strike="noStrike">
              <a:solidFill>
                <a:schemeClr val="dk1"/>
              </a:solidFill>
              <a:latin typeface="Arial"/>
              <a:ea typeface="Arial"/>
              <a:cs typeface="Arial"/>
              <a:sym typeface="Arial"/>
            </a:endParaRPr>
          </a:p>
        </p:txBody>
      </p:sp>
      <p:sp>
        <p:nvSpPr>
          <p:cNvPr id="544" name="Google Shape;544;p21"/>
          <p:cNvSpPr txBox="1"/>
          <p:nvPr/>
        </p:nvSpPr>
        <p:spPr>
          <a:xfrm>
            <a:off x="9528048" y="4361688"/>
            <a:ext cx="1490472" cy="237744"/>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4E928B"/>
              </a:buClr>
              <a:buSzPts val="1170"/>
              <a:buFont typeface="Arial"/>
              <a:buNone/>
            </a:pPr>
            <a:r>
              <a:rPr b="1" i="0" lang="en-US" sz="1170" u="none" cap="none" strike="noStrike">
                <a:solidFill>
                  <a:srgbClr val="4E928B"/>
                </a:solidFill>
                <a:latin typeface="Arial"/>
                <a:ea typeface="Arial"/>
                <a:cs typeface="Arial"/>
                <a:sym typeface="Arial"/>
              </a:rPr>
              <a:t>28.57%</a:t>
            </a:r>
            <a:endParaRPr b="0" i="0" sz="1170" u="none" cap="none" strike="noStrike">
              <a:solidFill>
                <a:schemeClr val="dk1"/>
              </a:solidFill>
              <a:latin typeface="Arial"/>
              <a:ea typeface="Arial"/>
              <a:cs typeface="Arial"/>
              <a:sym typeface="Arial"/>
            </a:endParaRPr>
          </a:p>
        </p:txBody>
      </p:sp>
      <p:sp>
        <p:nvSpPr>
          <p:cNvPr id="545" name="Google Shape;545;p21"/>
          <p:cNvSpPr txBox="1"/>
          <p:nvPr/>
        </p:nvSpPr>
        <p:spPr>
          <a:xfrm>
            <a:off x="7269480" y="4773168"/>
            <a:ext cx="1133856" cy="2377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1190"/>
              <a:buFont typeface="Arial"/>
              <a:buNone/>
            </a:pPr>
            <a:r>
              <a:rPr b="0" i="0" lang="en-US" sz="1190" u="none" cap="none" strike="noStrike">
                <a:solidFill>
                  <a:srgbClr val="203447"/>
                </a:solidFill>
                <a:latin typeface="Arial"/>
                <a:ea typeface="Arial"/>
                <a:cs typeface="Arial"/>
                <a:sym typeface="Arial"/>
              </a:rPr>
              <a:t>Correlation</a:t>
            </a:r>
            <a:endParaRPr b="0" i="0" sz="1190" u="none" cap="none" strike="noStrike">
              <a:solidFill>
                <a:schemeClr val="dk1"/>
              </a:solidFill>
              <a:latin typeface="Arial"/>
              <a:ea typeface="Arial"/>
              <a:cs typeface="Arial"/>
              <a:sym typeface="Arial"/>
            </a:endParaRPr>
          </a:p>
        </p:txBody>
      </p:sp>
      <p:sp>
        <p:nvSpPr>
          <p:cNvPr id="546" name="Google Shape;546;p21"/>
          <p:cNvSpPr txBox="1"/>
          <p:nvPr/>
        </p:nvSpPr>
        <p:spPr>
          <a:xfrm>
            <a:off x="8339328" y="4773168"/>
            <a:ext cx="1078992" cy="237744"/>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397DA3"/>
              </a:buClr>
              <a:buSzPts val="1170"/>
              <a:buFont typeface="Arial"/>
              <a:buNone/>
            </a:pPr>
            <a:r>
              <a:rPr b="0" i="0" lang="en-US" sz="1170" u="none" cap="none" strike="noStrike">
                <a:solidFill>
                  <a:srgbClr val="397DA3"/>
                </a:solidFill>
                <a:latin typeface="Arial"/>
                <a:ea typeface="Arial"/>
                <a:cs typeface="Arial"/>
                <a:sym typeface="Arial"/>
              </a:rPr>
              <a:t>0.954355</a:t>
            </a:r>
            <a:endParaRPr b="0" i="0" sz="1170" u="none" cap="none" strike="noStrike">
              <a:solidFill>
                <a:schemeClr val="dk1"/>
              </a:solidFill>
              <a:latin typeface="Arial"/>
              <a:ea typeface="Arial"/>
              <a:cs typeface="Arial"/>
              <a:sym typeface="Arial"/>
            </a:endParaRPr>
          </a:p>
        </p:txBody>
      </p:sp>
      <p:sp>
        <p:nvSpPr>
          <p:cNvPr id="547" name="Google Shape;547;p21"/>
          <p:cNvSpPr txBox="1"/>
          <p:nvPr/>
        </p:nvSpPr>
        <p:spPr>
          <a:xfrm>
            <a:off x="9528048" y="4773168"/>
            <a:ext cx="1490472" cy="237744"/>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4E928B"/>
              </a:buClr>
              <a:buSzPts val="1170"/>
              <a:buFont typeface="Arial"/>
              <a:buNone/>
            </a:pPr>
            <a:r>
              <a:rPr b="1" i="0" lang="en-US" sz="1170" u="none" cap="none" strike="noStrike">
                <a:solidFill>
                  <a:srgbClr val="4E928B"/>
                </a:solidFill>
                <a:latin typeface="Arial"/>
                <a:ea typeface="Arial"/>
                <a:cs typeface="Arial"/>
                <a:sym typeface="Arial"/>
              </a:rPr>
              <a:t>0.958178</a:t>
            </a:r>
            <a:endParaRPr b="0" i="0" sz="1170" u="none" cap="none" strike="noStrike">
              <a:solidFill>
                <a:schemeClr val="dk1"/>
              </a:solidFill>
              <a:latin typeface="Arial"/>
              <a:ea typeface="Arial"/>
              <a:cs typeface="Arial"/>
              <a:sym typeface="Arial"/>
            </a:endParaRPr>
          </a:p>
        </p:txBody>
      </p:sp>
      <p:sp>
        <p:nvSpPr>
          <p:cNvPr id="548" name="Google Shape;548;p21"/>
          <p:cNvSpPr txBox="1"/>
          <p:nvPr/>
        </p:nvSpPr>
        <p:spPr>
          <a:xfrm>
            <a:off x="7260336" y="5431536"/>
            <a:ext cx="4023360" cy="4937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03447"/>
              </a:buClr>
              <a:buSzPts val="1180"/>
              <a:buFont typeface="Arial"/>
              <a:buNone/>
            </a:pPr>
            <a:r>
              <a:rPr b="1" i="0" lang="en-US" sz="1180" u="none" cap="none" strike="noStrike">
                <a:solidFill>
                  <a:srgbClr val="203447"/>
                </a:solidFill>
                <a:latin typeface="Arial"/>
                <a:ea typeface="Arial"/>
                <a:cs typeface="Arial"/>
                <a:sym typeface="Arial"/>
              </a:rPr>
              <a:t>Errors fall slightly; correlation rises slightly. Improvement is measurable, but modest.</a:t>
            </a:r>
            <a:endParaRPr b="0" i="0" sz="1180" u="none" cap="none" strike="noStrike">
              <a:solidFill>
                <a:schemeClr val="dk1"/>
              </a:solidFill>
              <a:latin typeface="Arial"/>
              <a:ea typeface="Arial"/>
              <a:cs typeface="Arial"/>
              <a:sym typeface="Arial"/>
            </a:endParaRPr>
          </a:p>
        </p:txBody>
      </p:sp>
      <p:sp>
        <p:nvSpPr>
          <p:cNvPr id="549" name="Google Shape;549;p21"/>
          <p:cNvSpPr txBox="1"/>
          <p:nvPr>
            <p:ph idx="4294967295" type="sldNum"/>
          </p:nvPr>
        </p:nvSpPr>
        <p:spPr>
          <a:xfrm>
            <a:off x="11338560" y="653796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800" u="none" cap="none" strike="noStrike">
                <a:solidFill>
                  <a:srgbClr val="7A858D"/>
                </a:solidFill>
                <a:latin typeface="Arial"/>
                <a:ea typeface="Arial"/>
                <a:cs typeface="Arial"/>
                <a:sym typeface="Arial"/>
              </a:rPr>
              <a:t>‹#›</a:t>
            </a:fld>
            <a:endParaRPr b="0" i="0" sz="800" u="none" cap="none" strike="noStrike">
              <a:solidFill>
                <a:srgbClr val="7A858D"/>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554" name="Shape 554"/>
        <p:cNvGrpSpPr/>
        <p:nvPr/>
      </p:nvGrpSpPr>
      <p:grpSpPr>
        <a:xfrm>
          <a:off x="0" y="0"/>
          <a:ext cx="0" cy="0"/>
          <a:chOff x="0" y="0"/>
          <a:chExt cx="0" cy="0"/>
        </a:xfrm>
      </p:grpSpPr>
      <p:sp>
        <p:nvSpPr>
          <p:cNvPr id="555" name="Google Shape;555;p22"/>
          <p:cNvSpPr/>
          <p:nvPr/>
        </p:nvSpPr>
        <p:spPr>
          <a:xfrm>
            <a:off x="9646920" y="274320"/>
            <a:ext cx="2084832" cy="310896"/>
          </a:xfrm>
          <a:prstGeom prst="roundRect">
            <a:avLst>
              <a:gd fmla="val 29412" name="adj"/>
            </a:avLst>
          </a:prstGeom>
          <a:solidFill>
            <a:srgbClr val="EAF2F5"/>
          </a:solidFill>
          <a:ln cap="flat" cmpd="sng" w="9525">
            <a:solidFill>
              <a:srgbClr val="EAF2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2"/>
          <p:cNvSpPr txBox="1"/>
          <p:nvPr/>
        </p:nvSpPr>
        <p:spPr>
          <a:xfrm>
            <a:off x="9710928" y="310896"/>
            <a:ext cx="1956816" cy="21945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397DA3"/>
              </a:buClr>
              <a:buSzPts val="850"/>
              <a:buFont typeface="Arial"/>
              <a:buNone/>
            </a:pPr>
            <a:r>
              <a:rPr b="1" i="0" lang="en-US" sz="850" u="none" cap="none" strike="noStrike">
                <a:solidFill>
                  <a:srgbClr val="397DA3"/>
                </a:solidFill>
                <a:latin typeface="Arial"/>
                <a:ea typeface="Arial"/>
                <a:cs typeface="Arial"/>
                <a:sym typeface="Arial"/>
              </a:rPr>
              <a:t>PPG</a:t>
            </a:r>
            <a:endParaRPr b="0" i="0" sz="850" u="none" cap="none" strike="noStrike">
              <a:solidFill>
                <a:schemeClr val="dk1"/>
              </a:solidFill>
              <a:latin typeface="Arial"/>
              <a:ea typeface="Arial"/>
              <a:cs typeface="Arial"/>
              <a:sym typeface="Arial"/>
            </a:endParaRPr>
          </a:p>
        </p:txBody>
      </p:sp>
      <p:sp>
        <p:nvSpPr>
          <p:cNvPr id="557" name="Google Shape;557;p22"/>
          <p:cNvSpPr txBox="1"/>
          <p:nvPr/>
        </p:nvSpPr>
        <p:spPr>
          <a:xfrm>
            <a:off x="438912" y="292608"/>
            <a:ext cx="896112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2700"/>
              <a:buFont typeface="Play"/>
              <a:buNone/>
            </a:pPr>
            <a:r>
              <a:rPr b="1" i="0" lang="en-US" sz="2700" u="none" cap="none" strike="noStrike">
                <a:solidFill>
                  <a:srgbClr val="203447"/>
                </a:solidFill>
                <a:latin typeface="Play"/>
                <a:ea typeface="Play"/>
                <a:cs typeface="Play"/>
                <a:sym typeface="Play"/>
              </a:rPr>
              <a:t>A PPG example: DWT and CWT side by side</a:t>
            </a:r>
            <a:endParaRPr b="0" i="0" sz="2700" u="none" cap="none" strike="noStrike">
              <a:solidFill>
                <a:schemeClr val="dk1"/>
              </a:solidFill>
              <a:latin typeface="Arial"/>
              <a:ea typeface="Arial"/>
              <a:cs typeface="Arial"/>
              <a:sym typeface="Arial"/>
            </a:endParaRPr>
          </a:p>
        </p:txBody>
      </p:sp>
      <p:sp>
        <p:nvSpPr>
          <p:cNvPr id="558" name="Google Shape;558;p22"/>
          <p:cNvSpPr txBox="1"/>
          <p:nvPr/>
        </p:nvSpPr>
        <p:spPr>
          <a:xfrm>
            <a:off x="457200" y="804672"/>
            <a:ext cx="11064240" cy="32918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1717D"/>
              </a:buClr>
              <a:buSzPts val="1250"/>
              <a:buFont typeface="Arial"/>
              <a:buNone/>
            </a:pPr>
            <a:r>
              <a:rPr b="0" i="0" lang="en-US" sz="1250" u="none" cap="none" strike="noStrike">
                <a:solidFill>
                  <a:srgbClr val="61717D"/>
                </a:solidFill>
                <a:latin typeface="Arial"/>
                <a:ea typeface="Arial"/>
                <a:cs typeface="Arial"/>
                <a:sym typeface="Arial"/>
              </a:rPr>
              <a:t>Same signal, two different ways to inspect its structure</a:t>
            </a:r>
            <a:endParaRPr b="0" i="0" sz="1250" u="none" cap="none" strike="noStrike">
              <a:solidFill>
                <a:schemeClr val="dk1"/>
              </a:solidFill>
              <a:latin typeface="Arial"/>
              <a:ea typeface="Arial"/>
              <a:cs typeface="Arial"/>
              <a:sym typeface="Arial"/>
            </a:endParaRPr>
          </a:p>
        </p:txBody>
      </p:sp>
      <p:cxnSp>
        <p:nvCxnSpPr>
          <p:cNvPr id="559" name="Google Shape;559;p22"/>
          <p:cNvCxnSpPr/>
          <p:nvPr/>
        </p:nvCxnSpPr>
        <p:spPr>
          <a:xfrm>
            <a:off x="438912" y="1197864"/>
            <a:ext cx="11292840" cy="0"/>
          </a:xfrm>
          <a:prstGeom prst="straightConnector1">
            <a:avLst/>
          </a:prstGeom>
          <a:noFill/>
          <a:ln cap="flat" cmpd="sng" w="22850">
            <a:solidFill>
              <a:srgbClr val="4E928B"/>
            </a:solidFill>
            <a:prstDash val="solid"/>
            <a:round/>
            <a:headEnd len="sm" w="sm" type="none"/>
            <a:tailEnd len="sm" w="sm" type="none"/>
          </a:ln>
        </p:spPr>
      </p:cxnSp>
      <p:sp>
        <p:nvSpPr>
          <p:cNvPr id="560" name="Google Shape;560;p22"/>
          <p:cNvSpPr txBox="1"/>
          <p:nvPr/>
        </p:nvSpPr>
        <p:spPr>
          <a:xfrm>
            <a:off x="594360" y="1344168"/>
            <a:ext cx="5166360" cy="29260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397DA3"/>
              </a:buClr>
              <a:buSzPts val="1500"/>
              <a:buFont typeface="Arial"/>
              <a:buNone/>
            </a:pPr>
            <a:r>
              <a:rPr b="1" i="0" lang="en-US" sz="1500" u="none" cap="none" strike="noStrike">
                <a:solidFill>
                  <a:srgbClr val="397DA3"/>
                </a:solidFill>
                <a:latin typeface="Arial"/>
                <a:ea typeface="Arial"/>
                <a:cs typeface="Arial"/>
                <a:sym typeface="Arial"/>
              </a:rPr>
              <a:t>DWT: approximation and detail scales</a:t>
            </a:r>
            <a:endParaRPr b="0" i="0" sz="1500" u="none" cap="none" strike="noStrike">
              <a:solidFill>
                <a:schemeClr val="dk1"/>
              </a:solidFill>
              <a:latin typeface="Arial"/>
              <a:ea typeface="Arial"/>
              <a:cs typeface="Arial"/>
              <a:sym typeface="Arial"/>
            </a:endParaRPr>
          </a:p>
        </p:txBody>
      </p:sp>
      <p:sp>
        <p:nvSpPr>
          <p:cNvPr id="561" name="Google Shape;561;p22"/>
          <p:cNvSpPr txBox="1"/>
          <p:nvPr/>
        </p:nvSpPr>
        <p:spPr>
          <a:xfrm>
            <a:off x="6309360" y="1344168"/>
            <a:ext cx="5257800" cy="29260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4E928B"/>
              </a:buClr>
              <a:buSzPts val="1500"/>
              <a:buFont typeface="Arial"/>
              <a:buNone/>
            </a:pPr>
            <a:r>
              <a:rPr b="1" i="0" lang="en-US" sz="1500" u="none" cap="none" strike="noStrike">
                <a:solidFill>
                  <a:srgbClr val="4E928B"/>
                </a:solidFill>
                <a:latin typeface="Arial"/>
                <a:ea typeface="Arial"/>
                <a:cs typeface="Arial"/>
                <a:sym typeface="Arial"/>
              </a:rPr>
              <a:t>CWT: how activity changes over time and frequency</a:t>
            </a:r>
            <a:endParaRPr b="0" i="0" sz="1500" u="none" cap="none" strike="noStrike">
              <a:solidFill>
                <a:schemeClr val="dk1"/>
              </a:solidFill>
              <a:latin typeface="Arial"/>
              <a:ea typeface="Arial"/>
              <a:cs typeface="Arial"/>
              <a:sym typeface="Arial"/>
            </a:endParaRPr>
          </a:p>
        </p:txBody>
      </p:sp>
      <p:sp>
        <p:nvSpPr>
          <p:cNvPr id="562" name="Google Shape;562;p22"/>
          <p:cNvSpPr/>
          <p:nvPr/>
        </p:nvSpPr>
        <p:spPr>
          <a:xfrm>
            <a:off x="438912" y="1700784"/>
            <a:ext cx="5577840" cy="4069080"/>
          </a:xfrm>
          <a:prstGeom prst="roundRect">
            <a:avLst>
              <a:gd fmla="val 1798" name="adj"/>
            </a:avLst>
          </a:prstGeom>
          <a:solidFill>
            <a:srgbClr val="FFFFFF"/>
          </a:solidFill>
          <a:ln cap="flat" cmpd="sng" w="10150">
            <a:solidFill>
              <a:srgbClr val="DD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nt/data/image(20261021-201313).png" id="563" name="Google Shape;563;p22"/>
          <p:cNvPicPr preferRelativeResize="0"/>
          <p:nvPr/>
        </p:nvPicPr>
        <p:blipFill rotWithShape="1">
          <a:blip r:embed="rId3">
            <a:alphaModFix/>
          </a:blip>
          <a:srcRect b="0" l="0" r="0" t="0"/>
          <a:stretch/>
        </p:blipFill>
        <p:spPr>
          <a:xfrm>
            <a:off x="475488" y="1908138"/>
            <a:ext cx="5504688" cy="3654373"/>
          </a:xfrm>
          <a:prstGeom prst="rect">
            <a:avLst/>
          </a:prstGeom>
          <a:noFill/>
          <a:ln>
            <a:noFill/>
          </a:ln>
        </p:spPr>
      </p:pic>
      <p:sp>
        <p:nvSpPr>
          <p:cNvPr id="564" name="Google Shape;564;p22"/>
          <p:cNvSpPr/>
          <p:nvPr/>
        </p:nvSpPr>
        <p:spPr>
          <a:xfrm>
            <a:off x="6199632" y="1700784"/>
            <a:ext cx="5550408" cy="4069080"/>
          </a:xfrm>
          <a:prstGeom prst="roundRect">
            <a:avLst>
              <a:gd fmla="val 1798" name="adj"/>
            </a:avLst>
          </a:prstGeom>
          <a:solidFill>
            <a:srgbClr val="FFFFFF"/>
          </a:solidFill>
          <a:ln cap="flat" cmpd="sng" w="10150">
            <a:solidFill>
              <a:srgbClr val="DD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nt/data/image(20261021-201320).png" id="565" name="Google Shape;565;p22"/>
          <p:cNvPicPr preferRelativeResize="0"/>
          <p:nvPr/>
        </p:nvPicPr>
        <p:blipFill rotWithShape="1">
          <a:blip r:embed="rId4">
            <a:alphaModFix/>
          </a:blip>
          <a:srcRect b="0" l="0" r="0" t="0"/>
          <a:stretch/>
        </p:blipFill>
        <p:spPr>
          <a:xfrm>
            <a:off x="6236208" y="2123760"/>
            <a:ext cx="5477256" cy="3223128"/>
          </a:xfrm>
          <a:prstGeom prst="rect">
            <a:avLst/>
          </a:prstGeom>
          <a:noFill/>
          <a:ln>
            <a:noFill/>
          </a:ln>
        </p:spPr>
      </p:pic>
      <p:sp>
        <p:nvSpPr>
          <p:cNvPr id="566" name="Google Shape;566;p22"/>
          <p:cNvSpPr txBox="1"/>
          <p:nvPr/>
        </p:nvSpPr>
        <p:spPr>
          <a:xfrm>
            <a:off x="658368" y="5870448"/>
            <a:ext cx="5148072"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397DA3"/>
              </a:buClr>
              <a:buSzPts val="1180"/>
              <a:buFont typeface="Arial"/>
              <a:buNone/>
            </a:pPr>
            <a:r>
              <a:rPr b="1" i="0" lang="en-US" sz="1180" u="none" cap="none" strike="noStrike">
                <a:solidFill>
                  <a:srgbClr val="397DA3"/>
                </a:solidFill>
                <a:latin typeface="Arial"/>
                <a:ea typeface="Arial"/>
                <a:cs typeface="Arial"/>
                <a:sym typeface="Arial"/>
              </a:rPr>
              <a:t>For this segment, relative energy was concentrated in A3 (99.12%).</a:t>
            </a:r>
            <a:endParaRPr b="0" i="0" sz="1180" u="none" cap="none" strike="noStrike">
              <a:solidFill>
                <a:schemeClr val="dk1"/>
              </a:solidFill>
              <a:latin typeface="Arial"/>
              <a:ea typeface="Arial"/>
              <a:cs typeface="Arial"/>
              <a:sym typeface="Arial"/>
            </a:endParaRPr>
          </a:p>
        </p:txBody>
      </p:sp>
      <p:sp>
        <p:nvSpPr>
          <p:cNvPr id="567" name="Google Shape;567;p22"/>
          <p:cNvSpPr txBox="1"/>
          <p:nvPr/>
        </p:nvSpPr>
        <p:spPr>
          <a:xfrm>
            <a:off x="6355080" y="5870448"/>
            <a:ext cx="5148072"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4E928B"/>
              </a:buClr>
              <a:buSzPts val="1180"/>
              <a:buFont typeface="Arial"/>
              <a:buNone/>
            </a:pPr>
            <a:r>
              <a:rPr b="1" i="0" lang="en-US" sz="1180" u="none" cap="none" strike="noStrike">
                <a:solidFill>
                  <a:srgbClr val="4E928B"/>
                </a:solidFill>
                <a:latin typeface="Arial"/>
                <a:ea typeface="Arial"/>
                <a:cs typeface="Arial"/>
                <a:sym typeface="Arial"/>
              </a:rPr>
              <a:t>The scalogram shows most visible activity at lower frequencies.</a:t>
            </a:r>
            <a:endParaRPr b="0" i="0" sz="1180" u="none" cap="none" strike="noStrike">
              <a:solidFill>
                <a:schemeClr val="dk1"/>
              </a:solidFill>
              <a:latin typeface="Arial"/>
              <a:ea typeface="Arial"/>
              <a:cs typeface="Arial"/>
              <a:sym typeface="Arial"/>
            </a:endParaRPr>
          </a:p>
        </p:txBody>
      </p:sp>
      <p:sp>
        <p:nvSpPr>
          <p:cNvPr id="568" name="Google Shape;568;p22"/>
          <p:cNvSpPr txBox="1"/>
          <p:nvPr>
            <p:ph idx="4294967295" type="sldNum"/>
          </p:nvPr>
        </p:nvSpPr>
        <p:spPr>
          <a:xfrm>
            <a:off x="11338560" y="653796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800" u="none" cap="none" strike="noStrike">
                <a:solidFill>
                  <a:srgbClr val="7A858D"/>
                </a:solidFill>
                <a:latin typeface="Arial"/>
                <a:ea typeface="Arial"/>
                <a:cs typeface="Arial"/>
                <a:sym typeface="Arial"/>
              </a:rPr>
              <a:t>‹#›</a:t>
            </a:fld>
            <a:endParaRPr b="0" i="0" sz="800" u="none" cap="none" strike="noStrike">
              <a:solidFill>
                <a:srgbClr val="7A858D"/>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573" name="Shape 573"/>
        <p:cNvGrpSpPr/>
        <p:nvPr/>
      </p:nvGrpSpPr>
      <p:grpSpPr>
        <a:xfrm>
          <a:off x="0" y="0"/>
          <a:ext cx="0" cy="0"/>
          <a:chOff x="0" y="0"/>
          <a:chExt cx="0" cy="0"/>
        </a:xfrm>
      </p:grpSpPr>
      <p:sp>
        <p:nvSpPr>
          <p:cNvPr id="574" name="Google Shape;574;p23"/>
          <p:cNvSpPr/>
          <p:nvPr/>
        </p:nvSpPr>
        <p:spPr>
          <a:xfrm>
            <a:off x="9646920" y="274320"/>
            <a:ext cx="2084832" cy="310896"/>
          </a:xfrm>
          <a:prstGeom prst="roundRect">
            <a:avLst>
              <a:gd fmla="val 29412" name="adj"/>
            </a:avLst>
          </a:prstGeom>
          <a:solidFill>
            <a:srgbClr val="EAF2F5"/>
          </a:solidFill>
          <a:ln cap="flat" cmpd="sng" w="9525">
            <a:solidFill>
              <a:srgbClr val="EAF2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23"/>
          <p:cNvSpPr txBox="1"/>
          <p:nvPr/>
        </p:nvSpPr>
        <p:spPr>
          <a:xfrm>
            <a:off x="9710928" y="310896"/>
            <a:ext cx="1956816" cy="21945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397DA3"/>
              </a:buClr>
              <a:buSzPts val="850"/>
              <a:buFont typeface="Arial"/>
              <a:buNone/>
            </a:pPr>
            <a:r>
              <a:rPr b="1" i="0" lang="en-US" sz="850" u="none" cap="none" strike="noStrike">
                <a:solidFill>
                  <a:srgbClr val="397DA3"/>
                </a:solidFill>
                <a:latin typeface="Arial"/>
                <a:ea typeface="Arial"/>
                <a:cs typeface="Arial"/>
                <a:sym typeface="Arial"/>
              </a:rPr>
              <a:t>10-RECORD EXPERIMENT</a:t>
            </a:r>
            <a:endParaRPr b="0" i="0" sz="850" u="none" cap="none" strike="noStrike">
              <a:solidFill>
                <a:schemeClr val="dk1"/>
              </a:solidFill>
              <a:latin typeface="Arial"/>
              <a:ea typeface="Arial"/>
              <a:cs typeface="Arial"/>
              <a:sym typeface="Arial"/>
            </a:endParaRPr>
          </a:p>
        </p:txBody>
      </p:sp>
      <p:sp>
        <p:nvSpPr>
          <p:cNvPr id="576" name="Google Shape;576;p23"/>
          <p:cNvSpPr txBox="1"/>
          <p:nvPr/>
        </p:nvSpPr>
        <p:spPr>
          <a:xfrm>
            <a:off x="438912" y="292608"/>
            <a:ext cx="896112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2700"/>
              <a:buFont typeface="Play"/>
              <a:buNone/>
            </a:pPr>
            <a:r>
              <a:rPr b="1" i="0" lang="en-US" sz="2700" u="none" cap="none" strike="noStrike">
                <a:solidFill>
                  <a:srgbClr val="203447"/>
                </a:solidFill>
                <a:latin typeface="Play"/>
                <a:ea typeface="Play"/>
                <a:cs typeface="Play"/>
                <a:sym typeface="Play"/>
              </a:rPr>
              <a:t>Then we repeated the experiment on 10 candidate records</a:t>
            </a:r>
            <a:endParaRPr b="0" i="0" sz="2700" u="none" cap="none" strike="noStrike">
              <a:solidFill>
                <a:schemeClr val="dk1"/>
              </a:solidFill>
              <a:latin typeface="Arial"/>
              <a:ea typeface="Arial"/>
              <a:cs typeface="Arial"/>
              <a:sym typeface="Arial"/>
            </a:endParaRPr>
          </a:p>
        </p:txBody>
      </p:sp>
      <p:sp>
        <p:nvSpPr>
          <p:cNvPr id="577" name="Google Shape;577;p23"/>
          <p:cNvSpPr txBox="1"/>
          <p:nvPr/>
        </p:nvSpPr>
        <p:spPr>
          <a:xfrm>
            <a:off x="457200" y="804672"/>
            <a:ext cx="11064240" cy="32918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1717D"/>
              </a:buClr>
              <a:buSzPts val="1250"/>
              <a:buFont typeface="Arial"/>
              <a:buNone/>
            </a:pPr>
            <a:r>
              <a:rPr b="0" i="0" lang="en-US" sz="1250" u="none" cap="none" strike="noStrike">
                <a:solidFill>
                  <a:srgbClr val="61717D"/>
                </a:solidFill>
                <a:latin typeface="Arial"/>
                <a:ea typeface="Arial"/>
                <a:cs typeface="Arial"/>
                <a:sym typeface="Arial"/>
              </a:rPr>
              <a:t>Same windowing idea, now we can compare different waveform behaviour</a:t>
            </a:r>
            <a:endParaRPr b="0" i="0" sz="1250" u="none" cap="none" strike="noStrike">
              <a:solidFill>
                <a:schemeClr val="dk1"/>
              </a:solidFill>
              <a:latin typeface="Arial"/>
              <a:ea typeface="Arial"/>
              <a:cs typeface="Arial"/>
              <a:sym typeface="Arial"/>
            </a:endParaRPr>
          </a:p>
        </p:txBody>
      </p:sp>
      <p:cxnSp>
        <p:nvCxnSpPr>
          <p:cNvPr id="578" name="Google Shape;578;p23"/>
          <p:cNvCxnSpPr/>
          <p:nvPr/>
        </p:nvCxnSpPr>
        <p:spPr>
          <a:xfrm>
            <a:off x="438912" y="1197864"/>
            <a:ext cx="11292840" cy="0"/>
          </a:xfrm>
          <a:prstGeom prst="straightConnector1">
            <a:avLst/>
          </a:prstGeom>
          <a:noFill/>
          <a:ln cap="flat" cmpd="sng" w="22850">
            <a:solidFill>
              <a:srgbClr val="4E928B"/>
            </a:solidFill>
            <a:prstDash val="solid"/>
            <a:round/>
            <a:headEnd len="sm" w="sm" type="none"/>
            <a:tailEnd len="sm" w="sm" type="none"/>
          </a:ln>
        </p:spPr>
      </p:cxnSp>
      <p:sp>
        <p:nvSpPr>
          <p:cNvPr id="579" name="Google Shape;579;p23"/>
          <p:cNvSpPr/>
          <p:nvPr/>
        </p:nvSpPr>
        <p:spPr>
          <a:xfrm>
            <a:off x="3017520" y="1371600"/>
            <a:ext cx="5989320" cy="4526280"/>
          </a:xfrm>
          <a:prstGeom prst="roundRect">
            <a:avLst>
              <a:gd fmla="val 1616" name="adj"/>
            </a:avLst>
          </a:prstGeom>
          <a:solidFill>
            <a:srgbClr val="FFFFFF"/>
          </a:solidFill>
          <a:ln cap="flat" cmpd="sng" w="10150">
            <a:solidFill>
              <a:srgbClr val="DD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nt/data/image(20261021-201429).png" id="580" name="Google Shape;580;p23"/>
          <p:cNvPicPr preferRelativeResize="0"/>
          <p:nvPr/>
        </p:nvPicPr>
        <p:blipFill rotWithShape="1">
          <a:blip r:embed="rId3">
            <a:alphaModFix/>
          </a:blip>
          <a:srcRect b="0" l="0" r="0" t="0"/>
          <a:stretch/>
        </p:blipFill>
        <p:spPr>
          <a:xfrm>
            <a:off x="3602175" y="1289350"/>
            <a:ext cx="5086092" cy="4718248"/>
          </a:xfrm>
          <a:prstGeom prst="rect">
            <a:avLst/>
          </a:prstGeom>
          <a:noFill/>
          <a:ln>
            <a:noFill/>
          </a:ln>
        </p:spPr>
      </p:pic>
      <p:sp>
        <p:nvSpPr>
          <p:cNvPr id="581" name="Google Shape;581;p23"/>
          <p:cNvSpPr/>
          <p:nvPr/>
        </p:nvSpPr>
        <p:spPr>
          <a:xfrm>
            <a:off x="502920" y="1737360"/>
            <a:ext cx="2267712" cy="1353312"/>
          </a:xfrm>
          <a:prstGeom prst="roundRect">
            <a:avLst>
              <a:gd fmla="val 6757" name="adj"/>
            </a:avLst>
          </a:prstGeom>
          <a:solidFill>
            <a:srgbClr val="EAF2F5"/>
          </a:solidFill>
          <a:ln cap="flat" cmpd="sng" w="12700">
            <a:solidFill>
              <a:srgbClr val="397DA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23"/>
          <p:cNvSpPr txBox="1"/>
          <p:nvPr/>
        </p:nvSpPr>
        <p:spPr>
          <a:xfrm>
            <a:off x="649224" y="1837944"/>
            <a:ext cx="1975104"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97DA3"/>
              </a:buClr>
              <a:buSzPts val="1500"/>
              <a:buFont typeface="Arial"/>
              <a:buNone/>
            </a:pPr>
            <a:r>
              <a:rPr b="1" i="0" lang="en-US" sz="1500" u="none" cap="none" strike="noStrike">
                <a:solidFill>
                  <a:srgbClr val="397DA3"/>
                </a:solidFill>
                <a:latin typeface="Arial"/>
                <a:ea typeface="Arial"/>
                <a:cs typeface="Arial"/>
                <a:sym typeface="Arial"/>
              </a:rPr>
              <a:t>10 records</a:t>
            </a:r>
            <a:endParaRPr b="0" i="0" sz="1500" u="none" cap="none" strike="noStrike">
              <a:solidFill>
                <a:schemeClr val="dk1"/>
              </a:solidFill>
              <a:latin typeface="Arial"/>
              <a:ea typeface="Arial"/>
              <a:cs typeface="Arial"/>
              <a:sym typeface="Arial"/>
            </a:endParaRPr>
          </a:p>
        </p:txBody>
      </p:sp>
      <p:sp>
        <p:nvSpPr>
          <p:cNvPr id="583" name="Google Shape;583;p23"/>
          <p:cNvSpPr txBox="1"/>
          <p:nvPr/>
        </p:nvSpPr>
        <p:spPr>
          <a:xfrm>
            <a:off x="649224" y="2176272"/>
            <a:ext cx="1975104" cy="82296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203447"/>
              </a:buClr>
              <a:buSzPts val="1220"/>
              <a:buFont typeface="Arial"/>
              <a:buNone/>
            </a:pPr>
            <a:r>
              <a:rPr b="0" i="0" lang="en-US" sz="1220" u="none" cap="none" strike="noStrike">
                <a:solidFill>
                  <a:srgbClr val="203447"/>
                </a:solidFill>
                <a:latin typeface="Arial"/>
                <a:ea typeface="Arial"/>
                <a:cs typeface="Arial"/>
                <a:sym typeface="Arial"/>
              </a:rPr>
              <a:t>Candidate ECG segments were processed.</a:t>
            </a:r>
            <a:endParaRPr b="0" i="0" sz="1220" u="none" cap="none" strike="noStrike">
              <a:solidFill>
                <a:schemeClr val="dk1"/>
              </a:solidFill>
              <a:latin typeface="Arial"/>
              <a:ea typeface="Arial"/>
              <a:cs typeface="Arial"/>
              <a:sym typeface="Arial"/>
            </a:endParaRPr>
          </a:p>
        </p:txBody>
      </p:sp>
      <p:sp>
        <p:nvSpPr>
          <p:cNvPr id="584" name="Google Shape;584;p23"/>
          <p:cNvSpPr/>
          <p:nvPr/>
        </p:nvSpPr>
        <p:spPr>
          <a:xfrm>
            <a:off x="502920" y="3337560"/>
            <a:ext cx="2267712" cy="1353312"/>
          </a:xfrm>
          <a:prstGeom prst="roundRect">
            <a:avLst>
              <a:gd fmla="val 6757" name="adj"/>
            </a:avLst>
          </a:prstGeom>
          <a:solidFill>
            <a:srgbClr val="E8F2EF"/>
          </a:solidFill>
          <a:ln cap="flat" cmpd="sng" w="12700">
            <a:solidFill>
              <a:srgbClr val="4E92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23"/>
          <p:cNvSpPr txBox="1"/>
          <p:nvPr/>
        </p:nvSpPr>
        <p:spPr>
          <a:xfrm>
            <a:off x="649224" y="3438144"/>
            <a:ext cx="1975104"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4E928B"/>
              </a:buClr>
              <a:buSzPts val="1500"/>
              <a:buFont typeface="Arial"/>
              <a:buNone/>
            </a:pPr>
            <a:r>
              <a:rPr b="1" i="0" lang="en-US" sz="1500" u="none" cap="none" strike="noStrike">
                <a:solidFill>
                  <a:srgbClr val="4E928B"/>
                </a:solidFill>
                <a:latin typeface="Arial"/>
                <a:ea typeface="Arial"/>
                <a:cs typeface="Arial"/>
                <a:sym typeface="Arial"/>
              </a:rPr>
              <a:t>Same window</a:t>
            </a:r>
            <a:endParaRPr b="0" i="0" sz="1500" u="none" cap="none" strike="noStrike">
              <a:solidFill>
                <a:schemeClr val="dk1"/>
              </a:solidFill>
              <a:latin typeface="Arial"/>
              <a:ea typeface="Arial"/>
              <a:cs typeface="Arial"/>
              <a:sym typeface="Arial"/>
            </a:endParaRPr>
          </a:p>
        </p:txBody>
      </p:sp>
      <p:sp>
        <p:nvSpPr>
          <p:cNvPr id="586" name="Google Shape;586;p23"/>
          <p:cNvSpPr txBox="1"/>
          <p:nvPr/>
        </p:nvSpPr>
        <p:spPr>
          <a:xfrm>
            <a:off x="649224" y="3776472"/>
            <a:ext cx="1975104" cy="82296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203447"/>
              </a:buClr>
              <a:buSzPts val="1220"/>
              <a:buFont typeface="Arial"/>
              <a:buNone/>
            </a:pPr>
            <a:r>
              <a:rPr b="0" i="0" lang="en-US" sz="1220" u="none" cap="none" strike="noStrike">
                <a:solidFill>
                  <a:srgbClr val="203447"/>
                </a:solidFill>
                <a:latin typeface="Arial"/>
                <a:ea typeface="Arial"/>
                <a:cs typeface="Arial"/>
                <a:sym typeface="Arial"/>
              </a:rPr>
              <a:t>Each plot shows approximately 10–18 seconds.</a:t>
            </a:r>
            <a:endParaRPr b="0" i="0" sz="1220" u="none" cap="none" strike="noStrike">
              <a:solidFill>
                <a:schemeClr val="dk1"/>
              </a:solidFill>
              <a:latin typeface="Arial"/>
              <a:ea typeface="Arial"/>
              <a:cs typeface="Arial"/>
              <a:sym typeface="Arial"/>
            </a:endParaRPr>
          </a:p>
        </p:txBody>
      </p:sp>
      <p:sp>
        <p:nvSpPr>
          <p:cNvPr id="587" name="Google Shape;587;p23"/>
          <p:cNvSpPr/>
          <p:nvPr/>
        </p:nvSpPr>
        <p:spPr>
          <a:xfrm>
            <a:off x="9180576" y="1737360"/>
            <a:ext cx="2487168" cy="1353312"/>
          </a:xfrm>
          <a:prstGeom prst="roundRect">
            <a:avLst>
              <a:gd fmla="val 6757" name="adj"/>
            </a:avLst>
          </a:prstGeom>
          <a:solidFill>
            <a:srgbClr val="F8EEE3"/>
          </a:solidFill>
          <a:ln cap="flat" cmpd="sng" w="12700">
            <a:solidFill>
              <a:srgbClr val="D58A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23"/>
          <p:cNvSpPr txBox="1"/>
          <p:nvPr/>
        </p:nvSpPr>
        <p:spPr>
          <a:xfrm>
            <a:off x="9326880" y="1837944"/>
            <a:ext cx="2194560"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D58A4B"/>
              </a:buClr>
              <a:buSzPts val="1500"/>
              <a:buFont typeface="Arial"/>
              <a:buNone/>
            </a:pPr>
            <a:r>
              <a:rPr b="1" i="0" lang="en-US" sz="1500" u="none" cap="none" strike="noStrike">
                <a:solidFill>
                  <a:srgbClr val="D58A4B"/>
                </a:solidFill>
                <a:latin typeface="Arial"/>
                <a:ea typeface="Arial"/>
                <a:cs typeface="Arial"/>
                <a:sym typeface="Arial"/>
              </a:rPr>
              <a:t>Three folders</a:t>
            </a:r>
            <a:endParaRPr b="0" i="0" sz="1500" u="none" cap="none" strike="noStrike">
              <a:solidFill>
                <a:schemeClr val="dk1"/>
              </a:solidFill>
              <a:latin typeface="Arial"/>
              <a:ea typeface="Arial"/>
              <a:cs typeface="Arial"/>
              <a:sym typeface="Arial"/>
            </a:endParaRPr>
          </a:p>
        </p:txBody>
      </p:sp>
      <p:sp>
        <p:nvSpPr>
          <p:cNvPr id="589" name="Google Shape;589;p23"/>
          <p:cNvSpPr txBox="1"/>
          <p:nvPr/>
        </p:nvSpPr>
        <p:spPr>
          <a:xfrm>
            <a:off x="9326880" y="2176272"/>
            <a:ext cx="2194560" cy="82296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203447"/>
              </a:buClr>
              <a:buSzPts val="1220"/>
              <a:buFont typeface="Arial"/>
              <a:buNone/>
            </a:pPr>
            <a:r>
              <a:rPr b="0" i="0" lang="en-US" sz="1220" u="none" cap="none" strike="noStrike">
                <a:solidFill>
                  <a:srgbClr val="203447"/>
                </a:solidFill>
                <a:latin typeface="Arial"/>
                <a:ea typeface="Arial"/>
                <a:cs typeface="Arial"/>
                <a:sym typeface="Arial"/>
              </a:rPr>
              <a:t>The list includes records from three subject folders.</a:t>
            </a:r>
            <a:endParaRPr b="0" i="0" sz="1220" u="none" cap="none" strike="noStrike">
              <a:solidFill>
                <a:schemeClr val="dk1"/>
              </a:solidFill>
              <a:latin typeface="Arial"/>
              <a:ea typeface="Arial"/>
              <a:cs typeface="Arial"/>
              <a:sym typeface="Arial"/>
            </a:endParaRPr>
          </a:p>
        </p:txBody>
      </p:sp>
      <p:sp>
        <p:nvSpPr>
          <p:cNvPr id="590" name="Google Shape;590;p23"/>
          <p:cNvSpPr/>
          <p:nvPr/>
        </p:nvSpPr>
        <p:spPr>
          <a:xfrm>
            <a:off x="9180576" y="3337560"/>
            <a:ext cx="2487168" cy="1353312"/>
          </a:xfrm>
          <a:prstGeom prst="roundRect">
            <a:avLst>
              <a:gd fmla="val 6757" name="adj"/>
            </a:avLst>
          </a:prstGeom>
          <a:solidFill>
            <a:srgbClr val="EAF2F5"/>
          </a:solidFill>
          <a:ln cap="flat" cmpd="sng" w="12700">
            <a:solidFill>
              <a:srgbClr val="397DA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23"/>
          <p:cNvSpPr txBox="1"/>
          <p:nvPr/>
        </p:nvSpPr>
        <p:spPr>
          <a:xfrm>
            <a:off x="9326880" y="3438144"/>
            <a:ext cx="2194560"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97DA3"/>
              </a:buClr>
              <a:buSzPts val="1500"/>
              <a:buFont typeface="Arial"/>
              <a:buNone/>
            </a:pPr>
            <a:r>
              <a:rPr b="1" i="0" lang="en-US" sz="1500" u="none" cap="none" strike="noStrike">
                <a:solidFill>
                  <a:srgbClr val="397DA3"/>
                </a:solidFill>
                <a:latin typeface="Arial"/>
                <a:ea typeface="Arial"/>
                <a:cs typeface="Arial"/>
                <a:sym typeface="Arial"/>
              </a:rPr>
              <a:t>Why scale up?</a:t>
            </a:r>
            <a:endParaRPr b="0" i="0" sz="1500" u="none" cap="none" strike="noStrike">
              <a:solidFill>
                <a:schemeClr val="dk1"/>
              </a:solidFill>
              <a:latin typeface="Arial"/>
              <a:ea typeface="Arial"/>
              <a:cs typeface="Arial"/>
              <a:sym typeface="Arial"/>
            </a:endParaRPr>
          </a:p>
        </p:txBody>
      </p:sp>
      <p:sp>
        <p:nvSpPr>
          <p:cNvPr id="592" name="Google Shape;592;p23"/>
          <p:cNvSpPr txBox="1"/>
          <p:nvPr/>
        </p:nvSpPr>
        <p:spPr>
          <a:xfrm>
            <a:off x="9326880" y="3776472"/>
            <a:ext cx="2194560" cy="82296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203447"/>
              </a:buClr>
              <a:buSzPts val="1220"/>
              <a:buFont typeface="Arial"/>
              <a:buNone/>
            </a:pPr>
            <a:r>
              <a:rPr b="0" i="0" lang="en-US" sz="1220" u="none" cap="none" strike="noStrike">
                <a:solidFill>
                  <a:srgbClr val="203447"/>
                </a:solidFill>
                <a:latin typeface="Arial"/>
                <a:ea typeface="Arial"/>
                <a:cs typeface="Arial"/>
                <a:sym typeface="Arial"/>
              </a:rPr>
              <a:t>A method that looks good on one record may behave differently on another.</a:t>
            </a:r>
            <a:endParaRPr b="0" i="0" sz="1220" u="none" cap="none" strike="noStrike">
              <a:solidFill>
                <a:schemeClr val="dk1"/>
              </a:solidFill>
              <a:latin typeface="Arial"/>
              <a:ea typeface="Arial"/>
              <a:cs typeface="Arial"/>
              <a:sym typeface="Arial"/>
            </a:endParaRPr>
          </a:p>
        </p:txBody>
      </p:sp>
      <p:sp>
        <p:nvSpPr>
          <p:cNvPr id="593" name="Google Shape;593;p23"/>
          <p:cNvSpPr txBox="1"/>
          <p:nvPr/>
        </p:nvSpPr>
        <p:spPr>
          <a:xfrm>
            <a:off x="777240" y="6007608"/>
            <a:ext cx="10698480" cy="25603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03447"/>
              </a:buClr>
              <a:buSzPts val="1320"/>
              <a:buFont typeface="Arial"/>
              <a:buNone/>
            </a:pPr>
            <a:r>
              <a:rPr b="1" i="0" lang="en-US" sz="1320" u="none" cap="none" strike="noStrike">
                <a:solidFill>
                  <a:srgbClr val="203447"/>
                </a:solidFill>
                <a:latin typeface="Arial"/>
                <a:ea typeface="Arial"/>
                <a:cs typeface="Arial"/>
                <a:sym typeface="Arial"/>
              </a:rPr>
              <a:t>One record taught us the method; ten records let us see variation.</a:t>
            </a:r>
            <a:endParaRPr b="0" i="0" sz="1320" u="none" cap="none" strike="noStrike">
              <a:solidFill>
                <a:schemeClr val="dk1"/>
              </a:solidFill>
              <a:latin typeface="Arial"/>
              <a:ea typeface="Arial"/>
              <a:cs typeface="Arial"/>
              <a:sym typeface="Arial"/>
            </a:endParaRPr>
          </a:p>
        </p:txBody>
      </p:sp>
      <p:sp>
        <p:nvSpPr>
          <p:cNvPr id="594" name="Google Shape;594;p23"/>
          <p:cNvSpPr txBox="1"/>
          <p:nvPr>
            <p:ph idx="4294967295" type="sldNum"/>
          </p:nvPr>
        </p:nvSpPr>
        <p:spPr>
          <a:xfrm>
            <a:off x="11338560" y="653796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800" u="none" cap="none" strike="noStrike">
                <a:solidFill>
                  <a:srgbClr val="7A858D"/>
                </a:solidFill>
                <a:latin typeface="Arial"/>
                <a:ea typeface="Arial"/>
                <a:cs typeface="Arial"/>
                <a:sym typeface="Arial"/>
              </a:rPr>
              <a:t>‹#›</a:t>
            </a:fld>
            <a:endParaRPr b="0" i="0" sz="800" u="none" cap="none" strike="noStrike">
              <a:solidFill>
                <a:srgbClr val="7A858D"/>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599" name="Shape 599"/>
        <p:cNvGrpSpPr/>
        <p:nvPr/>
      </p:nvGrpSpPr>
      <p:grpSpPr>
        <a:xfrm>
          <a:off x="0" y="0"/>
          <a:ext cx="0" cy="0"/>
          <a:chOff x="0" y="0"/>
          <a:chExt cx="0" cy="0"/>
        </a:xfrm>
      </p:grpSpPr>
      <p:sp>
        <p:nvSpPr>
          <p:cNvPr id="600" name="Google Shape;600;p24"/>
          <p:cNvSpPr/>
          <p:nvPr/>
        </p:nvSpPr>
        <p:spPr>
          <a:xfrm>
            <a:off x="9646920" y="274320"/>
            <a:ext cx="2084832" cy="310896"/>
          </a:xfrm>
          <a:prstGeom prst="roundRect">
            <a:avLst>
              <a:gd fmla="val 29412" name="adj"/>
            </a:avLst>
          </a:prstGeom>
          <a:solidFill>
            <a:srgbClr val="EAF2F5"/>
          </a:solidFill>
          <a:ln cap="flat" cmpd="sng" w="9525">
            <a:solidFill>
              <a:srgbClr val="EAF2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24"/>
          <p:cNvSpPr txBox="1"/>
          <p:nvPr/>
        </p:nvSpPr>
        <p:spPr>
          <a:xfrm>
            <a:off x="9710928" y="310896"/>
            <a:ext cx="1956816" cy="21945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397DA3"/>
              </a:buClr>
              <a:buSzPts val="850"/>
              <a:buFont typeface="Arial"/>
              <a:buNone/>
            </a:pPr>
            <a:r>
              <a:rPr b="1" i="0" lang="en-US" sz="850" u="none" cap="none" strike="noStrike">
                <a:solidFill>
                  <a:srgbClr val="397DA3"/>
                </a:solidFill>
                <a:latin typeface="Arial"/>
                <a:ea typeface="Arial"/>
                <a:cs typeface="Arial"/>
                <a:sym typeface="Arial"/>
              </a:rPr>
              <a:t>10-RECORD EXPERIMENT</a:t>
            </a:r>
            <a:endParaRPr b="0" i="0" sz="850" u="none" cap="none" strike="noStrike">
              <a:solidFill>
                <a:schemeClr val="dk1"/>
              </a:solidFill>
              <a:latin typeface="Arial"/>
              <a:ea typeface="Arial"/>
              <a:cs typeface="Arial"/>
              <a:sym typeface="Arial"/>
            </a:endParaRPr>
          </a:p>
        </p:txBody>
      </p:sp>
      <p:sp>
        <p:nvSpPr>
          <p:cNvPr id="602" name="Google Shape;602;p24"/>
          <p:cNvSpPr txBox="1"/>
          <p:nvPr/>
        </p:nvSpPr>
        <p:spPr>
          <a:xfrm>
            <a:off x="438912" y="292608"/>
            <a:ext cx="896112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2700"/>
              <a:buFont typeface="Play"/>
              <a:buNone/>
            </a:pPr>
            <a:r>
              <a:rPr b="1" i="0" lang="en-US" sz="2700" u="none" cap="none" strike="noStrike">
                <a:solidFill>
                  <a:srgbClr val="203447"/>
                </a:solidFill>
                <a:latin typeface="Play"/>
                <a:ea typeface="Play"/>
                <a:cs typeface="Play"/>
                <a:sym typeface="Play"/>
              </a:rPr>
              <a:t>Wavelet energy is not identical across the 10 records</a:t>
            </a:r>
            <a:endParaRPr b="0" i="0" sz="2700" u="none" cap="none" strike="noStrike">
              <a:solidFill>
                <a:schemeClr val="dk1"/>
              </a:solidFill>
              <a:latin typeface="Arial"/>
              <a:ea typeface="Arial"/>
              <a:cs typeface="Arial"/>
              <a:sym typeface="Arial"/>
            </a:endParaRPr>
          </a:p>
        </p:txBody>
      </p:sp>
      <p:sp>
        <p:nvSpPr>
          <p:cNvPr id="603" name="Google Shape;603;p24"/>
          <p:cNvSpPr txBox="1"/>
          <p:nvPr/>
        </p:nvSpPr>
        <p:spPr>
          <a:xfrm>
            <a:off x="457200" y="804672"/>
            <a:ext cx="11064240" cy="32918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1717D"/>
              </a:buClr>
              <a:buSzPts val="1250"/>
              <a:buFont typeface="Arial"/>
              <a:buNone/>
            </a:pPr>
            <a:r>
              <a:rPr b="0" i="0" lang="en-US" sz="1250" u="none" cap="none" strike="noStrike">
                <a:solidFill>
                  <a:srgbClr val="61717D"/>
                </a:solidFill>
                <a:latin typeface="Arial"/>
                <a:ea typeface="Arial"/>
                <a:cs typeface="Arial"/>
                <a:sym typeface="Arial"/>
              </a:rPr>
              <a:t>The energy distribution changes from record to record</a:t>
            </a:r>
            <a:endParaRPr b="0" i="0" sz="1250" u="none" cap="none" strike="noStrike">
              <a:solidFill>
                <a:schemeClr val="dk1"/>
              </a:solidFill>
              <a:latin typeface="Arial"/>
              <a:ea typeface="Arial"/>
              <a:cs typeface="Arial"/>
              <a:sym typeface="Arial"/>
            </a:endParaRPr>
          </a:p>
        </p:txBody>
      </p:sp>
      <p:cxnSp>
        <p:nvCxnSpPr>
          <p:cNvPr id="604" name="Google Shape;604;p24"/>
          <p:cNvCxnSpPr/>
          <p:nvPr/>
        </p:nvCxnSpPr>
        <p:spPr>
          <a:xfrm>
            <a:off x="438912" y="1197864"/>
            <a:ext cx="11292840" cy="0"/>
          </a:xfrm>
          <a:prstGeom prst="straightConnector1">
            <a:avLst/>
          </a:prstGeom>
          <a:noFill/>
          <a:ln cap="flat" cmpd="sng" w="22850">
            <a:solidFill>
              <a:srgbClr val="4E928B"/>
            </a:solidFill>
            <a:prstDash val="solid"/>
            <a:round/>
            <a:headEnd len="sm" w="sm" type="none"/>
            <a:tailEnd len="sm" w="sm" type="none"/>
          </a:ln>
        </p:spPr>
      </p:cxnSp>
      <p:sp>
        <p:nvSpPr>
          <p:cNvPr id="605" name="Google Shape;605;p24"/>
          <p:cNvSpPr/>
          <p:nvPr/>
        </p:nvSpPr>
        <p:spPr>
          <a:xfrm>
            <a:off x="438912" y="1371600"/>
            <a:ext cx="11201400" cy="4453128"/>
          </a:xfrm>
          <a:prstGeom prst="roundRect">
            <a:avLst>
              <a:gd fmla="val 1643" name="adj"/>
            </a:avLst>
          </a:prstGeom>
          <a:solidFill>
            <a:srgbClr val="FFFFFF"/>
          </a:solidFill>
          <a:ln cap="flat" cmpd="sng" w="10150">
            <a:solidFill>
              <a:srgbClr val="DD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nt/data/image(20261021-201515).png" id="606" name="Google Shape;606;p24"/>
          <p:cNvPicPr preferRelativeResize="0"/>
          <p:nvPr/>
        </p:nvPicPr>
        <p:blipFill rotWithShape="1">
          <a:blip r:embed="rId3">
            <a:alphaModFix/>
          </a:blip>
          <a:srcRect b="0" l="0" r="0" t="0"/>
          <a:stretch/>
        </p:blipFill>
        <p:spPr>
          <a:xfrm>
            <a:off x="532057" y="1417320"/>
            <a:ext cx="11015110" cy="4361688"/>
          </a:xfrm>
          <a:prstGeom prst="rect">
            <a:avLst/>
          </a:prstGeom>
          <a:noFill/>
          <a:ln>
            <a:noFill/>
          </a:ln>
        </p:spPr>
      </p:pic>
      <p:sp>
        <p:nvSpPr>
          <p:cNvPr id="607" name="Google Shape;607;p24"/>
          <p:cNvSpPr txBox="1"/>
          <p:nvPr/>
        </p:nvSpPr>
        <p:spPr>
          <a:xfrm>
            <a:off x="777240" y="5870448"/>
            <a:ext cx="10716768" cy="35661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03447"/>
              </a:buClr>
              <a:buSzPts val="1330"/>
              <a:buFont typeface="Arial"/>
              <a:buNone/>
            </a:pPr>
            <a:r>
              <a:rPr b="1" i="0" lang="en-US" sz="1330" u="none" cap="none" strike="noStrike">
                <a:solidFill>
                  <a:srgbClr val="203447"/>
                </a:solidFill>
                <a:latin typeface="Arial"/>
                <a:ea typeface="Arial"/>
                <a:cs typeface="Arial"/>
                <a:sym typeface="Arial"/>
              </a:rPr>
              <a:t>A3 is often the largest share, but not always. Some records carry a much larger share of energy in D1, D2 or D3.</a:t>
            </a:r>
            <a:endParaRPr b="0" i="0" sz="1330" u="none" cap="none" strike="noStrike">
              <a:solidFill>
                <a:schemeClr val="dk1"/>
              </a:solidFill>
              <a:latin typeface="Arial"/>
              <a:ea typeface="Arial"/>
              <a:cs typeface="Arial"/>
              <a:sym typeface="Arial"/>
            </a:endParaRPr>
          </a:p>
        </p:txBody>
      </p:sp>
      <p:sp>
        <p:nvSpPr>
          <p:cNvPr id="608" name="Google Shape;608;p24"/>
          <p:cNvSpPr txBox="1"/>
          <p:nvPr>
            <p:ph idx="4294967295" type="sldNum"/>
          </p:nvPr>
        </p:nvSpPr>
        <p:spPr>
          <a:xfrm>
            <a:off x="11338560" y="653796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800" u="none" cap="none" strike="noStrike">
                <a:solidFill>
                  <a:srgbClr val="7A858D"/>
                </a:solidFill>
                <a:latin typeface="Arial"/>
                <a:ea typeface="Arial"/>
                <a:cs typeface="Arial"/>
                <a:sym typeface="Arial"/>
              </a:rPr>
              <a:t>‹#›</a:t>
            </a:fld>
            <a:endParaRPr b="0" i="0" sz="800" u="none" cap="none" strike="noStrike">
              <a:solidFill>
                <a:srgbClr val="7A858D"/>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613" name="Shape 613"/>
        <p:cNvGrpSpPr/>
        <p:nvPr/>
      </p:nvGrpSpPr>
      <p:grpSpPr>
        <a:xfrm>
          <a:off x="0" y="0"/>
          <a:ext cx="0" cy="0"/>
          <a:chOff x="0" y="0"/>
          <a:chExt cx="0" cy="0"/>
        </a:xfrm>
      </p:grpSpPr>
      <p:sp>
        <p:nvSpPr>
          <p:cNvPr id="614" name="Google Shape;614;p25"/>
          <p:cNvSpPr/>
          <p:nvPr/>
        </p:nvSpPr>
        <p:spPr>
          <a:xfrm>
            <a:off x="9646920" y="274320"/>
            <a:ext cx="2084832" cy="310896"/>
          </a:xfrm>
          <a:prstGeom prst="roundRect">
            <a:avLst>
              <a:gd fmla="val 29412" name="adj"/>
            </a:avLst>
          </a:prstGeom>
          <a:solidFill>
            <a:srgbClr val="EAF2F5"/>
          </a:solidFill>
          <a:ln cap="flat" cmpd="sng" w="9525">
            <a:solidFill>
              <a:srgbClr val="EAF2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25"/>
          <p:cNvSpPr txBox="1"/>
          <p:nvPr/>
        </p:nvSpPr>
        <p:spPr>
          <a:xfrm>
            <a:off x="9710928" y="310896"/>
            <a:ext cx="1956816" cy="21945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397DA3"/>
              </a:buClr>
              <a:buSzPts val="850"/>
              <a:buFont typeface="Arial"/>
              <a:buNone/>
            </a:pPr>
            <a:r>
              <a:rPr b="1" i="0" lang="en-US" sz="850" u="none" cap="none" strike="noStrike">
                <a:solidFill>
                  <a:srgbClr val="397DA3"/>
                </a:solidFill>
                <a:latin typeface="Arial"/>
                <a:ea typeface="Arial"/>
                <a:cs typeface="Arial"/>
                <a:sym typeface="Arial"/>
              </a:rPr>
              <a:t>10-RECORD EXPERIMENT</a:t>
            </a:r>
            <a:endParaRPr b="0" i="0" sz="850" u="none" cap="none" strike="noStrike">
              <a:solidFill>
                <a:schemeClr val="dk1"/>
              </a:solidFill>
              <a:latin typeface="Arial"/>
              <a:ea typeface="Arial"/>
              <a:cs typeface="Arial"/>
              <a:sym typeface="Arial"/>
            </a:endParaRPr>
          </a:p>
        </p:txBody>
      </p:sp>
      <p:sp>
        <p:nvSpPr>
          <p:cNvPr id="616" name="Google Shape;616;p25"/>
          <p:cNvSpPr txBox="1"/>
          <p:nvPr/>
        </p:nvSpPr>
        <p:spPr>
          <a:xfrm>
            <a:off x="438912" y="292608"/>
            <a:ext cx="896112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2700"/>
              <a:buFont typeface="Play"/>
              <a:buNone/>
            </a:pPr>
            <a:r>
              <a:rPr b="1" i="0" lang="en-US" sz="2700" u="none" cap="none" strike="noStrike">
                <a:solidFill>
                  <a:srgbClr val="203447"/>
                </a:solidFill>
                <a:latin typeface="Play"/>
                <a:ea typeface="Play"/>
                <a:cs typeface="Play"/>
                <a:sym typeface="Play"/>
              </a:rPr>
              <a:t>We also checked the metrics record by record</a:t>
            </a:r>
            <a:endParaRPr b="0" i="0" sz="2700" u="none" cap="none" strike="noStrike">
              <a:solidFill>
                <a:schemeClr val="dk1"/>
              </a:solidFill>
              <a:latin typeface="Arial"/>
              <a:ea typeface="Arial"/>
              <a:cs typeface="Arial"/>
              <a:sym typeface="Arial"/>
            </a:endParaRPr>
          </a:p>
        </p:txBody>
      </p:sp>
      <p:sp>
        <p:nvSpPr>
          <p:cNvPr id="617" name="Google Shape;617;p25"/>
          <p:cNvSpPr txBox="1"/>
          <p:nvPr/>
        </p:nvSpPr>
        <p:spPr>
          <a:xfrm>
            <a:off x="457200" y="804672"/>
            <a:ext cx="11064240" cy="32918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1717D"/>
              </a:buClr>
              <a:buSzPts val="1250"/>
              <a:buFont typeface="Arial"/>
              <a:buNone/>
            </a:pPr>
            <a:r>
              <a:rPr b="0" i="0" lang="en-US" sz="1250" u="none" cap="none" strike="noStrike">
                <a:solidFill>
                  <a:srgbClr val="61717D"/>
                </a:solidFill>
                <a:latin typeface="Arial"/>
                <a:ea typeface="Arial"/>
                <a:cs typeface="Arial"/>
                <a:sym typeface="Arial"/>
              </a:rPr>
              <a:t>Looking at only the average can hide unusual cases</a:t>
            </a:r>
            <a:endParaRPr b="0" i="0" sz="1250" u="none" cap="none" strike="noStrike">
              <a:solidFill>
                <a:schemeClr val="dk1"/>
              </a:solidFill>
              <a:latin typeface="Arial"/>
              <a:ea typeface="Arial"/>
              <a:cs typeface="Arial"/>
              <a:sym typeface="Arial"/>
            </a:endParaRPr>
          </a:p>
        </p:txBody>
      </p:sp>
      <p:cxnSp>
        <p:nvCxnSpPr>
          <p:cNvPr id="618" name="Google Shape;618;p25"/>
          <p:cNvCxnSpPr/>
          <p:nvPr/>
        </p:nvCxnSpPr>
        <p:spPr>
          <a:xfrm>
            <a:off x="438912" y="1197864"/>
            <a:ext cx="11292840" cy="0"/>
          </a:xfrm>
          <a:prstGeom prst="straightConnector1">
            <a:avLst/>
          </a:prstGeom>
          <a:noFill/>
          <a:ln cap="flat" cmpd="sng" w="22850">
            <a:solidFill>
              <a:srgbClr val="4E928B"/>
            </a:solidFill>
            <a:prstDash val="solid"/>
            <a:round/>
            <a:headEnd len="sm" w="sm" type="none"/>
            <a:tailEnd len="sm" w="sm" type="none"/>
          </a:ln>
        </p:spPr>
      </p:cxnSp>
      <p:sp>
        <p:nvSpPr>
          <p:cNvPr id="619" name="Google Shape;619;p25"/>
          <p:cNvSpPr/>
          <p:nvPr/>
        </p:nvSpPr>
        <p:spPr>
          <a:xfrm>
            <a:off x="438912" y="1399032"/>
            <a:ext cx="7726680" cy="4645152"/>
          </a:xfrm>
          <a:prstGeom prst="roundRect">
            <a:avLst>
              <a:gd fmla="val 1575" name="adj"/>
            </a:avLst>
          </a:prstGeom>
          <a:solidFill>
            <a:srgbClr val="FFFFFF"/>
          </a:solidFill>
          <a:ln cap="flat" cmpd="sng" w="10150">
            <a:solidFill>
              <a:srgbClr val="DD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nt/data/image(20261021-201733).png" id="620" name="Google Shape;620;p25"/>
          <p:cNvPicPr preferRelativeResize="0"/>
          <p:nvPr/>
        </p:nvPicPr>
        <p:blipFill rotWithShape="1">
          <a:blip r:embed="rId3">
            <a:alphaModFix/>
          </a:blip>
          <a:srcRect b="0" l="0" r="0" t="0"/>
          <a:stretch/>
        </p:blipFill>
        <p:spPr>
          <a:xfrm>
            <a:off x="480265" y="1435608"/>
            <a:ext cx="7643973" cy="4572000"/>
          </a:xfrm>
          <a:prstGeom prst="rect">
            <a:avLst/>
          </a:prstGeom>
          <a:noFill/>
          <a:ln>
            <a:noFill/>
          </a:ln>
        </p:spPr>
      </p:pic>
      <p:sp>
        <p:nvSpPr>
          <p:cNvPr id="621" name="Google Shape;621;p25"/>
          <p:cNvSpPr/>
          <p:nvPr/>
        </p:nvSpPr>
        <p:spPr>
          <a:xfrm>
            <a:off x="8394192" y="1609344"/>
            <a:ext cx="3200400" cy="1225296"/>
          </a:xfrm>
          <a:prstGeom prst="roundRect">
            <a:avLst>
              <a:gd fmla="val 7463" name="adj"/>
            </a:avLst>
          </a:prstGeom>
          <a:solidFill>
            <a:srgbClr val="EAF2F5"/>
          </a:solidFill>
          <a:ln cap="flat" cmpd="sng" w="12700">
            <a:solidFill>
              <a:srgbClr val="397DA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25"/>
          <p:cNvSpPr txBox="1"/>
          <p:nvPr/>
        </p:nvSpPr>
        <p:spPr>
          <a:xfrm>
            <a:off x="8540496" y="1709928"/>
            <a:ext cx="2907792"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97DA3"/>
              </a:buClr>
              <a:buSzPts val="1500"/>
              <a:buFont typeface="Arial"/>
              <a:buNone/>
            </a:pPr>
            <a:r>
              <a:rPr b="1" i="0" lang="en-US" sz="1500" u="none" cap="none" strike="noStrike">
                <a:solidFill>
                  <a:srgbClr val="397DA3"/>
                </a:solidFill>
                <a:latin typeface="Arial"/>
                <a:ea typeface="Arial"/>
                <a:cs typeface="Arial"/>
                <a:sym typeface="Arial"/>
              </a:rPr>
              <a:t>RMSE and MAE</a:t>
            </a:r>
            <a:endParaRPr b="0" i="0" sz="1500" u="none" cap="none" strike="noStrike">
              <a:solidFill>
                <a:schemeClr val="dk1"/>
              </a:solidFill>
              <a:latin typeface="Arial"/>
              <a:ea typeface="Arial"/>
              <a:cs typeface="Arial"/>
              <a:sym typeface="Arial"/>
            </a:endParaRPr>
          </a:p>
        </p:txBody>
      </p:sp>
      <p:sp>
        <p:nvSpPr>
          <p:cNvPr id="623" name="Google Shape;623;p25"/>
          <p:cNvSpPr txBox="1"/>
          <p:nvPr/>
        </p:nvSpPr>
        <p:spPr>
          <a:xfrm>
            <a:off x="8540496" y="2048256"/>
            <a:ext cx="2907792" cy="694944"/>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203447"/>
              </a:buClr>
              <a:buSzPts val="1220"/>
              <a:buFont typeface="Arial"/>
              <a:buNone/>
            </a:pPr>
            <a:r>
              <a:rPr b="0" i="0" lang="en-US" sz="1220" u="none" cap="none" strike="noStrike">
                <a:solidFill>
                  <a:srgbClr val="203447"/>
                </a:solidFill>
                <a:latin typeface="Arial"/>
                <a:ea typeface="Arial"/>
                <a:cs typeface="Arial"/>
                <a:sym typeface="Arial"/>
              </a:rPr>
              <a:t>Show the size of difference from the selected reference.</a:t>
            </a:r>
            <a:endParaRPr b="0" i="0" sz="1220" u="none" cap="none" strike="noStrike">
              <a:solidFill>
                <a:schemeClr val="dk1"/>
              </a:solidFill>
              <a:latin typeface="Arial"/>
              <a:ea typeface="Arial"/>
              <a:cs typeface="Arial"/>
              <a:sym typeface="Arial"/>
            </a:endParaRPr>
          </a:p>
        </p:txBody>
      </p:sp>
      <p:sp>
        <p:nvSpPr>
          <p:cNvPr id="624" name="Google Shape;624;p25"/>
          <p:cNvSpPr/>
          <p:nvPr/>
        </p:nvSpPr>
        <p:spPr>
          <a:xfrm>
            <a:off x="8394192" y="3054096"/>
            <a:ext cx="3200400" cy="1225296"/>
          </a:xfrm>
          <a:prstGeom prst="roundRect">
            <a:avLst>
              <a:gd fmla="val 7463" name="adj"/>
            </a:avLst>
          </a:prstGeom>
          <a:solidFill>
            <a:srgbClr val="E8F2EF"/>
          </a:solidFill>
          <a:ln cap="flat" cmpd="sng" w="12700">
            <a:solidFill>
              <a:srgbClr val="4E92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25"/>
          <p:cNvSpPr txBox="1"/>
          <p:nvPr/>
        </p:nvSpPr>
        <p:spPr>
          <a:xfrm>
            <a:off x="8540496" y="3154680"/>
            <a:ext cx="2907792"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4E928B"/>
              </a:buClr>
              <a:buSzPts val="1500"/>
              <a:buFont typeface="Arial"/>
              <a:buNone/>
            </a:pPr>
            <a:r>
              <a:rPr b="1" i="0" lang="en-US" sz="1500" u="none" cap="none" strike="noStrike">
                <a:solidFill>
                  <a:srgbClr val="4E928B"/>
                </a:solidFill>
                <a:latin typeface="Arial"/>
                <a:ea typeface="Arial"/>
                <a:cs typeface="Arial"/>
                <a:sym typeface="Arial"/>
              </a:rPr>
              <a:t>PRD</a:t>
            </a:r>
            <a:endParaRPr b="0" i="0" sz="1500" u="none" cap="none" strike="noStrike">
              <a:solidFill>
                <a:schemeClr val="dk1"/>
              </a:solidFill>
              <a:latin typeface="Arial"/>
              <a:ea typeface="Arial"/>
              <a:cs typeface="Arial"/>
              <a:sym typeface="Arial"/>
            </a:endParaRPr>
          </a:p>
        </p:txBody>
      </p:sp>
      <p:sp>
        <p:nvSpPr>
          <p:cNvPr id="626" name="Google Shape;626;p25"/>
          <p:cNvSpPr txBox="1"/>
          <p:nvPr/>
        </p:nvSpPr>
        <p:spPr>
          <a:xfrm>
            <a:off x="8540496" y="3493008"/>
            <a:ext cx="2907792" cy="694944"/>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203447"/>
              </a:buClr>
              <a:buSzPts val="1220"/>
              <a:buFont typeface="Arial"/>
              <a:buNone/>
            </a:pPr>
            <a:r>
              <a:rPr b="0" i="0" lang="en-US" sz="1220" u="none" cap="none" strike="noStrike">
                <a:solidFill>
                  <a:srgbClr val="203447"/>
                </a:solidFill>
                <a:latin typeface="Arial"/>
                <a:ea typeface="Arial"/>
                <a:cs typeface="Arial"/>
                <a:sym typeface="Arial"/>
              </a:rPr>
              <a:t>Expresses distortion relative to reference signal energy.</a:t>
            </a:r>
            <a:endParaRPr b="0" i="0" sz="1220" u="none" cap="none" strike="noStrike">
              <a:solidFill>
                <a:schemeClr val="dk1"/>
              </a:solidFill>
              <a:latin typeface="Arial"/>
              <a:ea typeface="Arial"/>
              <a:cs typeface="Arial"/>
              <a:sym typeface="Arial"/>
            </a:endParaRPr>
          </a:p>
        </p:txBody>
      </p:sp>
      <p:sp>
        <p:nvSpPr>
          <p:cNvPr id="627" name="Google Shape;627;p25"/>
          <p:cNvSpPr/>
          <p:nvPr/>
        </p:nvSpPr>
        <p:spPr>
          <a:xfrm>
            <a:off x="8394192" y="4498848"/>
            <a:ext cx="3200400" cy="1225296"/>
          </a:xfrm>
          <a:prstGeom prst="roundRect">
            <a:avLst>
              <a:gd fmla="val 7463" name="adj"/>
            </a:avLst>
          </a:prstGeom>
          <a:solidFill>
            <a:srgbClr val="F8EEE3"/>
          </a:solidFill>
          <a:ln cap="flat" cmpd="sng" w="12700">
            <a:solidFill>
              <a:srgbClr val="D58A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25"/>
          <p:cNvSpPr txBox="1"/>
          <p:nvPr/>
        </p:nvSpPr>
        <p:spPr>
          <a:xfrm>
            <a:off x="8540496" y="4599432"/>
            <a:ext cx="2907792"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D58A4B"/>
              </a:buClr>
              <a:buSzPts val="1500"/>
              <a:buFont typeface="Arial"/>
              <a:buNone/>
            </a:pPr>
            <a:r>
              <a:rPr b="1" i="0" lang="en-US" sz="1500" u="none" cap="none" strike="noStrike">
                <a:solidFill>
                  <a:srgbClr val="D58A4B"/>
                </a:solidFill>
                <a:latin typeface="Arial"/>
                <a:ea typeface="Arial"/>
                <a:cs typeface="Arial"/>
                <a:sym typeface="Arial"/>
              </a:rPr>
              <a:t>Correlation</a:t>
            </a:r>
            <a:endParaRPr b="0" i="0" sz="1500" u="none" cap="none" strike="noStrike">
              <a:solidFill>
                <a:schemeClr val="dk1"/>
              </a:solidFill>
              <a:latin typeface="Arial"/>
              <a:ea typeface="Arial"/>
              <a:cs typeface="Arial"/>
              <a:sym typeface="Arial"/>
            </a:endParaRPr>
          </a:p>
        </p:txBody>
      </p:sp>
      <p:sp>
        <p:nvSpPr>
          <p:cNvPr id="629" name="Google Shape;629;p25"/>
          <p:cNvSpPr txBox="1"/>
          <p:nvPr/>
        </p:nvSpPr>
        <p:spPr>
          <a:xfrm>
            <a:off x="8540496" y="4937760"/>
            <a:ext cx="2907792" cy="694944"/>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203447"/>
              </a:buClr>
              <a:buSzPts val="1220"/>
              <a:buFont typeface="Arial"/>
              <a:buNone/>
            </a:pPr>
            <a:r>
              <a:rPr b="0" i="0" lang="en-US" sz="1220" u="none" cap="none" strike="noStrike">
                <a:solidFill>
                  <a:srgbClr val="203447"/>
                </a:solidFill>
                <a:latin typeface="Arial"/>
                <a:ea typeface="Arial"/>
                <a:cs typeface="Arial"/>
                <a:sym typeface="Arial"/>
              </a:rPr>
              <a:t>Useful for waveform similarity, but not sufficient on its own.</a:t>
            </a:r>
            <a:endParaRPr b="0" i="0" sz="1220" u="none" cap="none" strike="noStrike">
              <a:solidFill>
                <a:schemeClr val="dk1"/>
              </a:solidFill>
              <a:latin typeface="Arial"/>
              <a:ea typeface="Arial"/>
              <a:cs typeface="Arial"/>
              <a:sym typeface="Arial"/>
            </a:endParaRPr>
          </a:p>
        </p:txBody>
      </p:sp>
      <p:sp>
        <p:nvSpPr>
          <p:cNvPr id="630" name="Google Shape;630;p25"/>
          <p:cNvSpPr txBox="1"/>
          <p:nvPr>
            <p:ph idx="4294967295" type="sldNum"/>
          </p:nvPr>
        </p:nvSpPr>
        <p:spPr>
          <a:xfrm>
            <a:off x="11338560" y="653796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800" u="none" cap="none" strike="noStrike">
                <a:solidFill>
                  <a:srgbClr val="7A858D"/>
                </a:solidFill>
                <a:latin typeface="Arial"/>
                <a:ea typeface="Arial"/>
                <a:cs typeface="Arial"/>
                <a:sym typeface="Arial"/>
              </a:rPr>
              <a:t>‹#›</a:t>
            </a:fld>
            <a:endParaRPr b="0" i="0" sz="800" u="none" cap="none" strike="noStrike">
              <a:solidFill>
                <a:srgbClr val="7A858D"/>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635" name="Shape 635"/>
        <p:cNvGrpSpPr/>
        <p:nvPr/>
      </p:nvGrpSpPr>
      <p:grpSpPr>
        <a:xfrm>
          <a:off x="0" y="0"/>
          <a:ext cx="0" cy="0"/>
          <a:chOff x="0" y="0"/>
          <a:chExt cx="0" cy="0"/>
        </a:xfrm>
      </p:grpSpPr>
      <p:sp>
        <p:nvSpPr>
          <p:cNvPr id="636" name="Google Shape;636;p26"/>
          <p:cNvSpPr/>
          <p:nvPr/>
        </p:nvSpPr>
        <p:spPr>
          <a:xfrm>
            <a:off x="9646920" y="274320"/>
            <a:ext cx="2084832" cy="310896"/>
          </a:xfrm>
          <a:prstGeom prst="roundRect">
            <a:avLst>
              <a:gd fmla="val 29412" name="adj"/>
            </a:avLst>
          </a:prstGeom>
          <a:solidFill>
            <a:srgbClr val="EAF2F5"/>
          </a:solidFill>
          <a:ln cap="flat" cmpd="sng" w="9525">
            <a:solidFill>
              <a:srgbClr val="EAF2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26"/>
          <p:cNvSpPr txBox="1"/>
          <p:nvPr/>
        </p:nvSpPr>
        <p:spPr>
          <a:xfrm>
            <a:off x="9710928" y="310896"/>
            <a:ext cx="1956816" cy="21945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397DA3"/>
              </a:buClr>
              <a:buSzPts val="850"/>
              <a:buFont typeface="Arial"/>
              <a:buNone/>
            </a:pPr>
            <a:r>
              <a:rPr b="1" i="0" lang="en-US" sz="850" u="none" cap="none" strike="noStrike">
                <a:solidFill>
                  <a:srgbClr val="397DA3"/>
                </a:solidFill>
                <a:latin typeface="Arial"/>
                <a:ea typeface="Arial"/>
                <a:cs typeface="Arial"/>
                <a:sym typeface="Arial"/>
              </a:rPr>
              <a:t>QUALITY CHECK</a:t>
            </a:r>
            <a:endParaRPr b="0" i="0" sz="850" u="none" cap="none" strike="noStrike">
              <a:solidFill>
                <a:schemeClr val="dk1"/>
              </a:solidFill>
              <a:latin typeface="Arial"/>
              <a:ea typeface="Arial"/>
              <a:cs typeface="Arial"/>
              <a:sym typeface="Arial"/>
            </a:endParaRPr>
          </a:p>
        </p:txBody>
      </p:sp>
      <p:sp>
        <p:nvSpPr>
          <p:cNvPr id="638" name="Google Shape;638;p26"/>
          <p:cNvSpPr txBox="1"/>
          <p:nvPr/>
        </p:nvSpPr>
        <p:spPr>
          <a:xfrm>
            <a:off x="438912" y="292608"/>
            <a:ext cx="896112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2700"/>
              <a:buFont typeface="Play"/>
              <a:buNone/>
            </a:pPr>
            <a:r>
              <a:rPr b="1" i="0" lang="en-US" sz="2700" u="none" cap="none" strike="noStrike">
                <a:solidFill>
                  <a:srgbClr val="203447"/>
                </a:solidFill>
                <a:latin typeface="Play"/>
                <a:ea typeface="Play"/>
                <a:cs typeface="Play"/>
                <a:sym typeface="Play"/>
              </a:rPr>
              <a:t>Record 81739927_0014 looked very different</a:t>
            </a:r>
            <a:endParaRPr b="0" i="0" sz="2700" u="none" cap="none" strike="noStrike">
              <a:solidFill>
                <a:schemeClr val="dk1"/>
              </a:solidFill>
              <a:latin typeface="Arial"/>
              <a:ea typeface="Arial"/>
              <a:cs typeface="Arial"/>
              <a:sym typeface="Arial"/>
            </a:endParaRPr>
          </a:p>
        </p:txBody>
      </p:sp>
      <p:sp>
        <p:nvSpPr>
          <p:cNvPr id="639" name="Google Shape;639;p26"/>
          <p:cNvSpPr txBox="1"/>
          <p:nvPr/>
        </p:nvSpPr>
        <p:spPr>
          <a:xfrm>
            <a:off x="457200" y="804672"/>
            <a:ext cx="11064240" cy="32918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1717D"/>
              </a:buClr>
              <a:buSzPts val="1250"/>
              <a:buFont typeface="Arial"/>
              <a:buNone/>
            </a:pPr>
            <a:r>
              <a:rPr b="0" i="0" lang="en-US" sz="1250" u="none" cap="none" strike="noStrike">
                <a:solidFill>
                  <a:srgbClr val="61717D"/>
                </a:solidFill>
                <a:latin typeface="Arial"/>
                <a:ea typeface="Arial"/>
                <a:cs typeface="Arial"/>
                <a:sym typeface="Arial"/>
              </a:rPr>
              <a:t>We flagged it from the waveform, then examined its metrics too</a:t>
            </a:r>
            <a:endParaRPr b="0" i="0" sz="1250" u="none" cap="none" strike="noStrike">
              <a:solidFill>
                <a:schemeClr val="dk1"/>
              </a:solidFill>
              <a:latin typeface="Arial"/>
              <a:ea typeface="Arial"/>
              <a:cs typeface="Arial"/>
              <a:sym typeface="Arial"/>
            </a:endParaRPr>
          </a:p>
        </p:txBody>
      </p:sp>
      <p:cxnSp>
        <p:nvCxnSpPr>
          <p:cNvPr id="640" name="Google Shape;640;p26"/>
          <p:cNvCxnSpPr/>
          <p:nvPr/>
        </p:nvCxnSpPr>
        <p:spPr>
          <a:xfrm>
            <a:off x="438912" y="1197864"/>
            <a:ext cx="11292840" cy="0"/>
          </a:xfrm>
          <a:prstGeom prst="straightConnector1">
            <a:avLst/>
          </a:prstGeom>
          <a:noFill/>
          <a:ln cap="flat" cmpd="sng" w="22850">
            <a:solidFill>
              <a:srgbClr val="4E928B"/>
            </a:solidFill>
            <a:prstDash val="solid"/>
            <a:round/>
            <a:headEnd len="sm" w="sm" type="none"/>
            <a:tailEnd len="sm" w="sm" type="none"/>
          </a:ln>
        </p:spPr>
      </p:cxnSp>
      <p:sp>
        <p:nvSpPr>
          <p:cNvPr id="641" name="Google Shape;641;p26"/>
          <p:cNvSpPr/>
          <p:nvPr/>
        </p:nvSpPr>
        <p:spPr>
          <a:xfrm>
            <a:off x="438912" y="1399032"/>
            <a:ext cx="6601968" cy="4553712"/>
          </a:xfrm>
          <a:prstGeom prst="roundRect">
            <a:avLst>
              <a:gd fmla="val 1606" name="adj"/>
            </a:avLst>
          </a:prstGeom>
          <a:solidFill>
            <a:srgbClr val="FFFFFF"/>
          </a:solidFill>
          <a:ln cap="flat" cmpd="sng" w="10150">
            <a:solidFill>
              <a:srgbClr val="DD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nt/data/image(20261021-201935).png" id="642" name="Google Shape;642;p26"/>
          <p:cNvPicPr preferRelativeResize="0"/>
          <p:nvPr/>
        </p:nvPicPr>
        <p:blipFill rotWithShape="1">
          <a:blip r:embed="rId3">
            <a:alphaModFix/>
          </a:blip>
          <a:srcRect b="0" l="0" r="0" t="0"/>
          <a:stretch/>
        </p:blipFill>
        <p:spPr>
          <a:xfrm>
            <a:off x="594452" y="1435608"/>
            <a:ext cx="6290887" cy="4480560"/>
          </a:xfrm>
          <a:prstGeom prst="rect">
            <a:avLst/>
          </a:prstGeom>
          <a:noFill/>
          <a:ln>
            <a:noFill/>
          </a:ln>
        </p:spPr>
      </p:pic>
      <p:sp>
        <p:nvSpPr>
          <p:cNvPr id="643" name="Google Shape;643;p26"/>
          <p:cNvSpPr txBox="1"/>
          <p:nvPr/>
        </p:nvSpPr>
        <p:spPr>
          <a:xfrm>
            <a:off x="7296912" y="1554480"/>
            <a:ext cx="4114800" cy="32004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6554A"/>
              </a:buClr>
              <a:buSzPts val="1800"/>
              <a:buFont typeface="Arial"/>
              <a:buNone/>
            </a:pPr>
            <a:r>
              <a:rPr b="1" i="0" lang="en-US" sz="1800" u="none" cap="none" strike="noStrike">
                <a:solidFill>
                  <a:srgbClr val="B6554A"/>
                </a:solidFill>
                <a:latin typeface="Arial"/>
                <a:ea typeface="Arial"/>
                <a:cs typeface="Arial"/>
                <a:sym typeface="Arial"/>
              </a:rPr>
              <a:t>What stands out?</a:t>
            </a:r>
            <a:endParaRPr b="0" i="0" sz="1800" u="none" cap="none" strike="noStrike">
              <a:solidFill>
                <a:schemeClr val="dk1"/>
              </a:solidFill>
              <a:latin typeface="Arial"/>
              <a:ea typeface="Arial"/>
              <a:cs typeface="Arial"/>
              <a:sym typeface="Arial"/>
            </a:endParaRPr>
          </a:p>
        </p:txBody>
      </p:sp>
      <p:sp>
        <p:nvSpPr>
          <p:cNvPr id="644" name="Google Shape;644;p26"/>
          <p:cNvSpPr/>
          <p:nvPr/>
        </p:nvSpPr>
        <p:spPr>
          <a:xfrm>
            <a:off x="7315200" y="2084832"/>
            <a:ext cx="91440" cy="91440"/>
          </a:xfrm>
          <a:prstGeom prst="ellipse">
            <a:avLst/>
          </a:prstGeom>
          <a:solidFill>
            <a:srgbClr val="B6554A"/>
          </a:solidFill>
          <a:ln cap="flat" cmpd="sng" w="9525">
            <a:solidFill>
              <a:srgbClr val="B655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26"/>
          <p:cNvSpPr txBox="1"/>
          <p:nvPr/>
        </p:nvSpPr>
        <p:spPr>
          <a:xfrm>
            <a:off x="7507224" y="1965960"/>
            <a:ext cx="3922776" cy="60579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1260"/>
              <a:buFont typeface="Arial"/>
              <a:buNone/>
            </a:pPr>
            <a:r>
              <a:rPr b="0" i="0" lang="en-US" sz="1260" u="none" cap="none" strike="noStrike">
                <a:solidFill>
                  <a:srgbClr val="203447"/>
                </a:solidFill>
                <a:latin typeface="Arial"/>
                <a:ea typeface="Arial"/>
                <a:cs typeface="Arial"/>
                <a:sym typeface="Arial"/>
              </a:rPr>
              <a:t>A very large transient near 14 seconds (roughly +24 to −38 in the plotted scale).</a:t>
            </a:r>
            <a:endParaRPr b="0" i="0" sz="1260" u="none" cap="none" strike="noStrike">
              <a:solidFill>
                <a:schemeClr val="dk1"/>
              </a:solidFill>
              <a:latin typeface="Arial"/>
              <a:ea typeface="Arial"/>
              <a:cs typeface="Arial"/>
              <a:sym typeface="Arial"/>
            </a:endParaRPr>
          </a:p>
        </p:txBody>
      </p:sp>
      <p:sp>
        <p:nvSpPr>
          <p:cNvPr id="646" name="Google Shape;646;p26"/>
          <p:cNvSpPr/>
          <p:nvPr/>
        </p:nvSpPr>
        <p:spPr>
          <a:xfrm>
            <a:off x="7315200" y="2736342"/>
            <a:ext cx="91440" cy="91440"/>
          </a:xfrm>
          <a:prstGeom prst="ellipse">
            <a:avLst/>
          </a:prstGeom>
          <a:solidFill>
            <a:srgbClr val="B6554A"/>
          </a:solidFill>
          <a:ln cap="flat" cmpd="sng" w="9525">
            <a:solidFill>
              <a:srgbClr val="B655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26"/>
          <p:cNvSpPr txBox="1"/>
          <p:nvPr/>
        </p:nvSpPr>
        <p:spPr>
          <a:xfrm>
            <a:off x="7507224" y="2617470"/>
            <a:ext cx="3922776" cy="60579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1260"/>
              <a:buFont typeface="Arial"/>
              <a:buNone/>
            </a:pPr>
            <a:r>
              <a:rPr b="0" i="0" lang="en-US" sz="1260" u="none" cap="none" strike="noStrike">
                <a:solidFill>
                  <a:srgbClr val="203447"/>
                </a:solidFill>
                <a:latin typeface="Arial"/>
                <a:ea typeface="Arial"/>
                <a:cs typeface="Arial"/>
                <a:sym typeface="Arial"/>
              </a:rPr>
              <a:t>Other selected records have much smaller amplitude ranges.</a:t>
            </a:r>
            <a:endParaRPr b="0" i="0" sz="1260" u="none" cap="none" strike="noStrike">
              <a:solidFill>
                <a:schemeClr val="dk1"/>
              </a:solidFill>
              <a:latin typeface="Arial"/>
              <a:ea typeface="Arial"/>
              <a:cs typeface="Arial"/>
              <a:sym typeface="Arial"/>
            </a:endParaRPr>
          </a:p>
        </p:txBody>
      </p:sp>
      <p:sp>
        <p:nvSpPr>
          <p:cNvPr id="648" name="Google Shape;648;p26"/>
          <p:cNvSpPr/>
          <p:nvPr/>
        </p:nvSpPr>
        <p:spPr>
          <a:xfrm>
            <a:off x="7315200" y="3387852"/>
            <a:ext cx="91440" cy="91440"/>
          </a:xfrm>
          <a:prstGeom prst="ellipse">
            <a:avLst/>
          </a:prstGeom>
          <a:solidFill>
            <a:srgbClr val="B6554A"/>
          </a:solidFill>
          <a:ln cap="flat" cmpd="sng" w="9525">
            <a:solidFill>
              <a:srgbClr val="B655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26"/>
          <p:cNvSpPr txBox="1"/>
          <p:nvPr/>
        </p:nvSpPr>
        <p:spPr>
          <a:xfrm>
            <a:off x="7507224" y="3268980"/>
            <a:ext cx="3922776" cy="60579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1260"/>
              <a:buFont typeface="Arial"/>
              <a:buNone/>
            </a:pPr>
            <a:r>
              <a:rPr b="0" i="0" lang="en-US" sz="1260" u="none" cap="none" strike="noStrike">
                <a:solidFill>
                  <a:srgbClr val="203447"/>
                </a:solidFill>
                <a:latin typeface="Arial"/>
                <a:ea typeface="Arial"/>
                <a:cs typeface="Arial"/>
                <a:sym typeface="Arial"/>
              </a:rPr>
              <a:t>The denoised line follows the transient closely — it does not magically remove it.</a:t>
            </a:r>
            <a:endParaRPr b="0" i="0" sz="1260" u="none" cap="none" strike="noStrike">
              <a:solidFill>
                <a:schemeClr val="dk1"/>
              </a:solidFill>
              <a:latin typeface="Arial"/>
              <a:ea typeface="Arial"/>
              <a:cs typeface="Arial"/>
              <a:sym typeface="Arial"/>
            </a:endParaRPr>
          </a:p>
        </p:txBody>
      </p:sp>
      <p:sp>
        <p:nvSpPr>
          <p:cNvPr id="650" name="Google Shape;650;p26"/>
          <p:cNvSpPr/>
          <p:nvPr/>
        </p:nvSpPr>
        <p:spPr>
          <a:xfrm>
            <a:off x="7315200" y="4039362"/>
            <a:ext cx="91440" cy="91440"/>
          </a:xfrm>
          <a:prstGeom prst="ellipse">
            <a:avLst/>
          </a:prstGeom>
          <a:solidFill>
            <a:srgbClr val="B6554A"/>
          </a:solidFill>
          <a:ln cap="flat" cmpd="sng" w="9525">
            <a:solidFill>
              <a:srgbClr val="B655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26"/>
          <p:cNvSpPr txBox="1"/>
          <p:nvPr/>
        </p:nvSpPr>
        <p:spPr>
          <a:xfrm>
            <a:off x="7507224" y="3920490"/>
            <a:ext cx="3922776" cy="60579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1260"/>
              <a:buFont typeface="Arial"/>
              <a:buNone/>
            </a:pPr>
            <a:r>
              <a:rPr b="0" i="0" lang="en-US" sz="1260" u="none" cap="none" strike="noStrike">
                <a:solidFill>
                  <a:srgbClr val="203447"/>
                </a:solidFill>
                <a:latin typeface="Arial"/>
                <a:ea typeface="Arial"/>
                <a:cs typeface="Arial"/>
                <a:sym typeface="Arial"/>
              </a:rPr>
              <a:t>A quality flag is a reason to inspect, not proof that the record is wrong.</a:t>
            </a:r>
            <a:endParaRPr b="0" i="0" sz="1260" u="none" cap="none" strike="noStrike">
              <a:solidFill>
                <a:schemeClr val="dk1"/>
              </a:solidFill>
              <a:latin typeface="Arial"/>
              <a:ea typeface="Arial"/>
              <a:cs typeface="Arial"/>
              <a:sym typeface="Arial"/>
            </a:endParaRPr>
          </a:p>
        </p:txBody>
      </p:sp>
      <p:sp>
        <p:nvSpPr>
          <p:cNvPr id="652" name="Google Shape;652;p26"/>
          <p:cNvSpPr/>
          <p:nvPr/>
        </p:nvSpPr>
        <p:spPr>
          <a:xfrm>
            <a:off x="7296912" y="4800600"/>
            <a:ext cx="4069080" cy="868680"/>
          </a:xfrm>
          <a:prstGeom prst="roundRect">
            <a:avLst>
              <a:gd fmla="val 10526" name="adj"/>
            </a:avLst>
          </a:prstGeom>
          <a:solidFill>
            <a:srgbClr val="F7EAE7"/>
          </a:solidFill>
          <a:ln cap="flat" cmpd="sng" w="12700">
            <a:solidFill>
              <a:srgbClr val="B655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26"/>
          <p:cNvSpPr txBox="1"/>
          <p:nvPr/>
        </p:nvSpPr>
        <p:spPr>
          <a:xfrm>
            <a:off x="7443216" y="4901184"/>
            <a:ext cx="3776472"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6554A"/>
              </a:buClr>
              <a:buSzPts val="1500"/>
              <a:buFont typeface="Arial"/>
              <a:buNone/>
            </a:pPr>
            <a:r>
              <a:rPr b="1" i="0" lang="en-US" sz="1500" u="none" cap="none" strike="noStrike">
                <a:solidFill>
                  <a:srgbClr val="B6554A"/>
                </a:solidFill>
                <a:latin typeface="Arial"/>
                <a:ea typeface="Arial"/>
                <a:cs typeface="Arial"/>
                <a:sym typeface="Arial"/>
              </a:rPr>
              <a:t>Next check</a:t>
            </a:r>
            <a:endParaRPr b="0" i="0" sz="1500" u="none" cap="none" strike="noStrike">
              <a:solidFill>
                <a:schemeClr val="dk1"/>
              </a:solidFill>
              <a:latin typeface="Arial"/>
              <a:ea typeface="Arial"/>
              <a:cs typeface="Arial"/>
              <a:sym typeface="Arial"/>
            </a:endParaRPr>
          </a:p>
        </p:txBody>
      </p:sp>
      <p:sp>
        <p:nvSpPr>
          <p:cNvPr id="654" name="Google Shape;654;p26"/>
          <p:cNvSpPr txBox="1"/>
          <p:nvPr/>
        </p:nvSpPr>
        <p:spPr>
          <a:xfrm>
            <a:off x="7443216" y="5239512"/>
            <a:ext cx="3776472" cy="338328"/>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203447"/>
              </a:buClr>
              <a:buSzPts val="1220"/>
              <a:buFont typeface="Arial"/>
              <a:buNone/>
            </a:pPr>
            <a:r>
              <a:rPr b="0" i="0" lang="en-US" sz="1220" u="none" cap="none" strike="noStrike">
                <a:solidFill>
                  <a:srgbClr val="203447"/>
                </a:solidFill>
                <a:latin typeface="Arial"/>
                <a:ea typeface="Arial"/>
                <a:cs typeface="Arial"/>
                <a:sym typeface="Arial"/>
              </a:rPr>
              <a:t>Verify units, calibration, artifact/context and how the metrics were normalized.</a:t>
            </a:r>
            <a:endParaRPr b="0" i="0" sz="1220" u="none" cap="none" strike="noStrike">
              <a:solidFill>
                <a:schemeClr val="dk1"/>
              </a:solidFill>
              <a:latin typeface="Arial"/>
              <a:ea typeface="Arial"/>
              <a:cs typeface="Arial"/>
              <a:sym typeface="Arial"/>
            </a:endParaRPr>
          </a:p>
        </p:txBody>
      </p:sp>
      <p:sp>
        <p:nvSpPr>
          <p:cNvPr id="655" name="Google Shape;655;p26"/>
          <p:cNvSpPr txBox="1"/>
          <p:nvPr>
            <p:ph idx="4294967295" type="sldNum"/>
          </p:nvPr>
        </p:nvSpPr>
        <p:spPr>
          <a:xfrm>
            <a:off x="11338560" y="653796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800" u="none" cap="none" strike="noStrike">
                <a:solidFill>
                  <a:srgbClr val="7A858D"/>
                </a:solidFill>
                <a:latin typeface="Arial"/>
                <a:ea typeface="Arial"/>
                <a:cs typeface="Arial"/>
                <a:sym typeface="Arial"/>
              </a:rPr>
              <a:t>‹#›</a:t>
            </a:fld>
            <a:endParaRPr b="0" i="0" sz="800" u="none" cap="none" strike="noStrike">
              <a:solidFill>
                <a:srgbClr val="7A858D"/>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660" name="Shape 660"/>
        <p:cNvGrpSpPr/>
        <p:nvPr/>
      </p:nvGrpSpPr>
      <p:grpSpPr>
        <a:xfrm>
          <a:off x="0" y="0"/>
          <a:ext cx="0" cy="0"/>
          <a:chOff x="0" y="0"/>
          <a:chExt cx="0" cy="0"/>
        </a:xfrm>
      </p:grpSpPr>
      <p:sp>
        <p:nvSpPr>
          <p:cNvPr id="661" name="Google Shape;661;p27"/>
          <p:cNvSpPr/>
          <p:nvPr/>
        </p:nvSpPr>
        <p:spPr>
          <a:xfrm>
            <a:off x="9646920" y="274320"/>
            <a:ext cx="2084832" cy="310896"/>
          </a:xfrm>
          <a:prstGeom prst="roundRect">
            <a:avLst>
              <a:gd fmla="val 29412" name="adj"/>
            </a:avLst>
          </a:prstGeom>
          <a:solidFill>
            <a:srgbClr val="EAF2F5"/>
          </a:solidFill>
          <a:ln cap="flat" cmpd="sng" w="9525">
            <a:solidFill>
              <a:srgbClr val="EAF2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27"/>
          <p:cNvSpPr txBox="1"/>
          <p:nvPr/>
        </p:nvSpPr>
        <p:spPr>
          <a:xfrm>
            <a:off x="9710928" y="310896"/>
            <a:ext cx="1956816" cy="21945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397DA3"/>
              </a:buClr>
              <a:buSzPts val="850"/>
              <a:buFont typeface="Arial"/>
              <a:buNone/>
            </a:pPr>
            <a:r>
              <a:rPr b="1" i="0" lang="en-US" sz="850" u="none" cap="none" strike="noStrike">
                <a:solidFill>
                  <a:srgbClr val="397DA3"/>
                </a:solidFill>
                <a:latin typeface="Arial"/>
                <a:ea typeface="Arial"/>
                <a:cs typeface="Arial"/>
                <a:sym typeface="Arial"/>
              </a:rPr>
              <a:t>10-RECORD COMPARISON</a:t>
            </a:r>
            <a:endParaRPr b="0" i="0" sz="850" u="none" cap="none" strike="noStrike">
              <a:solidFill>
                <a:schemeClr val="dk1"/>
              </a:solidFill>
              <a:latin typeface="Arial"/>
              <a:ea typeface="Arial"/>
              <a:cs typeface="Arial"/>
              <a:sym typeface="Arial"/>
            </a:endParaRPr>
          </a:p>
        </p:txBody>
      </p:sp>
      <p:sp>
        <p:nvSpPr>
          <p:cNvPr id="663" name="Google Shape;663;p27"/>
          <p:cNvSpPr txBox="1"/>
          <p:nvPr/>
        </p:nvSpPr>
        <p:spPr>
          <a:xfrm>
            <a:off x="438912" y="292608"/>
            <a:ext cx="896112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2700"/>
              <a:buFont typeface="Play"/>
              <a:buNone/>
            </a:pPr>
            <a:r>
              <a:rPr b="1" i="0" lang="en-US" sz="2700" u="none" cap="none" strike="noStrike">
                <a:solidFill>
                  <a:srgbClr val="203447"/>
                </a:solidFill>
                <a:latin typeface="Play"/>
                <a:ea typeface="Play"/>
                <a:cs typeface="Play"/>
                <a:sym typeface="Play"/>
              </a:rPr>
              <a:t>Across 10 records, the winner depends on the case</a:t>
            </a:r>
            <a:endParaRPr b="0" i="0" sz="2700" u="none" cap="none" strike="noStrike">
              <a:solidFill>
                <a:schemeClr val="dk1"/>
              </a:solidFill>
              <a:latin typeface="Arial"/>
              <a:ea typeface="Arial"/>
              <a:cs typeface="Arial"/>
              <a:sym typeface="Arial"/>
            </a:endParaRPr>
          </a:p>
        </p:txBody>
      </p:sp>
      <p:sp>
        <p:nvSpPr>
          <p:cNvPr id="664" name="Google Shape;664;p27"/>
          <p:cNvSpPr txBox="1"/>
          <p:nvPr/>
        </p:nvSpPr>
        <p:spPr>
          <a:xfrm>
            <a:off x="457200" y="804672"/>
            <a:ext cx="11064240" cy="32918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1717D"/>
              </a:buClr>
              <a:buSzPts val="1250"/>
              <a:buFont typeface="Arial"/>
              <a:buNone/>
            </a:pPr>
            <a:r>
              <a:rPr b="0" i="0" lang="en-US" sz="1250" u="none" cap="none" strike="noStrike">
                <a:solidFill>
                  <a:srgbClr val="61717D"/>
                </a:solidFill>
                <a:latin typeface="Arial"/>
                <a:ea typeface="Arial"/>
                <a:cs typeface="Arial"/>
                <a:sym typeface="Arial"/>
              </a:rPr>
              <a:t>We compared Butterworth and Symlet-4 with more than one metric</a:t>
            </a:r>
            <a:endParaRPr b="0" i="0" sz="1250" u="none" cap="none" strike="noStrike">
              <a:solidFill>
                <a:schemeClr val="dk1"/>
              </a:solidFill>
              <a:latin typeface="Arial"/>
              <a:ea typeface="Arial"/>
              <a:cs typeface="Arial"/>
              <a:sym typeface="Arial"/>
            </a:endParaRPr>
          </a:p>
        </p:txBody>
      </p:sp>
      <p:cxnSp>
        <p:nvCxnSpPr>
          <p:cNvPr id="665" name="Google Shape;665;p27"/>
          <p:cNvCxnSpPr/>
          <p:nvPr/>
        </p:nvCxnSpPr>
        <p:spPr>
          <a:xfrm>
            <a:off x="438912" y="1197864"/>
            <a:ext cx="11292840" cy="0"/>
          </a:xfrm>
          <a:prstGeom prst="straightConnector1">
            <a:avLst/>
          </a:prstGeom>
          <a:noFill/>
          <a:ln cap="flat" cmpd="sng" w="22850">
            <a:solidFill>
              <a:srgbClr val="4E928B"/>
            </a:solidFill>
            <a:prstDash val="solid"/>
            <a:round/>
            <a:headEnd len="sm" w="sm" type="none"/>
            <a:tailEnd len="sm" w="sm" type="none"/>
          </a:ln>
        </p:spPr>
      </p:cxnSp>
      <p:sp>
        <p:nvSpPr>
          <p:cNvPr id="666" name="Google Shape;666;p27"/>
          <p:cNvSpPr/>
          <p:nvPr/>
        </p:nvSpPr>
        <p:spPr>
          <a:xfrm>
            <a:off x="457200" y="1389888"/>
            <a:ext cx="5806440" cy="4709160"/>
          </a:xfrm>
          <a:prstGeom prst="roundRect">
            <a:avLst>
              <a:gd fmla="val 1553" name="adj"/>
            </a:avLst>
          </a:prstGeom>
          <a:solidFill>
            <a:srgbClr val="FFFFFF"/>
          </a:solidFill>
          <a:ln cap="flat" cmpd="sng" w="10150">
            <a:solidFill>
              <a:srgbClr val="DD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nt/data/image(20261021-202456).png" id="667" name="Google Shape;667;p27"/>
          <p:cNvPicPr preferRelativeResize="0"/>
          <p:nvPr/>
        </p:nvPicPr>
        <p:blipFill rotWithShape="1">
          <a:blip r:embed="rId3">
            <a:alphaModFix/>
          </a:blip>
          <a:srcRect b="0" l="0" r="0" t="0"/>
          <a:stretch/>
        </p:blipFill>
        <p:spPr>
          <a:xfrm>
            <a:off x="783421" y="1426464"/>
            <a:ext cx="5153998" cy="4636008"/>
          </a:xfrm>
          <a:prstGeom prst="rect">
            <a:avLst/>
          </a:prstGeom>
          <a:noFill/>
          <a:ln>
            <a:noFill/>
          </a:ln>
        </p:spPr>
      </p:pic>
      <p:sp>
        <p:nvSpPr>
          <p:cNvPr id="668" name="Google Shape;668;p27"/>
          <p:cNvSpPr txBox="1"/>
          <p:nvPr/>
        </p:nvSpPr>
        <p:spPr>
          <a:xfrm>
            <a:off x="6547104" y="1572768"/>
            <a:ext cx="4526280" cy="34747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1800"/>
              <a:buFont typeface="Arial"/>
              <a:buNone/>
            </a:pPr>
            <a:r>
              <a:rPr b="1" i="0" lang="en-US" sz="1800" u="none" cap="none" strike="noStrike">
                <a:solidFill>
                  <a:srgbClr val="203447"/>
                </a:solidFill>
                <a:latin typeface="Arial"/>
                <a:ea typeface="Arial"/>
                <a:cs typeface="Arial"/>
                <a:sym typeface="Arial"/>
              </a:rPr>
              <a:t>How to read this table</a:t>
            </a:r>
            <a:endParaRPr b="0" i="0" sz="1800" u="none" cap="none" strike="noStrike">
              <a:solidFill>
                <a:schemeClr val="dk1"/>
              </a:solidFill>
              <a:latin typeface="Arial"/>
              <a:ea typeface="Arial"/>
              <a:cs typeface="Arial"/>
              <a:sym typeface="Arial"/>
            </a:endParaRPr>
          </a:p>
        </p:txBody>
      </p:sp>
      <p:sp>
        <p:nvSpPr>
          <p:cNvPr id="669" name="Google Shape;669;p27"/>
          <p:cNvSpPr/>
          <p:nvPr/>
        </p:nvSpPr>
        <p:spPr>
          <a:xfrm>
            <a:off x="6565392" y="2130552"/>
            <a:ext cx="91440" cy="91440"/>
          </a:xfrm>
          <a:prstGeom prst="ellipse">
            <a:avLst/>
          </a:prstGeom>
          <a:solidFill>
            <a:srgbClr val="4E928B"/>
          </a:solidFill>
          <a:ln cap="flat" cmpd="sng" w="9525">
            <a:solidFill>
              <a:srgbClr val="4E92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27"/>
          <p:cNvSpPr txBox="1"/>
          <p:nvPr/>
        </p:nvSpPr>
        <p:spPr>
          <a:xfrm>
            <a:off x="6757416" y="2011680"/>
            <a:ext cx="4617720" cy="7315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1300"/>
              <a:buFont typeface="Arial"/>
              <a:buNone/>
            </a:pPr>
            <a:r>
              <a:rPr b="0" i="0" lang="en-US" sz="1300" u="none" cap="none" strike="noStrike">
                <a:solidFill>
                  <a:srgbClr val="203447"/>
                </a:solidFill>
                <a:latin typeface="Arial"/>
                <a:ea typeface="Arial"/>
                <a:cs typeface="Arial"/>
                <a:sym typeface="Arial"/>
              </a:rPr>
              <a:t>Each record has a Butterworth row and a Symlet-4 row.</a:t>
            </a:r>
            <a:endParaRPr b="0" i="0" sz="1300" u="none" cap="none" strike="noStrike">
              <a:solidFill>
                <a:schemeClr val="dk1"/>
              </a:solidFill>
              <a:latin typeface="Arial"/>
              <a:ea typeface="Arial"/>
              <a:cs typeface="Arial"/>
              <a:sym typeface="Arial"/>
            </a:endParaRPr>
          </a:p>
        </p:txBody>
      </p:sp>
      <p:sp>
        <p:nvSpPr>
          <p:cNvPr id="671" name="Google Shape;671;p27"/>
          <p:cNvSpPr/>
          <p:nvPr/>
        </p:nvSpPr>
        <p:spPr>
          <a:xfrm>
            <a:off x="6565392" y="2916936"/>
            <a:ext cx="91440" cy="91440"/>
          </a:xfrm>
          <a:prstGeom prst="ellipse">
            <a:avLst/>
          </a:prstGeom>
          <a:solidFill>
            <a:srgbClr val="4E928B"/>
          </a:solidFill>
          <a:ln cap="flat" cmpd="sng" w="9525">
            <a:solidFill>
              <a:srgbClr val="4E92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27"/>
          <p:cNvSpPr txBox="1"/>
          <p:nvPr/>
        </p:nvSpPr>
        <p:spPr>
          <a:xfrm>
            <a:off x="6757416" y="2798064"/>
            <a:ext cx="4617720" cy="7315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1300"/>
              <a:buFont typeface="Arial"/>
              <a:buNone/>
            </a:pPr>
            <a:r>
              <a:rPr b="0" i="0" lang="en-US" sz="1300" u="none" cap="none" strike="noStrike">
                <a:solidFill>
                  <a:srgbClr val="203447"/>
                </a:solidFill>
                <a:latin typeface="Arial"/>
                <a:ea typeface="Arial"/>
                <a:cs typeface="Arial"/>
                <a:sym typeface="Arial"/>
              </a:rPr>
              <a:t>Compare RMSE, MAE, NRMSE, PRD and correlation together.</a:t>
            </a:r>
            <a:endParaRPr b="0" i="0" sz="1300" u="none" cap="none" strike="noStrike">
              <a:solidFill>
                <a:schemeClr val="dk1"/>
              </a:solidFill>
              <a:latin typeface="Arial"/>
              <a:ea typeface="Arial"/>
              <a:cs typeface="Arial"/>
              <a:sym typeface="Arial"/>
            </a:endParaRPr>
          </a:p>
        </p:txBody>
      </p:sp>
      <p:sp>
        <p:nvSpPr>
          <p:cNvPr id="673" name="Google Shape;673;p27"/>
          <p:cNvSpPr/>
          <p:nvPr/>
        </p:nvSpPr>
        <p:spPr>
          <a:xfrm>
            <a:off x="6565392" y="3703320"/>
            <a:ext cx="91440" cy="91440"/>
          </a:xfrm>
          <a:prstGeom prst="ellipse">
            <a:avLst/>
          </a:prstGeom>
          <a:solidFill>
            <a:srgbClr val="4E928B"/>
          </a:solidFill>
          <a:ln cap="flat" cmpd="sng" w="9525">
            <a:solidFill>
              <a:srgbClr val="4E92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27"/>
          <p:cNvSpPr txBox="1"/>
          <p:nvPr/>
        </p:nvSpPr>
        <p:spPr>
          <a:xfrm>
            <a:off x="6757416" y="3584448"/>
            <a:ext cx="4617720" cy="7315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1300"/>
              <a:buFont typeface="Arial"/>
              <a:buNone/>
            </a:pPr>
            <a:r>
              <a:rPr b="0" i="0" lang="en-US" sz="1300" u="none" cap="none" strike="noStrike">
                <a:solidFill>
                  <a:srgbClr val="203447"/>
                </a:solidFill>
                <a:latin typeface="Arial"/>
                <a:ea typeface="Arial"/>
                <a:cs typeface="Arial"/>
                <a:sym typeface="Arial"/>
              </a:rPr>
              <a:t>Symlet-4 is closer by several error measures in multiple records, but it does not win every comparison.</a:t>
            </a:r>
            <a:endParaRPr b="0" i="0" sz="1300" u="none" cap="none" strike="noStrike">
              <a:solidFill>
                <a:schemeClr val="dk1"/>
              </a:solidFill>
              <a:latin typeface="Arial"/>
              <a:ea typeface="Arial"/>
              <a:cs typeface="Arial"/>
              <a:sym typeface="Arial"/>
            </a:endParaRPr>
          </a:p>
        </p:txBody>
      </p:sp>
      <p:sp>
        <p:nvSpPr>
          <p:cNvPr id="675" name="Google Shape;675;p27"/>
          <p:cNvSpPr/>
          <p:nvPr/>
        </p:nvSpPr>
        <p:spPr>
          <a:xfrm>
            <a:off x="6565392" y="4489704"/>
            <a:ext cx="91440" cy="91440"/>
          </a:xfrm>
          <a:prstGeom prst="ellipse">
            <a:avLst/>
          </a:prstGeom>
          <a:solidFill>
            <a:srgbClr val="4E928B"/>
          </a:solidFill>
          <a:ln cap="flat" cmpd="sng" w="9525">
            <a:solidFill>
              <a:srgbClr val="4E92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27"/>
          <p:cNvSpPr txBox="1"/>
          <p:nvPr/>
        </p:nvSpPr>
        <p:spPr>
          <a:xfrm>
            <a:off x="6757416" y="4370832"/>
            <a:ext cx="4617720" cy="7315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1300"/>
              <a:buFont typeface="Arial"/>
              <a:buNone/>
            </a:pPr>
            <a:r>
              <a:rPr b="0" i="0" lang="en-US" sz="1300" u="none" cap="none" strike="noStrike">
                <a:solidFill>
                  <a:srgbClr val="203447"/>
                </a:solidFill>
                <a:latin typeface="Arial"/>
                <a:ea typeface="Arial"/>
                <a:cs typeface="Arial"/>
                <a:sym typeface="Arial"/>
              </a:rPr>
              <a:t>Metrics from different experiments should not be mixed if the noise, threshold or reference differs.</a:t>
            </a:r>
            <a:endParaRPr b="0" i="0" sz="1300" u="none" cap="none" strike="noStrike">
              <a:solidFill>
                <a:schemeClr val="dk1"/>
              </a:solidFill>
              <a:latin typeface="Arial"/>
              <a:ea typeface="Arial"/>
              <a:cs typeface="Arial"/>
              <a:sym typeface="Arial"/>
            </a:endParaRPr>
          </a:p>
        </p:txBody>
      </p:sp>
      <p:sp>
        <p:nvSpPr>
          <p:cNvPr id="677" name="Google Shape;677;p27"/>
          <p:cNvSpPr txBox="1"/>
          <p:nvPr/>
        </p:nvSpPr>
        <p:spPr>
          <a:xfrm>
            <a:off x="6583680" y="5468112"/>
            <a:ext cx="4572000" cy="3931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D58A4B"/>
              </a:buClr>
              <a:buSzPts val="1240"/>
              <a:buFont typeface="Arial"/>
              <a:buNone/>
            </a:pPr>
            <a:r>
              <a:rPr b="1" i="0" lang="en-US" sz="1240" u="none" cap="none" strike="noStrike">
                <a:solidFill>
                  <a:srgbClr val="D58A4B"/>
                </a:solidFill>
                <a:latin typeface="Arial"/>
                <a:ea typeface="Arial"/>
                <a:cs typeface="Arial"/>
                <a:sym typeface="Arial"/>
              </a:rPr>
              <a:t>This is a method comparison, not a clinical performance claim.</a:t>
            </a:r>
            <a:endParaRPr b="0" i="0" sz="1240" u="none" cap="none" strike="noStrike">
              <a:solidFill>
                <a:schemeClr val="dk1"/>
              </a:solidFill>
              <a:latin typeface="Arial"/>
              <a:ea typeface="Arial"/>
              <a:cs typeface="Arial"/>
              <a:sym typeface="Arial"/>
            </a:endParaRPr>
          </a:p>
        </p:txBody>
      </p:sp>
      <p:sp>
        <p:nvSpPr>
          <p:cNvPr id="678" name="Google Shape;678;p27"/>
          <p:cNvSpPr txBox="1"/>
          <p:nvPr>
            <p:ph idx="4294967295" type="sldNum"/>
          </p:nvPr>
        </p:nvSpPr>
        <p:spPr>
          <a:xfrm>
            <a:off x="11338560" y="653796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800" u="none" cap="none" strike="noStrike">
                <a:solidFill>
                  <a:srgbClr val="7A858D"/>
                </a:solidFill>
                <a:latin typeface="Arial"/>
                <a:ea typeface="Arial"/>
                <a:cs typeface="Arial"/>
                <a:sym typeface="Arial"/>
              </a:rPr>
              <a:t>‹#›</a:t>
            </a:fld>
            <a:endParaRPr b="0" i="0" sz="800" u="none" cap="none" strike="noStrike">
              <a:solidFill>
                <a:srgbClr val="7A858D"/>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683" name="Shape 683"/>
        <p:cNvGrpSpPr/>
        <p:nvPr/>
      </p:nvGrpSpPr>
      <p:grpSpPr>
        <a:xfrm>
          <a:off x="0" y="0"/>
          <a:ext cx="0" cy="0"/>
          <a:chOff x="0" y="0"/>
          <a:chExt cx="0" cy="0"/>
        </a:xfrm>
      </p:grpSpPr>
      <p:sp>
        <p:nvSpPr>
          <p:cNvPr id="684" name="Google Shape;684;p28"/>
          <p:cNvSpPr/>
          <p:nvPr/>
        </p:nvSpPr>
        <p:spPr>
          <a:xfrm>
            <a:off x="9646920" y="274320"/>
            <a:ext cx="2084832" cy="310896"/>
          </a:xfrm>
          <a:prstGeom prst="roundRect">
            <a:avLst>
              <a:gd fmla="val 29412" name="adj"/>
            </a:avLst>
          </a:prstGeom>
          <a:solidFill>
            <a:srgbClr val="EAF2F5"/>
          </a:solidFill>
          <a:ln cap="flat" cmpd="sng" w="9525">
            <a:solidFill>
              <a:srgbClr val="EAF2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28"/>
          <p:cNvSpPr txBox="1"/>
          <p:nvPr/>
        </p:nvSpPr>
        <p:spPr>
          <a:xfrm>
            <a:off x="9710928" y="310896"/>
            <a:ext cx="1956816" cy="21945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397DA3"/>
              </a:buClr>
              <a:buSzPts val="850"/>
              <a:buFont typeface="Arial"/>
              <a:buNone/>
            </a:pPr>
            <a:r>
              <a:rPr b="1" i="0" lang="en-US" sz="850" u="none" cap="none" strike="noStrike">
                <a:solidFill>
                  <a:srgbClr val="397DA3"/>
                </a:solidFill>
                <a:latin typeface="Arial"/>
                <a:ea typeface="Arial"/>
                <a:cs typeface="Arial"/>
                <a:sym typeface="Arial"/>
              </a:rPr>
              <a:t>10-RECORD COMPARISON</a:t>
            </a:r>
            <a:endParaRPr b="0" i="0" sz="850" u="none" cap="none" strike="noStrike">
              <a:solidFill>
                <a:schemeClr val="dk1"/>
              </a:solidFill>
              <a:latin typeface="Arial"/>
              <a:ea typeface="Arial"/>
              <a:cs typeface="Arial"/>
              <a:sym typeface="Arial"/>
            </a:endParaRPr>
          </a:p>
        </p:txBody>
      </p:sp>
      <p:sp>
        <p:nvSpPr>
          <p:cNvPr id="686" name="Google Shape;686;p28"/>
          <p:cNvSpPr txBox="1"/>
          <p:nvPr/>
        </p:nvSpPr>
        <p:spPr>
          <a:xfrm>
            <a:off x="438912" y="292608"/>
            <a:ext cx="896112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2700"/>
              <a:buFont typeface="Play"/>
              <a:buNone/>
            </a:pPr>
            <a:r>
              <a:rPr b="1" i="0" lang="en-US" sz="2700" u="none" cap="none" strike="noStrike">
                <a:solidFill>
                  <a:srgbClr val="203447"/>
                </a:solidFill>
                <a:latin typeface="Play"/>
                <a:ea typeface="Play"/>
                <a:cs typeface="Play"/>
                <a:sym typeface="Play"/>
              </a:rPr>
              <a:t>We ran 40 record–wavelet combinations</a:t>
            </a:r>
            <a:endParaRPr b="0" i="0" sz="2700" u="none" cap="none" strike="noStrike">
              <a:solidFill>
                <a:schemeClr val="dk1"/>
              </a:solidFill>
              <a:latin typeface="Arial"/>
              <a:ea typeface="Arial"/>
              <a:cs typeface="Arial"/>
              <a:sym typeface="Arial"/>
            </a:endParaRPr>
          </a:p>
        </p:txBody>
      </p:sp>
      <p:sp>
        <p:nvSpPr>
          <p:cNvPr id="687" name="Google Shape;687;p28"/>
          <p:cNvSpPr txBox="1"/>
          <p:nvPr/>
        </p:nvSpPr>
        <p:spPr>
          <a:xfrm>
            <a:off x="457200" y="804672"/>
            <a:ext cx="11064240" cy="32918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1717D"/>
              </a:buClr>
              <a:buSzPts val="1250"/>
              <a:buFont typeface="Arial"/>
              <a:buNone/>
            </a:pPr>
            <a:r>
              <a:rPr b="0" i="0" lang="en-US" sz="1250" u="none" cap="none" strike="noStrike">
                <a:solidFill>
                  <a:srgbClr val="61717D"/>
                </a:solidFill>
                <a:latin typeface="Arial"/>
                <a:ea typeface="Arial"/>
                <a:cs typeface="Arial"/>
                <a:sym typeface="Arial"/>
              </a:rPr>
              <a:t>Ten records × four wavelet families in the batch table</a:t>
            </a:r>
            <a:endParaRPr b="0" i="0" sz="1250" u="none" cap="none" strike="noStrike">
              <a:solidFill>
                <a:schemeClr val="dk1"/>
              </a:solidFill>
              <a:latin typeface="Arial"/>
              <a:ea typeface="Arial"/>
              <a:cs typeface="Arial"/>
              <a:sym typeface="Arial"/>
            </a:endParaRPr>
          </a:p>
        </p:txBody>
      </p:sp>
      <p:cxnSp>
        <p:nvCxnSpPr>
          <p:cNvPr id="688" name="Google Shape;688;p28"/>
          <p:cNvCxnSpPr/>
          <p:nvPr/>
        </p:nvCxnSpPr>
        <p:spPr>
          <a:xfrm>
            <a:off x="438912" y="1197864"/>
            <a:ext cx="11292840" cy="0"/>
          </a:xfrm>
          <a:prstGeom prst="straightConnector1">
            <a:avLst/>
          </a:prstGeom>
          <a:noFill/>
          <a:ln cap="flat" cmpd="sng" w="22850">
            <a:solidFill>
              <a:srgbClr val="4E928B"/>
            </a:solidFill>
            <a:prstDash val="solid"/>
            <a:round/>
            <a:headEnd len="sm" w="sm" type="none"/>
            <a:tailEnd len="sm" w="sm" type="none"/>
          </a:ln>
        </p:spPr>
      </p:cxnSp>
      <p:sp>
        <p:nvSpPr>
          <p:cNvPr id="689" name="Google Shape;689;p28"/>
          <p:cNvSpPr/>
          <p:nvPr/>
        </p:nvSpPr>
        <p:spPr>
          <a:xfrm>
            <a:off x="484632" y="1389888"/>
            <a:ext cx="7772400" cy="4462272"/>
          </a:xfrm>
          <a:prstGeom prst="roundRect">
            <a:avLst>
              <a:gd fmla="val 1639" name="adj"/>
            </a:avLst>
          </a:prstGeom>
          <a:solidFill>
            <a:srgbClr val="FFFFFF"/>
          </a:solidFill>
          <a:ln cap="flat" cmpd="sng" w="10150">
            <a:solidFill>
              <a:srgbClr val="DDE4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nt/data/image(20261021-202348).png" id="690" name="Google Shape;690;p28"/>
          <p:cNvPicPr preferRelativeResize="0"/>
          <p:nvPr/>
        </p:nvPicPr>
        <p:blipFill rotWithShape="1">
          <a:blip r:embed="rId3">
            <a:alphaModFix/>
          </a:blip>
          <a:srcRect b="0" l="0" r="0" t="0"/>
          <a:stretch/>
        </p:blipFill>
        <p:spPr>
          <a:xfrm>
            <a:off x="521208" y="1631122"/>
            <a:ext cx="7699248" cy="3979805"/>
          </a:xfrm>
          <a:prstGeom prst="rect">
            <a:avLst/>
          </a:prstGeom>
          <a:noFill/>
          <a:ln>
            <a:noFill/>
          </a:ln>
        </p:spPr>
      </p:pic>
      <p:sp>
        <p:nvSpPr>
          <p:cNvPr id="691" name="Google Shape;691;p28"/>
          <p:cNvSpPr/>
          <p:nvPr/>
        </p:nvSpPr>
        <p:spPr>
          <a:xfrm>
            <a:off x="8549640" y="1572768"/>
            <a:ext cx="2971800" cy="1124712"/>
          </a:xfrm>
          <a:prstGeom prst="roundRect">
            <a:avLst>
              <a:gd fmla="val 8130" name="adj"/>
            </a:avLst>
          </a:prstGeom>
          <a:solidFill>
            <a:srgbClr val="EAF2F5"/>
          </a:solidFill>
          <a:ln cap="flat" cmpd="sng" w="12700">
            <a:solidFill>
              <a:srgbClr val="397DA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28"/>
          <p:cNvSpPr txBox="1"/>
          <p:nvPr/>
        </p:nvSpPr>
        <p:spPr>
          <a:xfrm>
            <a:off x="8695944" y="1673352"/>
            <a:ext cx="2679192"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97DA3"/>
              </a:buClr>
              <a:buSzPts val="1500"/>
              <a:buFont typeface="Arial"/>
              <a:buNone/>
            </a:pPr>
            <a:r>
              <a:rPr b="1" i="0" lang="en-US" sz="1500" u="none" cap="none" strike="noStrike">
                <a:solidFill>
                  <a:srgbClr val="397DA3"/>
                </a:solidFill>
                <a:latin typeface="Arial"/>
                <a:ea typeface="Arial"/>
                <a:cs typeface="Arial"/>
                <a:sym typeface="Arial"/>
              </a:rPr>
              <a:t>4 wavelet families</a:t>
            </a:r>
            <a:endParaRPr b="0" i="0" sz="1500" u="none" cap="none" strike="noStrike">
              <a:solidFill>
                <a:schemeClr val="dk1"/>
              </a:solidFill>
              <a:latin typeface="Arial"/>
              <a:ea typeface="Arial"/>
              <a:cs typeface="Arial"/>
              <a:sym typeface="Arial"/>
            </a:endParaRPr>
          </a:p>
        </p:txBody>
      </p:sp>
      <p:sp>
        <p:nvSpPr>
          <p:cNvPr id="693" name="Google Shape;693;p28"/>
          <p:cNvSpPr txBox="1"/>
          <p:nvPr/>
        </p:nvSpPr>
        <p:spPr>
          <a:xfrm>
            <a:off x="8695944" y="2011680"/>
            <a:ext cx="2679192" cy="59436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203447"/>
              </a:buClr>
              <a:buSzPts val="1220"/>
              <a:buFont typeface="Arial"/>
              <a:buNone/>
            </a:pPr>
            <a:r>
              <a:rPr b="0" i="0" lang="en-US" sz="1220" u="none" cap="none" strike="noStrike">
                <a:solidFill>
                  <a:srgbClr val="203447"/>
                </a:solidFill>
                <a:latin typeface="Arial"/>
                <a:ea typeface="Arial"/>
                <a:cs typeface="Arial"/>
                <a:sym typeface="Arial"/>
              </a:rPr>
              <a:t>Haar • db4 • sym4 • coif1</a:t>
            </a:r>
            <a:endParaRPr b="0" i="0" sz="1220" u="none" cap="none" strike="noStrike">
              <a:solidFill>
                <a:schemeClr val="dk1"/>
              </a:solidFill>
              <a:latin typeface="Arial"/>
              <a:ea typeface="Arial"/>
              <a:cs typeface="Arial"/>
              <a:sym typeface="Arial"/>
            </a:endParaRPr>
          </a:p>
        </p:txBody>
      </p:sp>
      <p:sp>
        <p:nvSpPr>
          <p:cNvPr id="694" name="Google Shape;694;p28"/>
          <p:cNvSpPr/>
          <p:nvPr/>
        </p:nvSpPr>
        <p:spPr>
          <a:xfrm>
            <a:off x="8549640" y="2907792"/>
            <a:ext cx="2971800" cy="1124712"/>
          </a:xfrm>
          <a:prstGeom prst="roundRect">
            <a:avLst>
              <a:gd fmla="val 8130" name="adj"/>
            </a:avLst>
          </a:prstGeom>
          <a:solidFill>
            <a:srgbClr val="E8F2EF"/>
          </a:solidFill>
          <a:ln cap="flat" cmpd="sng" w="12700">
            <a:solidFill>
              <a:srgbClr val="4E92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28"/>
          <p:cNvSpPr txBox="1"/>
          <p:nvPr/>
        </p:nvSpPr>
        <p:spPr>
          <a:xfrm>
            <a:off x="8695944" y="3008376"/>
            <a:ext cx="2679192"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4E928B"/>
              </a:buClr>
              <a:buSzPts val="1500"/>
              <a:buFont typeface="Arial"/>
              <a:buNone/>
            </a:pPr>
            <a:r>
              <a:rPr b="1" i="0" lang="en-US" sz="1500" u="none" cap="none" strike="noStrike">
                <a:solidFill>
                  <a:srgbClr val="4E928B"/>
                </a:solidFill>
                <a:latin typeface="Arial"/>
                <a:ea typeface="Arial"/>
                <a:cs typeface="Arial"/>
                <a:sym typeface="Arial"/>
              </a:rPr>
              <a:t>40 comparisons</a:t>
            </a:r>
            <a:endParaRPr b="0" i="0" sz="1500" u="none" cap="none" strike="noStrike">
              <a:solidFill>
                <a:schemeClr val="dk1"/>
              </a:solidFill>
              <a:latin typeface="Arial"/>
              <a:ea typeface="Arial"/>
              <a:cs typeface="Arial"/>
              <a:sym typeface="Arial"/>
            </a:endParaRPr>
          </a:p>
        </p:txBody>
      </p:sp>
      <p:sp>
        <p:nvSpPr>
          <p:cNvPr id="696" name="Google Shape;696;p28"/>
          <p:cNvSpPr txBox="1"/>
          <p:nvPr/>
        </p:nvSpPr>
        <p:spPr>
          <a:xfrm>
            <a:off x="8695944" y="3346704"/>
            <a:ext cx="2679192" cy="59436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203447"/>
              </a:buClr>
              <a:buSzPts val="1220"/>
              <a:buFont typeface="Arial"/>
              <a:buNone/>
            </a:pPr>
            <a:r>
              <a:rPr b="0" i="0" lang="en-US" sz="1220" u="none" cap="none" strike="noStrike">
                <a:solidFill>
                  <a:srgbClr val="203447"/>
                </a:solidFill>
                <a:latin typeface="Arial"/>
                <a:ea typeface="Arial"/>
                <a:cs typeface="Arial"/>
                <a:sym typeface="Arial"/>
              </a:rPr>
              <a:t>Each candidate record was compared using the four wavelets.</a:t>
            </a:r>
            <a:endParaRPr b="0" i="0" sz="1220" u="none" cap="none" strike="noStrike">
              <a:solidFill>
                <a:schemeClr val="dk1"/>
              </a:solidFill>
              <a:latin typeface="Arial"/>
              <a:ea typeface="Arial"/>
              <a:cs typeface="Arial"/>
              <a:sym typeface="Arial"/>
            </a:endParaRPr>
          </a:p>
        </p:txBody>
      </p:sp>
      <p:sp>
        <p:nvSpPr>
          <p:cNvPr id="697" name="Google Shape;697;p28"/>
          <p:cNvSpPr txBox="1"/>
          <p:nvPr/>
        </p:nvSpPr>
        <p:spPr>
          <a:xfrm>
            <a:off x="8622792" y="4407408"/>
            <a:ext cx="2816352" cy="96012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61717D"/>
              </a:buClr>
              <a:buSzPts val="1210"/>
              <a:buFont typeface="Arial"/>
              <a:buNone/>
            </a:pPr>
            <a:r>
              <a:rPr b="0" i="1" lang="en-US" sz="1210" u="none" cap="none" strike="noStrike">
                <a:solidFill>
                  <a:srgbClr val="61717D"/>
                </a:solidFill>
                <a:latin typeface="Arial"/>
                <a:ea typeface="Arial"/>
                <a:cs typeface="Arial"/>
                <a:sym typeface="Arial"/>
              </a:rPr>
              <a:t>This screenshot is a readable excerpt of the result table; the notebook output contains all 40 rows.</a:t>
            </a:r>
            <a:endParaRPr b="0" i="0" sz="1210" u="none" cap="none" strike="noStrike">
              <a:solidFill>
                <a:schemeClr val="dk1"/>
              </a:solidFill>
              <a:latin typeface="Arial"/>
              <a:ea typeface="Arial"/>
              <a:cs typeface="Arial"/>
              <a:sym typeface="Arial"/>
            </a:endParaRPr>
          </a:p>
        </p:txBody>
      </p:sp>
      <p:sp>
        <p:nvSpPr>
          <p:cNvPr id="698" name="Google Shape;698;p28"/>
          <p:cNvSpPr txBox="1"/>
          <p:nvPr/>
        </p:nvSpPr>
        <p:spPr>
          <a:xfrm>
            <a:off x="749808" y="5980176"/>
            <a:ext cx="10789920" cy="29260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03447"/>
              </a:buClr>
              <a:buSzPts val="1300"/>
              <a:buFont typeface="Arial"/>
              <a:buNone/>
            </a:pPr>
            <a:r>
              <a:rPr b="1" i="0" lang="en-US" sz="1300" u="none" cap="none" strike="noStrike">
                <a:solidFill>
                  <a:srgbClr val="203447"/>
                </a:solidFill>
                <a:latin typeface="Arial"/>
                <a:ea typeface="Arial"/>
                <a:cs typeface="Arial"/>
                <a:sym typeface="Arial"/>
              </a:rPr>
              <a:t>The table helps us compare the methods systematically instead of choosing from one plot.</a:t>
            </a:r>
            <a:endParaRPr b="0" i="0" sz="1300" u="none" cap="none" strike="noStrike">
              <a:solidFill>
                <a:schemeClr val="dk1"/>
              </a:solidFill>
              <a:latin typeface="Arial"/>
              <a:ea typeface="Arial"/>
              <a:cs typeface="Arial"/>
              <a:sym typeface="Arial"/>
            </a:endParaRPr>
          </a:p>
        </p:txBody>
      </p:sp>
      <p:sp>
        <p:nvSpPr>
          <p:cNvPr id="699" name="Google Shape;699;p28"/>
          <p:cNvSpPr txBox="1"/>
          <p:nvPr>
            <p:ph idx="4294967295" type="sldNum"/>
          </p:nvPr>
        </p:nvSpPr>
        <p:spPr>
          <a:xfrm>
            <a:off x="11338560" y="653796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800" u="none" cap="none" strike="noStrike">
                <a:solidFill>
                  <a:srgbClr val="7A858D"/>
                </a:solidFill>
                <a:latin typeface="Arial"/>
                <a:ea typeface="Arial"/>
                <a:cs typeface="Arial"/>
                <a:sym typeface="Arial"/>
              </a:rPr>
              <a:t>‹#›</a:t>
            </a:fld>
            <a:endParaRPr b="0" i="0" sz="800" u="none" cap="none" strike="noStrike">
              <a:solidFill>
                <a:srgbClr val="7A858D"/>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704" name="Shape 704"/>
        <p:cNvGrpSpPr/>
        <p:nvPr/>
      </p:nvGrpSpPr>
      <p:grpSpPr>
        <a:xfrm>
          <a:off x="0" y="0"/>
          <a:ext cx="0" cy="0"/>
          <a:chOff x="0" y="0"/>
          <a:chExt cx="0" cy="0"/>
        </a:xfrm>
      </p:grpSpPr>
      <p:sp>
        <p:nvSpPr>
          <p:cNvPr id="705" name="Google Shape;705;p29"/>
          <p:cNvSpPr/>
          <p:nvPr/>
        </p:nvSpPr>
        <p:spPr>
          <a:xfrm>
            <a:off x="9646920" y="274320"/>
            <a:ext cx="2084832" cy="310896"/>
          </a:xfrm>
          <a:prstGeom prst="roundRect">
            <a:avLst>
              <a:gd fmla="val 29412" name="adj"/>
            </a:avLst>
          </a:prstGeom>
          <a:solidFill>
            <a:srgbClr val="EAF2F5"/>
          </a:solidFill>
          <a:ln cap="flat" cmpd="sng" w="9525">
            <a:solidFill>
              <a:srgbClr val="EAF2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29"/>
          <p:cNvSpPr txBox="1"/>
          <p:nvPr/>
        </p:nvSpPr>
        <p:spPr>
          <a:xfrm>
            <a:off x="9710928" y="310896"/>
            <a:ext cx="1956816" cy="21945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397DA3"/>
              </a:buClr>
              <a:buSzPts val="850"/>
              <a:buFont typeface="Arial"/>
              <a:buNone/>
            </a:pPr>
            <a:r>
              <a:rPr b="1" i="0" lang="en-US" sz="850" u="none" cap="none" strike="noStrike">
                <a:solidFill>
                  <a:srgbClr val="397DA3"/>
                </a:solidFill>
                <a:latin typeface="Arial"/>
                <a:ea typeface="Arial"/>
                <a:cs typeface="Arial"/>
                <a:sym typeface="Arial"/>
              </a:rPr>
              <a:t>CONCLUSION</a:t>
            </a:r>
            <a:endParaRPr b="0" i="0" sz="850" u="none" cap="none" strike="noStrike">
              <a:solidFill>
                <a:schemeClr val="dk1"/>
              </a:solidFill>
              <a:latin typeface="Arial"/>
              <a:ea typeface="Arial"/>
              <a:cs typeface="Arial"/>
              <a:sym typeface="Arial"/>
            </a:endParaRPr>
          </a:p>
        </p:txBody>
      </p:sp>
      <p:sp>
        <p:nvSpPr>
          <p:cNvPr id="707" name="Google Shape;707;p29"/>
          <p:cNvSpPr txBox="1"/>
          <p:nvPr/>
        </p:nvSpPr>
        <p:spPr>
          <a:xfrm>
            <a:off x="438912" y="292608"/>
            <a:ext cx="896112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2700"/>
              <a:buFont typeface="Play"/>
              <a:buNone/>
            </a:pPr>
            <a:r>
              <a:rPr b="1" i="0" lang="en-US" sz="2700" u="none" cap="none" strike="noStrike">
                <a:solidFill>
                  <a:srgbClr val="203447"/>
                </a:solidFill>
                <a:latin typeface="Play"/>
                <a:ea typeface="Play"/>
                <a:cs typeface="Play"/>
                <a:sym typeface="Play"/>
              </a:rPr>
              <a:t>What did we learn?</a:t>
            </a:r>
            <a:endParaRPr b="0" i="0" sz="2700" u="none" cap="none" strike="noStrike">
              <a:solidFill>
                <a:schemeClr val="dk1"/>
              </a:solidFill>
              <a:latin typeface="Arial"/>
              <a:ea typeface="Arial"/>
              <a:cs typeface="Arial"/>
              <a:sym typeface="Arial"/>
            </a:endParaRPr>
          </a:p>
        </p:txBody>
      </p:sp>
      <p:sp>
        <p:nvSpPr>
          <p:cNvPr id="708" name="Google Shape;708;p29"/>
          <p:cNvSpPr txBox="1"/>
          <p:nvPr/>
        </p:nvSpPr>
        <p:spPr>
          <a:xfrm>
            <a:off x="457200" y="804672"/>
            <a:ext cx="11064240" cy="32918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1717D"/>
              </a:buClr>
              <a:buSzPts val="1250"/>
              <a:buFont typeface="Arial"/>
              <a:buNone/>
            </a:pPr>
            <a:r>
              <a:rPr b="0" i="0" lang="en-US" sz="1250" u="none" cap="none" strike="noStrike">
                <a:solidFill>
                  <a:srgbClr val="61717D"/>
                </a:solidFill>
                <a:latin typeface="Arial"/>
                <a:ea typeface="Arial"/>
                <a:cs typeface="Arial"/>
                <a:sym typeface="Arial"/>
              </a:rPr>
              <a:t>From one waveform to a small multi-record experiment</a:t>
            </a:r>
            <a:endParaRPr b="0" i="0" sz="1250" u="none" cap="none" strike="noStrike">
              <a:solidFill>
                <a:schemeClr val="dk1"/>
              </a:solidFill>
              <a:latin typeface="Arial"/>
              <a:ea typeface="Arial"/>
              <a:cs typeface="Arial"/>
              <a:sym typeface="Arial"/>
            </a:endParaRPr>
          </a:p>
        </p:txBody>
      </p:sp>
      <p:cxnSp>
        <p:nvCxnSpPr>
          <p:cNvPr id="709" name="Google Shape;709;p29"/>
          <p:cNvCxnSpPr/>
          <p:nvPr/>
        </p:nvCxnSpPr>
        <p:spPr>
          <a:xfrm>
            <a:off x="438912" y="1197864"/>
            <a:ext cx="11292840" cy="0"/>
          </a:xfrm>
          <a:prstGeom prst="straightConnector1">
            <a:avLst/>
          </a:prstGeom>
          <a:noFill/>
          <a:ln cap="flat" cmpd="sng" w="22850">
            <a:solidFill>
              <a:srgbClr val="4E928B"/>
            </a:solidFill>
            <a:prstDash val="solid"/>
            <a:round/>
            <a:headEnd len="sm" w="sm" type="none"/>
            <a:tailEnd len="sm" w="sm" type="none"/>
          </a:ln>
        </p:spPr>
      </p:cxnSp>
      <p:sp>
        <p:nvSpPr>
          <p:cNvPr id="710" name="Google Shape;710;p29"/>
          <p:cNvSpPr/>
          <p:nvPr/>
        </p:nvSpPr>
        <p:spPr>
          <a:xfrm>
            <a:off x="768096" y="1627632"/>
            <a:ext cx="91440" cy="91440"/>
          </a:xfrm>
          <a:prstGeom prst="ellipse">
            <a:avLst/>
          </a:prstGeom>
          <a:solidFill>
            <a:srgbClr val="4E928B"/>
          </a:solidFill>
          <a:ln cap="flat" cmpd="sng" w="9525">
            <a:solidFill>
              <a:srgbClr val="4E92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29"/>
          <p:cNvSpPr txBox="1"/>
          <p:nvPr/>
        </p:nvSpPr>
        <p:spPr>
          <a:xfrm>
            <a:off x="960120" y="1508760"/>
            <a:ext cx="10579608" cy="62179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1600"/>
              <a:buFont typeface="Arial"/>
              <a:buNone/>
            </a:pPr>
            <a:r>
              <a:rPr b="0" i="0" lang="en-US" sz="1600" u="none" cap="none" strike="noStrike">
                <a:solidFill>
                  <a:srgbClr val="203447"/>
                </a:solidFill>
                <a:latin typeface="Arial"/>
                <a:ea typeface="Arial"/>
                <a:cs typeface="Arial"/>
                <a:sym typeface="Arial"/>
              </a:rPr>
              <a:t>ECG and PPG have different waveform shapes and different relative energy distributions.</a:t>
            </a:r>
            <a:endParaRPr b="0" i="0" sz="1600" u="none" cap="none" strike="noStrike">
              <a:solidFill>
                <a:schemeClr val="dk1"/>
              </a:solidFill>
              <a:latin typeface="Arial"/>
              <a:ea typeface="Arial"/>
              <a:cs typeface="Arial"/>
              <a:sym typeface="Arial"/>
            </a:endParaRPr>
          </a:p>
        </p:txBody>
      </p:sp>
      <p:sp>
        <p:nvSpPr>
          <p:cNvPr id="712" name="Google Shape;712;p29"/>
          <p:cNvSpPr/>
          <p:nvPr/>
        </p:nvSpPr>
        <p:spPr>
          <a:xfrm>
            <a:off x="768096" y="2340864"/>
            <a:ext cx="91440" cy="91440"/>
          </a:xfrm>
          <a:prstGeom prst="ellipse">
            <a:avLst/>
          </a:prstGeom>
          <a:solidFill>
            <a:srgbClr val="4E928B"/>
          </a:solidFill>
          <a:ln cap="flat" cmpd="sng" w="9525">
            <a:solidFill>
              <a:srgbClr val="4E92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29"/>
          <p:cNvSpPr txBox="1"/>
          <p:nvPr/>
        </p:nvSpPr>
        <p:spPr>
          <a:xfrm>
            <a:off x="960120" y="2221992"/>
            <a:ext cx="10579608" cy="62179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1600"/>
              <a:buFont typeface="Arial"/>
              <a:buNone/>
            </a:pPr>
            <a:r>
              <a:rPr b="0" i="0" lang="en-US" sz="1600" u="none" cap="none" strike="noStrike">
                <a:solidFill>
                  <a:srgbClr val="203447"/>
                </a:solidFill>
                <a:latin typeface="Arial"/>
                <a:ea typeface="Arial"/>
                <a:cs typeface="Arial"/>
                <a:sym typeface="Arial"/>
              </a:rPr>
              <a:t>DWT gives us scale-based coefficients; CWT adds a time-frequency view.</a:t>
            </a:r>
            <a:endParaRPr b="0" i="0" sz="1600" u="none" cap="none" strike="noStrike">
              <a:solidFill>
                <a:schemeClr val="dk1"/>
              </a:solidFill>
              <a:latin typeface="Arial"/>
              <a:ea typeface="Arial"/>
              <a:cs typeface="Arial"/>
              <a:sym typeface="Arial"/>
            </a:endParaRPr>
          </a:p>
        </p:txBody>
      </p:sp>
      <p:sp>
        <p:nvSpPr>
          <p:cNvPr id="714" name="Google Shape;714;p29"/>
          <p:cNvSpPr/>
          <p:nvPr/>
        </p:nvSpPr>
        <p:spPr>
          <a:xfrm>
            <a:off x="768096" y="3054096"/>
            <a:ext cx="91440" cy="91440"/>
          </a:xfrm>
          <a:prstGeom prst="ellipse">
            <a:avLst/>
          </a:prstGeom>
          <a:solidFill>
            <a:srgbClr val="4E928B"/>
          </a:solidFill>
          <a:ln cap="flat" cmpd="sng" w="9525">
            <a:solidFill>
              <a:srgbClr val="4E92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29"/>
          <p:cNvSpPr txBox="1"/>
          <p:nvPr/>
        </p:nvSpPr>
        <p:spPr>
          <a:xfrm>
            <a:off x="960120" y="2935224"/>
            <a:ext cx="10579608" cy="62179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1600"/>
              <a:buFont typeface="Arial"/>
              <a:buNone/>
            </a:pPr>
            <a:r>
              <a:rPr b="0" i="0" lang="en-US" sz="1600" u="none" cap="none" strike="noStrike">
                <a:solidFill>
                  <a:srgbClr val="203447"/>
                </a:solidFill>
                <a:latin typeface="Arial"/>
                <a:ea typeface="Arial"/>
                <a:cs typeface="Arial"/>
                <a:sym typeface="Arial"/>
              </a:rPr>
              <a:t>For the selected ECG segment, BayesShrink had lower error and higher correlation than the Butterworth result shown.</a:t>
            </a:r>
            <a:endParaRPr b="0" i="0" sz="1600" u="none" cap="none" strike="noStrike">
              <a:solidFill>
                <a:schemeClr val="dk1"/>
              </a:solidFill>
              <a:latin typeface="Arial"/>
              <a:ea typeface="Arial"/>
              <a:cs typeface="Arial"/>
              <a:sym typeface="Arial"/>
            </a:endParaRPr>
          </a:p>
        </p:txBody>
      </p:sp>
      <p:sp>
        <p:nvSpPr>
          <p:cNvPr id="716" name="Google Shape;716;p29"/>
          <p:cNvSpPr/>
          <p:nvPr/>
        </p:nvSpPr>
        <p:spPr>
          <a:xfrm>
            <a:off x="768096" y="3767328"/>
            <a:ext cx="91440" cy="91440"/>
          </a:xfrm>
          <a:prstGeom prst="ellipse">
            <a:avLst/>
          </a:prstGeom>
          <a:solidFill>
            <a:srgbClr val="4E928B"/>
          </a:solidFill>
          <a:ln cap="flat" cmpd="sng" w="9525">
            <a:solidFill>
              <a:srgbClr val="4E92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29"/>
          <p:cNvSpPr txBox="1"/>
          <p:nvPr/>
        </p:nvSpPr>
        <p:spPr>
          <a:xfrm>
            <a:off x="960120" y="3648456"/>
            <a:ext cx="10579608" cy="62179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1600"/>
              <a:buFont typeface="Arial"/>
              <a:buNone/>
            </a:pPr>
            <a:r>
              <a:rPr b="0" i="0" lang="en-US" sz="1600" u="none" cap="none" strike="noStrike">
                <a:solidFill>
                  <a:srgbClr val="203447"/>
                </a:solidFill>
                <a:latin typeface="Arial"/>
                <a:ea typeface="Arial"/>
                <a:cs typeface="Arial"/>
                <a:sym typeface="Arial"/>
              </a:rPr>
              <a:t>All 12 detected peaks stayed at the same positions in that single-record comparison.</a:t>
            </a:r>
            <a:endParaRPr b="0" i="0" sz="1600" u="none" cap="none" strike="noStrike">
              <a:solidFill>
                <a:schemeClr val="dk1"/>
              </a:solidFill>
              <a:latin typeface="Arial"/>
              <a:ea typeface="Arial"/>
              <a:cs typeface="Arial"/>
              <a:sym typeface="Arial"/>
            </a:endParaRPr>
          </a:p>
        </p:txBody>
      </p:sp>
      <p:sp>
        <p:nvSpPr>
          <p:cNvPr id="718" name="Google Shape;718;p29"/>
          <p:cNvSpPr/>
          <p:nvPr/>
        </p:nvSpPr>
        <p:spPr>
          <a:xfrm>
            <a:off x="768096" y="4480560"/>
            <a:ext cx="91440" cy="91440"/>
          </a:xfrm>
          <a:prstGeom prst="ellipse">
            <a:avLst/>
          </a:prstGeom>
          <a:solidFill>
            <a:srgbClr val="4E928B"/>
          </a:solidFill>
          <a:ln cap="flat" cmpd="sng" w="9525">
            <a:solidFill>
              <a:srgbClr val="4E92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29"/>
          <p:cNvSpPr txBox="1"/>
          <p:nvPr/>
        </p:nvSpPr>
        <p:spPr>
          <a:xfrm>
            <a:off x="960120" y="4361688"/>
            <a:ext cx="10579608" cy="62179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3447"/>
              </a:buClr>
              <a:buSzPts val="1600"/>
              <a:buFont typeface="Arial"/>
              <a:buNone/>
            </a:pPr>
            <a:r>
              <a:rPr b="0" i="0" lang="en-US" sz="1600" u="none" cap="none" strike="noStrike">
                <a:solidFill>
                  <a:srgbClr val="203447"/>
                </a:solidFill>
                <a:latin typeface="Arial"/>
                <a:ea typeface="Arial"/>
                <a:cs typeface="Arial"/>
                <a:sym typeface="Arial"/>
              </a:rPr>
              <a:t>The 10-record batch showed record-to-record variation and flagged 81739927_0014 for further quality review.</a:t>
            </a:r>
            <a:endParaRPr b="0" i="0" sz="1600" u="none" cap="none" strike="noStrike">
              <a:solidFill>
                <a:schemeClr val="dk1"/>
              </a:solidFill>
              <a:latin typeface="Arial"/>
              <a:ea typeface="Arial"/>
              <a:cs typeface="Arial"/>
              <a:sym typeface="Arial"/>
            </a:endParaRPr>
          </a:p>
        </p:txBody>
      </p:sp>
      <p:sp>
        <p:nvSpPr>
          <p:cNvPr id="720" name="Google Shape;720;p29"/>
          <p:cNvSpPr/>
          <p:nvPr/>
        </p:nvSpPr>
        <p:spPr>
          <a:xfrm>
            <a:off x="786384" y="5212080"/>
            <a:ext cx="10698480" cy="704088"/>
          </a:xfrm>
          <a:prstGeom prst="roundRect">
            <a:avLst>
              <a:gd fmla="val 12987" name="adj"/>
            </a:avLst>
          </a:prstGeom>
          <a:solidFill>
            <a:srgbClr val="F5E5B8"/>
          </a:solidFill>
          <a:ln cap="flat" cmpd="sng" w="12700">
            <a:solidFill>
              <a:srgbClr val="E0CA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29"/>
          <p:cNvSpPr txBox="1"/>
          <p:nvPr/>
        </p:nvSpPr>
        <p:spPr>
          <a:xfrm>
            <a:off x="1024128" y="5376672"/>
            <a:ext cx="10222992" cy="33832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03447"/>
              </a:buClr>
              <a:buSzPts val="1600"/>
              <a:buFont typeface="Arial"/>
              <a:buNone/>
            </a:pPr>
            <a:r>
              <a:rPr b="1" i="0" lang="en-US" sz="1600" u="none" cap="none" strike="noStrike">
                <a:solidFill>
                  <a:srgbClr val="203447"/>
                </a:solidFill>
                <a:latin typeface="Arial"/>
                <a:ea typeface="Arial"/>
                <a:cs typeface="Arial"/>
                <a:sym typeface="Arial"/>
              </a:rPr>
              <a:t>Main takeaway: a smooth-looking signal is not enough — we need metrics, peak checks, and record-level inspection.</a:t>
            </a:r>
            <a:endParaRPr b="0" i="0" sz="1600" u="none" cap="none" strike="noStrike">
              <a:solidFill>
                <a:schemeClr val="dk1"/>
              </a:solidFill>
              <a:latin typeface="Arial"/>
              <a:ea typeface="Arial"/>
              <a:cs typeface="Arial"/>
              <a:sym typeface="Arial"/>
            </a:endParaRPr>
          </a:p>
        </p:txBody>
      </p:sp>
      <p:sp>
        <p:nvSpPr>
          <p:cNvPr id="722" name="Google Shape;722;p29"/>
          <p:cNvSpPr txBox="1"/>
          <p:nvPr/>
        </p:nvSpPr>
        <p:spPr>
          <a:xfrm>
            <a:off x="338376" y="6117275"/>
            <a:ext cx="11292900" cy="219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61717D"/>
              </a:buClr>
              <a:buSzPts val="960"/>
              <a:buFont typeface="Arial"/>
              <a:buNone/>
            </a:pPr>
            <a:r>
              <a:rPr b="1" lang="en-US">
                <a:solidFill>
                  <a:srgbClr val="61717D"/>
                </a:solidFill>
              </a:rPr>
              <a:t>Thankyou!</a:t>
            </a:r>
            <a:endParaRPr b="1" i="0" u="none" cap="none" strike="noStrike">
              <a:solidFill>
                <a:schemeClr val="dk1"/>
              </a:solidFill>
            </a:endParaRPr>
          </a:p>
        </p:txBody>
      </p:sp>
      <p:sp>
        <p:nvSpPr>
          <p:cNvPr id="723" name="Google Shape;723;p29"/>
          <p:cNvSpPr txBox="1"/>
          <p:nvPr>
            <p:ph idx="4294967295" type="sldNum"/>
          </p:nvPr>
        </p:nvSpPr>
        <p:spPr>
          <a:xfrm>
            <a:off x="11338560" y="653796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800" u="none" cap="none" strike="noStrike">
                <a:solidFill>
                  <a:srgbClr val="7A858D"/>
                </a:solidFill>
                <a:latin typeface="Arial"/>
                <a:ea typeface="Arial"/>
                <a:cs typeface="Arial"/>
                <a:sym typeface="Arial"/>
              </a:rPr>
              <a:t>‹#›</a:t>
            </a:fld>
            <a:endParaRPr b="0" i="0" sz="800" u="none" cap="none" strike="noStrike">
              <a:solidFill>
                <a:srgbClr val="7A858D"/>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